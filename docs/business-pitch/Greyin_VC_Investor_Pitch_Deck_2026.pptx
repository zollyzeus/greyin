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3" r:id="rId4"/>
    <p:sldMasterId id="2147483684" r:id="rId5"/>
  </p:sldMasterIdLst>
  <p:notesMasterIdLst>
    <p:notesMasterId r:id="rId6"/>
  </p:notesMasterIdLst>
  <p:sldIdLst>
    <p:sldId id="256" r:id="rId7"/>
    <p:sldId id="262" r:id="rId13"/>
    <p:sldId id="280" r:id="rId31"/>
    <p:sldId id="269" r:id="rId20"/>
    <p:sldId id="276" r:id="rId27"/>
    <p:sldId id="259" r:id="rId10"/>
    <p:sldId id="270" r:id="rId21"/>
    <p:sldId id="268" r:id="rId19"/>
    <p:sldId id="273" r:id="rId24"/>
    <p:sldId id="274" r:id="rId25"/>
    <p:sldId id="277" r:id="rId28"/>
    <p:sldId id="275" r:id="rId26"/>
    <p:sldId id="272" r:id="rId23"/>
    <p:sldId id="263" r:id="rId14"/>
    <p:sldId id="279" r:id="rId30"/>
    <p:sldId id="286" r:id="rId37"/>
  </p:sldIdLst>
  <p:sldSz cy="5143500" cx="9144000"/>
  <p:notesSz cx="6858000" cy="9144000"/>
  <p:embeddedFontLst>
    <p:embeddedFont>
      <p:font typeface="Proxima Nova"/>
      <p:regular r:id="rId56"/>
      <p:bold r:id="rId57"/>
      <p:italic r:id="rId58"/>
      <p:boldItalic r:id="rId59"/>
    </p:embeddedFont>
    <p:embeddedFont>
      <p:font typeface="Roboto Medium"/>
      <p:regular r:id="rId60"/>
      <p:bold r:id="rId61"/>
      <p:italic r:id="rId62"/>
      <p:boldItalic r:id="rId63"/>
    </p:embeddedFont>
    <p:embeddedFont>
      <p:font typeface="Amatic SC"/>
      <p:regular r:id="rId64"/>
      <p:bold r:id="rId65"/>
    </p:embeddedFont>
    <p:embeddedFont>
      <p:font typeface="Montserrat"/>
      <p:regular r:id="rId66"/>
      <p:bold r:id="rId67"/>
      <p:italic r:id="rId68"/>
      <p:boldItalic r:id="rId69"/>
    </p:embeddedFont>
    <p:embeddedFont>
      <p:font typeface="Montserrat Medium"/>
      <p:regular r:id="rId70"/>
      <p:bold r:id="rId71"/>
      <p:italic r:id="rId72"/>
      <p:boldItalic r:id="rId73"/>
    </p:embeddedFont>
    <p:embeddedFont>
      <p:font typeface="Montserrat ExtraLight"/>
      <p:regular r:id="rId74"/>
      <p:bold r:id="rId75"/>
      <p:italic r:id="rId76"/>
      <p:boldItalic r:id="rId77"/>
    </p:embeddedFont>
    <p:embeddedFont>
      <p:font typeface="Proxima Nova Semibold"/>
      <p:regular r:id="rId78"/>
      <p:bold r:id="rId79"/>
      <p:boldItalic r:id="rId80"/>
    </p:embeddedFont>
    <p:embeddedFont>
      <p:font typeface="Montserrat ExtraBold"/>
      <p:bold r:id="rId81"/>
      <p:boldItalic r:id="rId8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F800C25-3B26-4A03-9EF3-520F5B5E6BF8}">
  <a:tblStyle styleId="{0F800C25-3B26-4A03-9EF3-520F5B5E6BF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7" Type="http://schemas.openxmlformats.org/officeDocument/2006/relationships/slide" Target="slides/slide31.xml"/><Relationship Id="rId56" Type="http://schemas.openxmlformats.org/officeDocument/2006/relationships/font" Target="fonts/ProximaNova-regular.fntdata"/><Relationship Id="rId57" Type="http://schemas.openxmlformats.org/officeDocument/2006/relationships/font" Target="fonts/ProximaNova-bold.fntdata"/><Relationship Id="rId58" Type="http://schemas.openxmlformats.org/officeDocument/2006/relationships/font" Target="fonts/ProximaNova-italic.fntdata"/><Relationship Id="rId59" Type="http://schemas.openxmlformats.org/officeDocument/2006/relationships/font" Target="fonts/ProximaNova-boldItalic.fntdata"/><Relationship Id="rId60" Type="http://schemas.openxmlformats.org/officeDocument/2006/relationships/font" Target="fonts/RobotoMedium-regular.fntdata"/><Relationship Id="rId61" Type="http://schemas.openxmlformats.org/officeDocument/2006/relationships/font" Target="fonts/RobotoMedium-bold.fntdata"/><Relationship Id="rId62" Type="http://schemas.openxmlformats.org/officeDocument/2006/relationships/font" Target="fonts/RobotoMedium-italic.fntdata"/><Relationship Id="rId63" Type="http://schemas.openxmlformats.org/officeDocument/2006/relationships/font" Target="fonts/RobotoMedium-boldItalic.fntdata"/><Relationship Id="rId64" Type="http://schemas.openxmlformats.org/officeDocument/2006/relationships/font" Target="fonts/AmaticSC-regular.fntdata"/><Relationship Id="rId65" Type="http://schemas.openxmlformats.org/officeDocument/2006/relationships/font" Target="fonts/AmaticSC-bold.fntdata"/><Relationship Id="rId66" Type="http://schemas.openxmlformats.org/officeDocument/2006/relationships/font" Target="fonts/Montserrat-regular.fntdata"/><Relationship Id="rId67" Type="http://schemas.openxmlformats.org/officeDocument/2006/relationships/font" Target="fonts/Montserrat-bold.fntdata"/><Relationship Id="rId68" Type="http://schemas.openxmlformats.org/officeDocument/2006/relationships/font" Target="fonts/Montserrat-italic.fntdata"/><Relationship Id="rId69" Type="http://schemas.openxmlformats.org/officeDocument/2006/relationships/font" Target="fonts/Montserrat-boldItalic.fntdata"/><Relationship Id="rId70" Type="http://schemas.openxmlformats.org/officeDocument/2006/relationships/font" Target="fonts/MontserratMedium-regular.fntdata"/><Relationship Id="rId71" Type="http://schemas.openxmlformats.org/officeDocument/2006/relationships/font" Target="fonts/MontserratMedium-bold.fntdata"/><Relationship Id="rId72" Type="http://schemas.openxmlformats.org/officeDocument/2006/relationships/font" Target="fonts/MontserratMedium-italic.fntdata"/><Relationship Id="rId73" Type="http://schemas.openxmlformats.org/officeDocument/2006/relationships/font" Target="fonts/MontserratMedium-boldItalic.fntdata"/><Relationship Id="rId74" Type="http://schemas.openxmlformats.org/officeDocument/2006/relationships/font" Target="fonts/MontserratExtraLight-regular.fntdata"/><Relationship Id="rId75" Type="http://schemas.openxmlformats.org/officeDocument/2006/relationships/font" Target="fonts/MontserratExtraLight-bold.fntdata"/><Relationship Id="rId76" Type="http://schemas.openxmlformats.org/officeDocument/2006/relationships/font" Target="fonts/MontserratExtraLight-italic.fntdata"/><Relationship Id="rId77" Type="http://schemas.openxmlformats.org/officeDocument/2006/relationships/font" Target="fonts/MontserratExtraLight-boldItalic.fntdata"/><Relationship Id="rId78" Type="http://schemas.openxmlformats.org/officeDocument/2006/relationships/font" Target="fonts/ProximaNovaSemibold-regular.fntdata"/><Relationship Id="rId79" Type="http://schemas.openxmlformats.org/officeDocument/2006/relationships/font" Target="fonts/ProximaNovaSemibold-bold.fntdata"/><Relationship Id="rId80" Type="http://schemas.openxmlformats.org/officeDocument/2006/relationships/font" Target="fonts/ProximaNovaSemibold-boldItalic.fntdata"/><Relationship Id="rId81" Type="http://schemas.openxmlformats.org/officeDocument/2006/relationships/font" Target="fonts/MontserratExtraBold-bold.fntdata"/><Relationship Id="rId82" Type="http://schemas.openxmlformats.org/officeDocument/2006/relationships/font" Target="fonts/MontserratExtraBold-boldItalic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Revenue (USD)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M1</c:v>
                </c:pt>
                <c:pt idx="1">
                  <c:v>M6</c:v>
                </c:pt>
                <c:pt idx="2">
                  <c:v>M12</c:v>
                </c:pt>
                <c:pt idx="3">
                  <c:v>M18</c:v>
                </c:pt>
                <c:pt idx="4">
                  <c:v>M24</c:v>
                </c:pt>
                <c:pt idx="5">
                  <c:v>M30</c:v>
                </c:pt>
                <c:pt idx="6">
                  <c:v>M36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600</c:v>
                </c:pt>
                <c:pt idx="1">
                  <c:v>10000</c:v>
                </c:pt>
                <c:pt idx="2">
                  <c:v>70000</c:v>
                </c:pt>
                <c:pt idx="3">
                  <c:v>160000</c:v>
                </c:pt>
                <c:pt idx="4">
                  <c:v>450000</c:v>
                </c:pt>
                <c:pt idx="5">
                  <c:v>1000000</c:v>
                </c:pt>
                <c:pt idx="6">
                  <c:v>1800000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FFFFF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FFFFF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FFFFFF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Cost (USD)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M1</c:v>
                </c:pt>
                <c:pt idx="1">
                  <c:v>M6</c:v>
                </c:pt>
                <c:pt idx="2">
                  <c:v>M12</c:v>
                </c:pt>
                <c:pt idx="3">
                  <c:v>M18</c:v>
                </c:pt>
                <c:pt idx="4">
                  <c:v>M24</c:v>
                </c:pt>
                <c:pt idx="5">
                  <c:v>M30</c:v>
                </c:pt>
                <c:pt idx="6">
                  <c:v>M36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10091</c:v>
                </c:pt>
                <c:pt idx="1">
                  <c:v>14008</c:v>
                </c:pt>
                <c:pt idx="2">
                  <c:v>27161</c:v>
                </c:pt>
                <c:pt idx="3">
                  <c:v>34126</c:v>
                </c:pt>
                <c:pt idx="4">
                  <c:v>61583</c:v>
                </c:pt>
                <c:pt idx="5">
                  <c:v>80153</c:v>
                </c:pt>
                <c:pt idx="6">
                  <c:v>123890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Revenue (USD)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M1</c:v>
                </c:pt>
                <c:pt idx="1">
                  <c:v>M6</c:v>
                </c:pt>
                <c:pt idx="2">
                  <c:v>M12</c:v>
                </c:pt>
                <c:pt idx="3">
                  <c:v>M18</c:v>
                </c:pt>
                <c:pt idx="4">
                  <c:v>M24</c:v>
                </c:pt>
                <c:pt idx="5">
                  <c:v>M30</c:v>
                </c:pt>
                <c:pt idx="6">
                  <c:v>M36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600</c:v>
                </c:pt>
                <c:pt idx="1">
                  <c:v>10000</c:v>
                </c:pt>
                <c:pt idx="2">
                  <c:v>70000</c:v>
                </c:pt>
                <c:pt idx="3">
                  <c:v>160000</c:v>
                </c:pt>
                <c:pt idx="4">
                  <c:v>450000</c:v>
                </c:pt>
                <c:pt idx="5">
                  <c:v>1000000</c:v>
                </c:pt>
                <c:pt idx="6">
                  <c:v>1800000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FFFFF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900">
                <a:solidFill>
                  <a:srgbClr val="FFFFF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FFFFFF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  <a:ln>
      <a:noFill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7f9262ee2f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7f9262ee2f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7f9262ee2f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7f9262ee2f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7f9262ee2f_0_245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7f9262ee2f_0_245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1" name="Shape 1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2" name="Google Shape;1952;g7f9262ee2f_0_26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3" name="Google Shape;1953;g7f9262ee2f_0_26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0" name="Shape 1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1" name="Google Shape;1971;g7f9262ee2f_0_263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2" name="Google Shape;1972;g7f9262ee2f_0_263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2" name="Shape 1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3" name="Google Shape;1983;g7f9262ee2f_0_26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4" name="Google Shape;1984;g7f9262ee2f_0_26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9" name="Shape 1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0" name="Google Shape;1990;g7f9262ee2f_0_263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1" name="Google Shape;1991;g7f9262ee2f_0_263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9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7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g7f9262ee2f_0_26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9" name="Google Shape;2039;g7f9262ee2f_0_26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6" name="Shape 2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7" name="Google Shape;2067;g7f9262ee2f_0_26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8" name="Google Shape;2068;g7f9262ee2f_0_26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5" name="Shape 2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6" name="Google Shape;2086;g7f9262ee2f_0_26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7" name="Google Shape;2087;g7f9262ee2f_0_26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5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7f9262ee2f_0_26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7f9262ee2f_0_26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3762670" y="3177750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1048270" y="3287500"/>
            <a:ext cx="2412900" cy="931500"/>
          </a:xfrm>
          <a:prstGeom prst="rect">
            <a:avLst/>
          </a:prstGeom>
          <a:effectLst>
            <a:outerShdw blurRad="114300" rotWithShape="0" algn="bl" dir="6360000" dist="28575">
              <a:schemeClr val="accent1">
                <a:alpha val="50000"/>
              </a:scheme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3762670" y="3720650"/>
            <a:ext cx="30687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5337175" y="1297125"/>
            <a:ext cx="2837400" cy="125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5337175" y="2593875"/>
            <a:ext cx="2837400" cy="125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type="title"/>
          </p:nvPr>
        </p:nvSpPr>
        <p:spPr>
          <a:xfrm>
            <a:off x="929477" y="436183"/>
            <a:ext cx="2746500" cy="40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29" name="Google Shape;29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278924" y="414050"/>
            <a:ext cx="7626551" cy="288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5400000">
            <a:off x="4822414" y="-351911"/>
            <a:ext cx="9309797" cy="352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3" name="Google Shape;33;p9"/>
          <p:cNvSpPr txBox="1"/>
          <p:nvPr>
            <p:ph idx="2" type="body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4" name="Google Shape;34;p9"/>
          <p:cNvSpPr txBox="1"/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hasCustomPrompt="1"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body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42900" lvl="1" marL="9144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2pPr>
            <a:lvl3pPr indent="-342900" lvl="2" marL="13716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3pPr>
            <a:lvl4pPr indent="-342900" lvl="3" marL="18288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4pPr>
            <a:lvl5pPr indent="-342900" lvl="4" marL="22860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5pPr>
            <a:lvl6pPr indent="-342900" lvl="5" marL="27432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6pPr>
            <a:lvl7pPr indent="-342900" lvl="6" marL="32004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 sz="1800">
                <a:solidFill>
                  <a:schemeClr val="accent1"/>
                </a:solidFill>
              </a:defRPr>
            </a:lvl7pPr>
            <a:lvl8pPr indent="-342900" lvl="7" marL="3657600" algn="ctr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○"/>
              <a:defRPr sz="1800">
                <a:solidFill>
                  <a:schemeClr val="accent1"/>
                </a:solidFill>
              </a:defRPr>
            </a:lvl8pPr>
            <a:lvl9pPr indent="-342900" lvl="8" marL="4114800" algn="ctr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800"/>
              <a:buChar char="■"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 Points">
  <p:cSld name="CAPTION_ONLY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13"/>
          <p:cNvSpPr txBox="1"/>
          <p:nvPr>
            <p:ph idx="1" type="body"/>
          </p:nvPr>
        </p:nvSpPr>
        <p:spPr>
          <a:xfrm>
            <a:off x="938500" y="1246025"/>
            <a:ext cx="7172100" cy="30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1625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1pPr>
            <a:lvl2pPr indent="-301625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2pPr>
            <a:lvl3pPr indent="-301625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3pPr>
            <a:lvl4pPr indent="-301625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4pPr>
            <a:lvl5pPr indent="-301625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5pPr>
            <a:lvl6pPr indent="-301625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6pPr>
            <a:lvl7pPr indent="-301625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●"/>
              <a:defRPr sz="1150">
                <a:solidFill>
                  <a:schemeClr val="lt1"/>
                </a:solidFill>
              </a:defRPr>
            </a:lvl7pPr>
            <a:lvl8pPr indent="-301625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50"/>
              <a:buChar char="○"/>
              <a:defRPr sz="1150">
                <a:solidFill>
                  <a:schemeClr val="lt1"/>
                </a:solidFill>
              </a:defRPr>
            </a:lvl8pPr>
            <a:lvl9pPr indent="-301625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50"/>
              <a:buChar char="■"/>
              <a:defRPr sz="115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/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4"/>
          <p:cNvSpPr txBox="1"/>
          <p:nvPr>
            <p:ph idx="1" type="subTitle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14"/>
          <p:cNvSpPr txBox="1"/>
          <p:nvPr>
            <p:ph idx="2" type="title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14"/>
          <p:cNvSpPr txBox="1"/>
          <p:nvPr>
            <p:ph idx="3" type="subTitle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9" name="Google Shape;49;p14"/>
          <p:cNvSpPr txBox="1"/>
          <p:nvPr>
            <p:ph idx="4" type="title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14"/>
          <p:cNvSpPr txBox="1"/>
          <p:nvPr>
            <p:ph idx="5" type="subTitle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14"/>
          <p:cNvSpPr txBox="1"/>
          <p:nvPr>
            <p:ph hasCustomPrompt="1" idx="6" type="title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/>
          <p:nvPr>
            <p:ph hasCustomPrompt="1" idx="7" type="title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/>
          <p:nvPr>
            <p:ph hasCustomPrompt="1" idx="8" type="title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rotWithShape="0" algn="bl" dir="5400000" dist="19050">
              <a:srgbClr val="76A5AF">
                <a:alpha val="88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1" sz="6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6" name="Google Shape;56;p15"/>
          <p:cNvSpPr txBox="1"/>
          <p:nvPr>
            <p:ph idx="1" type="subTitle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6"/>
          <p:cNvSpPr txBox="1"/>
          <p:nvPr>
            <p:ph type="ctrTitle"/>
          </p:nvPr>
        </p:nvSpPr>
        <p:spPr>
          <a:xfrm>
            <a:off x="1850525" y="1157925"/>
            <a:ext cx="5442900" cy="260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9" name="Google Shape;59;p16"/>
          <p:cNvSpPr txBox="1"/>
          <p:nvPr>
            <p:ph idx="1" type="subTitle"/>
          </p:nvPr>
        </p:nvSpPr>
        <p:spPr>
          <a:xfrm>
            <a:off x="2481900" y="3945600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/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17"/>
          <p:cNvSpPr txBox="1"/>
          <p:nvPr>
            <p:ph idx="1" type="subTitle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3" name="Google Shape;63;p17"/>
          <p:cNvSpPr txBox="1"/>
          <p:nvPr>
            <p:ph idx="2" type="title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7"/>
          <p:cNvSpPr txBox="1"/>
          <p:nvPr>
            <p:ph idx="3" type="subTitle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7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18"/>
          <p:cNvSpPr txBox="1"/>
          <p:nvPr>
            <p:ph idx="1" type="subTitle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8"/>
          <p:cNvSpPr txBox="1"/>
          <p:nvPr>
            <p:ph idx="2" type="title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0" name="Google Shape;70;p18"/>
          <p:cNvSpPr txBox="1"/>
          <p:nvPr>
            <p:ph idx="3" type="subTitle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1" name="Google Shape;71;p18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8"/>
          <p:cNvSpPr txBox="1"/>
          <p:nvPr>
            <p:ph idx="5" type="title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3" name="Google Shape;73;p18"/>
          <p:cNvSpPr txBox="1"/>
          <p:nvPr>
            <p:ph idx="6" type="subTitle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TITLE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ctrTitle"/>
          </p:nvPr>
        </p:nvSpPr>
        <p:spPr>
          <a:xfrm>
            <a:off x="1273500" y="1369000"/>
            <a:ext cx="6597000" cy="210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b="1" sz="45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9"/>
          <p:cNvSpPr txBox="1"/>
          <p:nvPr>
            <p:ph idx="1" type="subTitle"/>
          </p:nvPr>
        </p:nvSpPr>
        <p:spPr>
          <a:xfrm>
            <a:off x="2481900" y="2519525"/>
            <a:ext cx="418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">
  <p:cSld name="CAPTION_ONL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1">
  <p:cSld name="CAPTION_ONLY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2">
  <p:cSld name="CAPTION_ONLY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2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3">
  <p:cSld name="CAPTION_ONLY_1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3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wo Lists">
  <p:cSld name="SECTION_TITLE_AND_DESCRIPTION_1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4"/>
          <p:cNvSpPr txBox="1"/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7" name="Google Shape;87;p24"/>
          <p:cNvSpPr txBox="1"/>
          <p:nvPr>
            <p:ph idx="1" type="body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24"/>
          <p:cNvSpPr txBox="1"/>
          <p:nvPr>
            <p:ph idx="2" type="body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24"/>
          <p:cNvSpPr txBox="1"/>
          <p:nvPr>
            <p:ph idx="3" type="title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4" type="title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25"/>
          <p:cNvSpPr txBox="1"/>
          <p:nvPr>
            <p:ph idx="2" type="title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25"/>
          <p:cNvSpPr txBox="1"/>
          <p:nvPr>
            <p:ph idx="1" type="subTitle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25"/>
          <p:cNvSpPr txBox="1"/>
          <p:nvPr>
            <p:ph idx="3" type="title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25"/>
          <p:cNvSpPr txBox="1"/>
          <p:nvPr>
            <p:ph idx="4" type="subTitle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" name="Google Shape;97;p25"/>
          <p:cNvSpPr txBox="1"/>
          <p:nvPr>
            <p:ph idx="5" type="title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6" type="subTitle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25"/>
          <p:cNvSpPr txBox="1"/>
          <p:nvPr>
            <p:ph idx="7" type="title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25"/>
          <p:cNvSpPr txBox="1"/>
          <p:nvPr>
            <p:ph idx="8" type="subTitle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Numbers">
  <p:cSld name="CAPTION_ONLY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6"/>
          <p:cNvSpPr txBox="1"/>
          <p:nvPr>
            <p:ph hasCustomPrompt="1"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6"/>
          <p:cNvSpPr txBox="1"/>
          <p:nvPr>
            <p:ph idx="1" type="subTitle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4" name="Google Shape;104;p26"/>
          <p:cNvSpPr txBox="1"/>
          <p:nvPr>
            <p:ph hasCustomPrompt="1" idx="2" type="title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6"/>
          <p:cNvSpPr txBox="1"/>
          <p:nvPr>
            <p:ph idx="3" type="subTitle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06" name="Google Shape;106;p26"/>
          <p:cNvSpPr txBox="1"/>
          <p:nvPr>
            <p:ph hasCustomPrompt="1" idx="4" type="title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6"/>
          <p:cNvSpPr txBox="1"/>
          <p:nvPr>
            <p:ph idx="5" type="subTitle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sz="21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Six Columns  ">
  <p:cSld name="SECTION_TITLE_AND_DESCRIPTION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7"/>
          <p:cNvSpPr txBox="1"/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0" name="Google Shape;110;p27"/>
          <p:cNvSpPr txBox="1"/>
          <p:nvPr>
            <p:ph idx="1" type="subTitle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27"/>
          <p:cNvSpPr txBox="1"/>
          <p:nvPr>
            <p:ph idx="2" type="title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2" name="Google Shape;112;p27"/>
          <p:cNvSpPr txBox="1"/>
          <p:nvPr>
            <p:ph idx="3" type="subTitle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27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4" name="Google Shape;114;p27"/>
          <p:cNvSpPr txBox="1"/>
          <p:nvPr>
            <p:ph idx="5" type="title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27"/>
          <p:cNvSpPr txBox="1"/>
          <p:nvPr>
            <p:ph idx="6" type="subTitle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6" name="Google Shape;116;p27"/>
          <p:cNvSpPr txBox="1"/>
          <p:nvPr>
            <p:ph idx="7" type="title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27"/>
          <p:cNvSpPr txBox="1"/>
          <p:nvPr>
            <p:ph idx="8" type="subTitle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8" name="Google Shape;118;p27"/>
          <p:cNvSpPr txBox="1"/>
          <p:nvPr>
            <p:ph idx="9" type="title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27"/>
          <p:cNvSpPr txBox="1"/>
          <p:nvPr>
            <p:ph idx="13" type="subTitle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7"/>
          <p:cNvSpPr txBox="1"/>
          <p:nvPr>
            <p:ph idx="14" type="title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27"/>
          <p:cNvSpPr txBox="1"/>
          <p:nvPr>
            <p:ph idx="15" type="subTitle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28"/>
          <p:cNvSpPr txBox="1"/>
          <p:nvPr>
            <p:ph idx="2" type="title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5" name="Google Shape;125;p28"/>
          <p:cNvSpPr txBox="1"/>
          <p:nvPr>
            <p:ph idx="1" type="subTitle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28"/>
          <p:cNvSpPr txBox="1"/>
          <p:nvPr>
            <p:ph idx="3" type="title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28"/>
          <p:cNvSpPr txBox="1"/>
          <p:nvPr>
            <p:ph idx="4" type="subTitle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8"/>
          <p:cNvSpPr txBox="1"/>
          <p:nvPr>
            <p:ph idx="5" type="title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9" name="Google Shape;129;p28"/>
          <p:cNvSpPr txBox="1"/>
          <p:nvPr>
            <p:ph idx="6" type="subTitle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0" name="Google Shape;130;p28"/>
          <p:cNvSpPr txBox="1"/>
          <p:nvPr>
            <p:ph idx="7" type="title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28"/>
          <p:cNvSpPr txBox="1"/>
          <p:nvPr>
            <p:ph idx="8" type="subTitle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">
  <p:cSld name="SECTION_TITLE_AND_DESCRIPTION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9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4" name="Google Shape;134;p29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1">
  <p:cSld name="TITLE_ONL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" name="Google Shape;137;p30"/>
          <p:cNvSpPr txBox="1"/>
          <p:nvPr>
            <p:ph idx="1" type="subTitle"/>
          </p:nvPr>
        </p:nvSpPr>
        <p:spPr>
          <a:xfrm>
            <a:off x="93850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2">
  <p:cSld name="CAPTION_ONLY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0" name="Google Shape;140;p31"/>
          <p:cNvSpPr txBox="1"/>
          <p:nvPr>
            <p:ph idx="1" type="subTitle"/>
          </p:nvPr>
        </p:nvSpPr>
        <p:spPr>
          <a:xfrm>
            <a:off x="5817050" y="2435925"/>
            <a:ext cx="2556300" cy="204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">
  <p:cSld name="SECTION_HEADER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2"/>
          <p:cNvSpPr txBox="1"/>
          <p:nvPr>
            <p:ph type="title"/>
          </p:nvPr>
        </p:nvSpPr>
        <p:spPr>
          <a:xfrm>
            <a:off x="2062800" y="2442050"/>
            <a:ext cx="50184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3" name="Google Shape;143;p32"/>
          <p:cNvSpPr txBox="1"/>
          <p:nvPr>
            <p:ph idx="1" type="subTitle"/>
          </p:nvPr>
        </p:nvSpPr>
        <p:spPr>
          <a:xfrm>
            <a:off x="2896500" y="3391325"/>
            <a:ext cx="3351000" cy="119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 + Credits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3"/>
          <p:cNvSpPr txBox="1"/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6" name="Google Shape;146;p33"/>
          <p:cNvSpPr txBox="1"/>
          <p:nvPr>
            <p:ph idx="1" type="subTitle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7" name="Google Shape;147;p33"/>
          <p:cNvSpPr txBox="1"/>
          <p:nvPr/>
        </p:nvSpPr>
        <p:spPr>
          <a:xfrm>
            <a:off x="924875" y="3570000"/>
            <a:ext cx="3305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CREDITS: This presentation template was created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including icons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, and infographics &amp; images by </a:t>
            </a:r>
            <a:r>
              <a:rPr lang="en" sz="1000">
                <a:solidFill>
                  <a:schemeClr val="accent1"/>
                </a:solidFill>
                <a:uFill>
                  <a:noFill/>
                </a:uFill>
                <a:latin typeface="Montserrat Medium"/>
                <a:ea typeface="Montserrat Medium"/>
                <a:cs typeface="Montserrat Medium"/>
                <a:sym typeface="Montserrat Medium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accen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. </a:t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accen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0" name="Google Shape;150;p3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list">
  <p:cSld name="TITLE_AND_TWO_COLUMNS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5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3" name="Google Shape;153;p35"/>
          <p:cNvSpPr txBox="1"/>
          <p:nvPr>
            <p:ph idx="1" type="body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156" name="Google Shape;156;p36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docs.google.com/spreadsheets/d/1hx5gh0Hff0O5fDTp9xrQKfEQOFIRj9Xw4HpzoTh9n8A/copy" TargetMode="External"/><Relationship Id="rId4" Type="http://schemas.openxmlformats.org/officeDocument/2006/relationships/image" Target="../media/image26.png"/><Relationship Id="rId5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ocs.google.com/spreadsheets/d/1hx5gh0Hff0O5fDTp9xrQKfEQOFIRj9Xw4HpzoTh9n8A/copy" TargetMode="External"/><Relationship Id="rId4" Type="http://schemas.openxmlformats.org/officeDocument/2006/relationships/image" Target="../media/image20.png"/><Relationship Id="rId5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/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  <a:effectLst>
            <a:outerShdw blurRad="142875" rotWithShape="0" algn="bl" dir="8760000" dist="19050">
              <a:srgbClr val="76A5AF">
                <a:alpha val="50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GREYIN</a:t>
            </a:r>
            <a:endParaRPr/>
          </a:p>
        </p:txBody>
      </p:sp>
      <p:sp>
        <p:nvSpPr>
          <p:cNvPr id="163" name="Google Shape;163;p38"/>
          <p:cNvSpPr txBox="1"/>
          <p:nvPr>
            <p:ph idx="1" type="subTitle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Verified Professional Network — Salary Intelligence, Peer-Verified Reputation &amp; Career Opportunity, in One Login. Seed Investor Deck · 2026</a:t>
            </a:r>
            <a:endParaRPr/>
          </a:p>
        </p:txBody>
      </p:sp>
      <p:sp>
        <p:nvSpPr>
          <p:cNvPr id="164" name="Google Shape;164;p38"/>
          <p:cNvSpPr txBox="1"/>
          <p:nvPr>
            <p:ph type="ctrTitle"/>
          </p:nvPr>
        </p:nvSpPr>
        <p:spPr>
          <a:xfrm>
            <a:off x="2941650" y="2624375"/>
            <a:ext cx="3260700" cy="464700"/>
          </a:xfrm>
          <a:prstGeom prst="rect">
            <a:avLst/>
          </a:prstGeom>
          <a:effectLst>
            <a:outerShdw blurRad="100013" rotWithShape="0" algn="bl" dir="8460000" dist="19050">
              <a:srgbClr val="76A5AF">
                <a:alpha val="50000"/>
              </a:srgb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latin typeface="Montserrat ExtraLight"/>
                <a:ea typeface="Montserrat ExtraLight"/>
                <a:cs typeface="Montserrat ExtraLight"/>
                <a:sym typeface="Montserrat ExtraLight"/>
              </a:rPr>
              <a:t>E C O S Y S T E M</a:t>
            </a:r>
            <a:endParaRPr b="0" sz="220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/>
          <p:nvPr/>
        </p:nvCxnSpPr>
        <p:spPr>
          <a:xfrm>
            <a:off x="3190500" y="256517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/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NOW</a:t>
            </a:r>
            <a:endParaRPr/>
          </a:p>
        </p:txBody>
      </p:sp>
      <p:sp>
        <p:nvSpPr>
          <p:cNvPr id="195" name="Google Shape;195;p41"/>
          <p:cNvSpPr txBox="1"/>
          <p:nvPr>
            <p:ph idx="1" type="subTitle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AI-grade credibility scoring meets a cultural demand for salary transparency — and we already ship both.</a:t>
            </a:r>
            <a:r>
              <a:rPr lang="en"/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</a:t>
            </a:r>
            <a:r>
              <a:rPr lang="en">
                <a:solidFill>
                  <a:schemeClr val="accent1"/>
                </a:solidFill>
              </a:rPr>
              <a:t/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/>
          <p:nvPr>
            <p:ph idx="1" type="body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Professionals can't verify what they're worth — salary data is opaque, scattered across self-reported surveys</a:t>
            </a:r>
            <a:endParaRPr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Credentials and reputation are unverifiable — anyone can claim years of experience with nothing to back it up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Career tools are fragmented — a job board, a gig marketplace, a community and a benchmarking tool are all separate logins with no shared trust signal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Incumbents optimize for volume, not verification — LinkedIn, Glassdoor and Indeed each solve one slice, none combine them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/>
            </a:r>
            <a:endParaRPr/>
          </a:p>
        </p:txBody>
      </p:sp>
      <p:cxnSp>
        <p:nvCxnSpPr>
          <p:cNvPr id="216" name="Google Shape;216;p4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ASK</a:t>
            </a:r>
            <a:endParaRPr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23" name="Google Shape;223;p45"/>
          <p:cNvSpPr txBox="1"/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WE'RE RAISING</a:t>
            </a:r>
            <a:endParaRPr/>
          </a:p>
        </p:txBody>
      </p:sp>
      <p:sp>
        <p:nvSpPr>
          <p:cNvPr id="224" name="Google Shape;224;p45"/>
          <p:cNvSpPr txBox="1"/>
          <p:nvPr>
            <p:ph idx="1" type="subTitle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Seed round to fund operations through Month-12 break-even and beyond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/>
            </a:r>
            <a:endParaRPr/>
          </a:p>
        </p:txBody>
      </p:sp>
      <p:sp>
        <p:nvSpPr>
          <p:cNvPr id="225" name="Google Shape;225;p45"/>
          <p:cNvSpPr txBox="1"/>
          <p:nvPr>
            <p:ph idx="2" type="title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IT'S USED</a:t>
            </a:r>
            <a:endParaRPr/>
          </a:p>
        </p:txBody>
      </p:sp>
      <p:sp>
        <p:nvSpPr>
          <p:cNvPr id="226" name="Google Shape;226;p45"/>
          <p:cNvSpPr txBox="1"/>
          <p:nvPr>
            <p:ph idx="3" type="subTitle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10-person India team, self-hosted infra, and referral-led growth</a:t>
            </a:r>
            <a:endParaRPr/>
          </a:p>
        </p:txBody>
      </p:sp>
      <p:cxnSp>
        <p:nvCxnSpPr>
          <p:cNvPr id="227" name="Google Shape;227;p45"/>
          <p:cNvCxnSpPr/>
          <p:nvPr/>
        </p:nvCxnSpPr>
        <p:spPr>
          <a:xfrm>
            <a:off x="2996488" y="30840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cxnSp>
        <p:nvCxnSpPr>
          <p:cNvPr id="228" name="Google Shape;228;p45"/>
          <p:cNvCxnSpPr/>
          <p:nvPr/>
        </p:nvCxnSpPr>
        <p:spPr>
          <a:xfrm>
            <a:off x="5875713" y="3084098"/>
            <a:ext cx="2718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0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REVENUE GROWTH: $600/MO TO $1.8M/MO</a:t>
            </a:r>
            <a:endParaRPr/>
          </a:p>
        </p:txBody>
      </p:sp>
      <p:cxnSp>
        <p:nvCxnSpPr>
          <p:cNvPr id="281" name="Google Shape;281;p5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82" name="Google Shape;282;p50"/>
          <p:cNvSpPr txBox="1"/>
          <p:nvPr>
            <p:ph idx="4294967295" type="body"/>
          </p:nvPr>
        </p:nvSpPr>
        <p:spPr>
          <a:xfrm>
            <a:off x="2493750" y="4065250"/>
            <a:ext cx="4156500" cy="5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Monthly recurring revenue at each growth milestone, per the 3-year budget model</a:t>
            </a:r>
            <a:endParaRPr sz="1200">
              <a:solidFill>
                <a:schemeClr val="lt1"/>
              </a:solidFill>
            </a:endParaRPr>
          </a:p>
        </p:txBody>
      </p:sp>
      <p:graphicFrame>
        <p:nvGraphicFramePr>
          <p:cNvPr id="283" name="Chart 282"/>
          <p:cNvGraphicFramePr>
            <a:graphicFrameLocks noGrp="1"/>
          </p:cNvGraphicFramePr>
          <p:nvPr/>
        </p:nvGraphicFramePr>
        <p:xfrm>
          <a:off x="2201000" y="1424600"/>
          <a:ext cx="4742001" cy="2602474"/>
        </p:xfrm>
        <a:graphic>
          <a:graphicData uri="http://schemas.openxmlformats.org/drawingml/2006/chart">
            <c:chart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"/>
          <p:cNvSpPr txBox="1"/>
          <p:nvPr>
            <p:ph type="title"/>
          </p:nvPr>
        </p:nvSpPr>
        <p:spPr>
          <a:xfrm>
            <a:off x="938500" y="445025"/>
            <a:ext cx="5735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MARKET OPPORTUNITY</a:t>
            </a:r>
            <a:endParaRPr/>
          </a:p>
        </p:txBody>
      </p:sp>
      <p:cxnSp>
        <p:nvCxnSpPr>
          <p:cNvPr id="293" name="Google Shape;293;p5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grpSp>
        <p:nvGrpSpPr>
          <p:cNvPr id="294" name="Google Shape;294;p51"/>
          <p:cNvGrpSpPr/>
          <p:nvPr/>
        </p:nvGrpSpPr>
        <p:grpSpPr>
          <a:xfrm>
            <a:off x="1840495" y="1785565"/>
            <a:ext cx="1579088" cy="1674729"/>
            <a:chOff x="1825800" y="1651625"/>
            <a:chExt cx="539989" cy="571775"/>
          </a:xfrm>
        </p:grpSpPr>
        <p:sp>
          <p:nvSpPr>
            <p:cNvPr id="295" name="Google Shape;295;p51"/>
            <p:cNvSpPr/>
            <p:nvPr/>
          </p:nvSpPr>
          <p:spPr>
            <a:xfrm>
              <a:off x="2093189" y="1651625"/>
              <a:ext cx="272600" cy="287950"/>
            </a:xfrm>
            <a:custGeom>
              <a:rect b="b" l="l" r="r" t="t"/>
              <a:pathLst>
                <a:path extrusionOk="0" h="11518" w="10904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51"/>
            <p:cNvSpPr/>
            <p:nvPr/>
          </p:nvSpPr>
          <p:spPr>
            <a:xfrm>
              <a:off x="1825800" y="1967150"/>
              <a:ext cx="231900" cy="233575"/>
            </a:xfrm>
            <a:custGeom>
              <a:rect b="b" l="l" r="r" t="t"/>
              <a:pathLst>
                <a:path extrusionOk="0" h="9343" w="9276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51"/>
            <p:cNvSpPr/>
            <p:nvPr/>
          </p:nvSpPr>
          <p:spPr>
            <a:xfrm>
              <a:off x="2093189" y="1967150"/>
              <a:ext cx="244350" cy="256250"/>
            </a:xfrm>
            <a:custGeom>
              <a:rect b="b" l="l" r="r" t="t"/>
              <a:pathLst>
                <a:path extrusionOk="0" h="10250" w="9774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51"/>
            <p:cNvSpPr/>
            <p:nvPr/>
          </p:nvSpPr>
          <p:spPr>
            <a:xfrm>
              <a:off x="1851375" y="1730300"/>
              <a:ext cx="206325" cy="209275"/>
            </a:xfrm>
            <a:custGeom>
              <a:rect b="b" l="l" r="r" t="t"/>
              <a:pathLst>
                <a:path extrusionOk="0" h="8371" w="8253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9" name="Google Shape;299;p51"/>
          <p:cNvSpPr txBox="1"/>
          <p:nvPr>
            <p:ph idx="4294967295" type="body"/>
          </p:nvPr>
        </p:nvSpPr>
        <p:spPr>
          <a:xfrm>
            <a:off x="958396" y="178555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$2.5B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0" name="Google Shape;300;p51"/>
          <p:cNvSpPr txBox="1"/>
          <p:nvPr>
            <p:ph idx="4294967295" type="body"/>
          </p:nvPr>
        </p:nvSpPr>
        <p:spPr>
          <a:xfrm>
            <a:off x="958396" y="303550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$180M</a:t>
            </a:r>
            <a:r>
              <a:rPr lang="en" sz="1600">
                <a:solidFill>
                  <a:schemeClr val="lt1"/>
                </a:solidFill>
              </a:rPr>
              <a:t/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1" name="Google Shape;301;p51"/>
          <p:cNvSpPr txBox="1"/>
          <p:nvPr>
            <p:ph idx="4294967295" type="body"/>
          </p:nvPr>
        </p:nvSpPr>
        <p:spPr>
          <a:xfrm>
            <a:off x="3572396" y="178555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$15M</a:t>
            </a:r>
            <a:r>
              <a:rPr lang="en" sz="1600">
                <a:solidFill>
                  <a:schemeClr val="lt1"/>
                </a:solidFill>
              </a:rPr>
              <a:t/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302" name="Google Shape;302;p51"/>
          <p:cNvSpPr txBox="1"/>
          <p:nvPr>
            <p:ph idx="4294967295" type="body"/>
          </p:nvPr>
        </p:nvSpPr>
        <p:spPr>
          <a:xfrm>
            <a:off x="3572396" y="3035504"/>
            <a:ext cx="729300" cy="42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100K</a:t>
            </a:r>
            <a:endParaRPr sz="1600">
              <a:solidFill>
                <a:schemeClr val="lt1"/>
              </a:solidFill>
            </a:endParaRPr>
          </a:p>
        </p:txBody>
      </p:sp>
      <p:cxnSp>
        <p:nvCxnSpPr>
          <p:cNvPr id="303" name="Google Shape;303;p51"/>
          <p:cNvCxnSpPr>
            <a:stCxn id="299" idx="3"/>
          </p:cNvCxnSpPr>
          <p:nvPr/>
        </p:nvCxnSpPr>
        <p:spPr>
          <a:xfrm>
            <a:off x="1687696" y="1997954"/>
            <a:ext cx="646200" cy="389100"/>
          </a:xfrm>
          <a:prstGeom prst="bentConnector3">
            <a:avLst>
              <a:gd fmla="val 80222" name="adj1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4" name="Google Shape;304;p51"/>
          <p:cNvCxnSpPr>
            <a:stCxn id="300" idx="3"/>
          </p:cNvCxnSpPr>
          <p:nvPr/>
        </p:nvCxnSpPr>
        <p:spPr>
          <a:xfrm>
            <a:off x="1687696" y="3247904"/>
            <a:ext cx="5439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5" name="Google Shape;305;p51"/>
          <p:cNvCxnSpPr>
            <a:stCxn id="301" idx="1"/>
          </p:cNvCxnSpPr>
          <p:nvPr/>
        </p:nvCxnSpPr>
        <p:spPr>
          <a:xfrm rot="10800000">
            <a:off x="2845796" y="1997954"/>
            <a:ext cx="726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06" name="Google Shape;306;p51"/>
          <p:cNvCxnSpPr>
            <a:stCxn id="302" idx="1"/>
          </p:cNvCxnSpPr>
          <p:nvPr/>
        </p:nvCxnSpPr>
        <p:spPr>
          <a:xfrm rot="10800000">
            <a:off x="3012296" y="3247904"/>
            <a:ext cx="5601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7" name="Google Shape;307;p51"/>
          <p:cNvSpPr txBox="1"/>
          <p:nvPr>
            <p:ph idx="4294967295" type="body"/>
          </p:nvPr>
        </p:nvSpPr>
        <p:spPr>
          <a:xfrm>
            <a:off x="1690555" y="3766204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TAM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08" name="Google Shape;308;p51"/>
          <p:cNvSpPr/>
          <p:nvPr/>
        </p:nvSpPr>
        <p:spPr>
          <a:xfrm>
            <a:off x="1522255" y="3874804"/>
            <a:ext cx="168300" cy="168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51"/>
          <p:cNvSpPr txBox="1"/>
          <p:nvPr>
            <p:ph idx="4294967295" type="body"/>
          </p:nvPr>
        </p:nvSpPr>
        <p:spPr>
          <a:xfrm>
            <a:off x="2829280" y="3766204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SAM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0" name="Google Shape;310;p51"/>
          <p:cNvSpPr/>
          <p:nvPr/>
        </p:nvSpPr>
        <p:spPr>
          <a:xfrm>
            <a:off x="2660980" y="3874804"/>
            <a:ext cx="168300" cy="168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51"/>
          <p:cNvSpPr txBox="1"/>
          <p:nvPr>
            <p:ph idx="4294967295" type="body"/>
          </p:nvPr>
        </p:nvSpPr>
        <p:spPr>
          <a:xfrm>
            <a:off x="1690555" y="4113054"/>
            <a:ext cx="8073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SOM (Yr 3)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2" name="Google Shape;312;p51"/>
          <p:cNvSpPr/>
          <p:nvPr/>
        </p:nvSpPr>
        <p:spPr>
          <a:xfrm>
            <a:off x="1522255" y="4221654"/>
            <a:ext cx="168300" cy="168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51"/>
          <p:cNvSpPr txBox="1"/>
          <p:nvPr>
            <p:ph idx="4294967295" type="body"/>
          </p:nvPr>
        </p:nvSpPr>
        <p:spPr>
          <a:xfrm>
            <a:off x="2829277" y="4113054"/>
            <a:ext cx="873900" cy="38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Target Users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314" name="Google Shape;314;p51"/>
          <p:cNvSpPr/>
          <p:nvPr/>
        </p:nvSpPr>
        <p:spPr>
          <a:xfrm>
            <a:off x="2660980" y="4221654"/>
            <a:ext cx="168300" cy="168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51"/>
          <p:cNvSpPr/>
          <p:nvPr/>
        </p:nvSpPr>
        <p:spPr>
          <a:xfrm>
            <a:off x="5190763" y="1824550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51"/>
          <p:cNvSpPr/>
          <p:nvPr/>
        </p:nvSpPr>
        <p:spPr>
          <a:xfrm>
            <a:off x="5190763" y="3645175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51"/>
          <p:cNvSpPr/>
          <p:nvPr/>
        </p:nvSpPr>
        <p:spPr>
          <a:xfrm>
            <a:off x="5190763" y="2734863"/>
            <a:ext cx="729300" cy="72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45" name="Google Shape;345;p51"/>
          <p:cNvGrpSpPr/>
          <p:nvPr/>
        </p:nvGrpSpPr>
        <p:grpSpPr>
          <a:xfrm>
            <a:off x="5330853" y="1997309"/>
            <a:ext cx="449122" cy="383741"/>
            <a:chOff x="866243" y="2291587"/>
            <a:chExt cx="415546" cy="355053"/>
          </a:xfrm>
        </p:grpSpPr>
        <p:sp>
          <p:nvSpPr>
            <p:cNvPr id="346" name="Google Shape;346;p51"/>
            <p:cNvSpPr/>
            <p:nvPr/>
          </p:nvSpPr>
          <p:spPr>
            <a:xfrm>
              <a:off x="1053756" y="2523748"/>
              <a:ext cx="103998" cy="81706"/>
            </a:xfrm>
            <a:custGeom>
              <a:rect b="b" l="l" r="r" t="t"/>
              <a:pathLst>
                <a:path extrusionOk="0" h="2573" w="3275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51"/>
            <p:cNvSpPr/>
            <p:nvPr/>
          </p:nvSpPr>
          <p:spPr>
            <a:xfrm>
              <a:off x="1076461" y="2409176"/>
              <a:ext cx="79419" cy="60525"/>
            </a:xfrm>
            <a:custGeom>
              <a:rect b="b" l="l" r="r" t="t"/>
              <a:pathLst>
                <a:path extrusionOk="0" h="1906" w="2501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51"/>
            <p:cNvSpPr/>
            <p:nvPr/>
          </p:nvSpPr>
          <p:spPr>
            <a:xfrm>
              <a:off x="985324" y="2448488"/>
              <a:ext cx="86628" cy="94185"/>
            </a:xfrm>
            <a:custGeom>
              <a:rect b="b" l="l" r="r" t="t"/>
              <a:pathLst>
                <a:path extrusionOk="0" h="2966" w="2728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51"/>
            <p:cNvSpPr/>
            <p:nvPr/>
          </p:nvSpPr>
          <p:spPr>
            <a:xfrm>
              <a:off x="1014062" y="2472336"/>
              <a:ext cx="15147" cy="15147"/>
            </a:xfrm>
            <a:custGeom>
              <a:rect b="b" l="l" r="r" t="t"/>
              <a:pathLst>
                <a:path extrusionOk="0" h="477" w="477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51"/>
            <p:cNvSpPr/>
            <p:nvPr/>
          </p:nvSpPr>
          <p:spPr>
            <a:xfrm>
              <a:off x="866243" y="2291587"/>
              <a:ext cx="415546" cy="355053"/>
            </a:xfrm>
            <a:custGeom>
              <a:rect b="b" l="l" r="r" t="t"/>
              <a:pathLst>
                <a:path extrusionOk="0" h="11181" w="13086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1" name="Google Shape;351;p51"/>
          <p:cNvGrpSpPr/>
          <p:nvPr/>
        </p:nvGrpSpPr>
        <p:grpSpPr>
          <a:xfrm>
            <a:off x="5345169" y="2907637"/>
            <a:ext cx="420458" cy="383731"/>
            <a:chOff x="1958520" y="2302574"/>
            <a:chExt cx="359213" cy="327807"/>
          </a:xfrm>
        </p:grpSpPr>
        <p:sp>
          <p:nvSpPr>
            <p:cNvPr id="352" name="Google Shape;352;p51"/>
            <p:cNvSpPr/>
            <p:nvPr/>
          </p:nvSpPr>
          <p:spPr>
            <a:xfrm>
              <a:off x="1958520" y="2302574"/>
              <a:ext cx="359213" cy="327807"/>
            </a:xfrm>
            <a:custGeom>
              <a:rect b="b" l="l" r="r" t="t"/>
              <a:pathLst>
                <a:path extrusionOk="0" h="10323" w="11312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51"/>
            <p:cNvSpPr/>
            <p:nvPr/>
          </p:nvSpPr>
          <p:spPr>
            <a:xfrm>
              <a:off x="1986877" y="2331313"/>
              <a:ext cx="302117" cy="184909"/>
            </a:xfrm>
            <a:custGeom>
              <a:rect b="b" l="l" r="r" t="t"/>
              <a:pathLst>
                <a:path extrusionOk="0" h="5823" w="9514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51"/>
            <p:cNvSpPr/>
            <p:nvPr/>
          </p:nvSpPr>
          <p:spPr>
            <a:xfrm>
              <a:off x="2131521" y="2526701"/>
              <a:ext cx="11908" cy="10638"/>
            </a:xfrm>
            <a:custGeom>
              <a:rect b="b" l="l" r="r" t="t"/>
              <a:pathLst>
                <a:path extrusionOk="0" h="335" w="375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5" name="Google Shape;355;p51"/>
          <p:cNvGrpSpPr/>
          <p:nvPr/>
        </p:nvGrpSpPr>
        <p:grpSpPr>
          <a:xfrm>
            <a:off x="5330852" y="3818025"/>
            <a:ext cx="449098" cy="415171"/>
            <a:chOff x="7384751" y="4147984"/>
            <a:chExt cx="380012" cy="351274"/>
          </a:xfrm>
        </p:grpSpPr>
        <p:sp>
          <p:nvSpPr>
            <p:cNvPr id="356" name="Google Shape;356;p51"/>
            <p:cNvSpPr/>
            <p:nvPr/>
          </p:nvSpPr>
          <p:spPr>
            <a:xfrm>
              <a:off x="7385513" y="4225879"/>
              <a:ext cx="379250" cy="273379"/>
            </a:xfrm>
            <a:custGeom>
              <a:rect b="b" l="l" r="r" t="t"/>
              <a:pathLst>
                <a:path extrusionOk="0" h="8609" w="11943">
                  <a:moveTo>
                    <a:pt x="11740" y="0"/>
                  </a:moveTo>
                  <a:cubicBezTo>
                    <a:pt x="11645" y="0"/>
                    <a:pt x="11562" y="72"/>
                    <a:pt x="11562" y="179"/>
                  </a:cubicBezTo>
                  <a:lnTo>
                    <a:pt x="11562" y="2667"/>
                  </a:lnTo>
                  <a:cubicBezTo>
                    <a:pt x="11562" y="3393"/>
                    <a:pt x="10966" y="3989"/>
                    <a:pt x="10240" y="3989"/>
                  </a:cubicBezTo>
                  <a:lnTo>
                    <a:pt x="9085" y="3989"/>
                  </a:lnTo>
                  <a:cubicBezTo>
                    <a:pt x="8954" y="3989"/>
                    <a:pt x="8823" y="4084"/>
                    <a:pt x="8776" y="4203"/>
                  </a:cubicBezTo>
                  <a:cubicBezTo>
                    <a:pt x="8573" y="4703"/>
                    <a:pt x="8549" y="5167"/>
                    <a:pt x="8752" y="5537"/>
                  </a:cubicBezTo>
                  <a:cubicBezTo>
                    <a:pt x="8823" y="5703"/>
                    <a:pt x="8942" y="5834"/>
                    <a:pt x="9049" y="5941"/>
                  </a:cubicBezTo>
                  <a:cubicBezTo>
                    <a:pt x="8752" y="5929"/>
                    <a:pt x="8514" y="5822"/>
                    <a:pt x="8359" y="5656"/>
                  </a:cubicBezTo>
                  <a:cubicBezTo>
                    <a:pt x="8240" y="5537"/>
                    <a:pt x="7978" y="5167"/>
                    <a:pt x="8073" y="4358"/>
                  </a:cubicBezTo>
                  <a:cubicBezTo>
                    <a:pt x="8109" y="4155"/>
                    <a:pt x="7942" y="3977"/>
                    <a:pt x="7740" y="3977"/>
                  </a:cubicBezTo>
                  <a:lnTo>
                    <a:pt x="5954" y="3977"/>
                  </a:lnTo>
                  <a:cubicBezTo>
                    <a:pt x="5859" y="3977"/>
                    <a:pt x="5775" y="4048"/>
                    <a:pt x="5775" y="4155"/>
                  </a:cubicBezTo>
                  <a:cubicBezTo>
                    <a:pt x="5775" y="4263"/>
                    <a:pt x="5847" y="4334"/>
                    <a:pt x="5954" y="4334"/>
                  </a:cubicBezTo>
                  <a:lnTo>
                    <a:pt x="6847" y="4334"/>
                  </a:lnTo>
                  <a:lnTo>
                    <a:pt x="6847" y="5691"/>
                  </a:lnTo>
                  <a:cubicBezTo>
                    <a:pt x="6847" y="6430"/>
                    <a:pt x="6228" y="7037"/>
                    <a:pt x="5490" y="7037"/>
                  </a:cubicBezTo>
                  <a:lnTo>
                    <a:pt x="4704" y="7037"/>
                  </a:lnTo>
                  <a:cubicBezTo>
                    <a:pt x="4561" y="7037"/>
                    <a:pt x="4466" y="7144"/>
                    <a:pt x="4466" y="7275"/>
                  </a:cubicBezTo>
                  <a:cubicBezTo>
                    <a:pt x="4442" y="7834"/>
                    <a:pt x="4239" y="8215"/>
                    <a:pt x="3668" y="8251"/>
                  </a:cubicBezTo>
                  <a:cubicBezTo>
                    <a:pt x="3930" y="7977"/>
                    <a:pt x="3954" y="7573"/>
                    <a:pt x="3882" y="7239"/>
                  </a:cubicBezTo>
                  <a:cubicBezTo>
                    <a:pt x="3846" y="7120"/>
                    <a:pt x="3763" y="7037"/>
                    <a:pt x="3644" y="7037"/>
                  </a:cubicBezTo>
                  <a:lnTo>
                    <a:pt x="1703" y="7037"/>
                  </a:lnTo>
                  <a:cubicBezTo>
                    <a:pt x="965" y="7037"/>
                    <a:pt x="358" y="6430"/>
                    <a:pt x="358" y="5691"/>
                  </a:cubicBezTo>
                  <a:lnTo>
                    <a:pt x="358" y="5310"/>
                  </a:lnTo>
                  <a:cubicBezTo>
                    <a:pt x="358" y="5227"/>
                    <a:pt x="275" y="5132"/>
                    <a:pt x="179" y="5132"/>
                  </a:cubicBezTo>
                  <a:cubicBezTo>
                    <a:pt x="84" y="5132"/>
                    <a:pt x="1" y="5215"/>
                    <a:pt x="1" y="5310"/>
                  </a:cubicBezTo>
                  <a:lnTo>
                    <a:pt x="1" y="5691"/>
                  </a:lnTo>
                  <a:cubicBezTo>
                    <a:pt x="1" y="6620"/>
                    <a:pt x="751" y="7394"/>
                    <a:pt x="1703" y="7394"/>
                  </a:cubicBezTo>
                  <a:lnTo>
                    <a:pt x="3573" y="7394"/>
                  </a:lnTo>
                  <a:cubicBezTo>
                    <a:pt x="3596" y="7620"/>
                    <a:pt x="3596" y="8025"/>
                    <a:pt x="3215" y="8144"/>
                  </a:cubicBezTo>
                  <a:cubicBezTo>
                    <a:pt x="2989" y="8215"/>
                    <a:pt x="3001" y="8525"/>
                    <a:pt x="3239" y="8573"/>
                  </a:cubicBezTo>
                  <a:cubicBezTo>
                    <a:pt x="3370" y="8608"/>
                    <a:pt x="3489" y="8608"/>
                    <a:pt x="3596" y="8608"/>
                  </a:cubicBezTo>
                  <a:cubicBezTo>
                    <a:pt x="4299" y="8608"/>
                    <a:pt x="4763" y="8204"/>
                    <a:pt x="4823" y="7394"/>
                  </a:cubicBezTo>
                  <a:lnTo>
                    <a:pt x="5513" y="7394"/>
                  </a:lnTo>
                  <a:cubicBezTo>
                    <a:pt x="6454" y="7394"/>
                    <a:pt x="7228" y="6644"/>
                    <a:pt x="7228" y="5691"/>
                  </a:cubicBezTo>
                  <a:lnTo>
                    <a:pt x="7228" y="4334"/>
                  </a:lnTo>
                  <a:lnTo>
                    <a:pt x="7764" y="4334"/>
                  </a:lnTo>
                  <a:cubicBezTo>
                    <a:pt x="7716" y="4715"/>
                    <a:pt x="7704" y="5429"/>
                    <a:pt x="8157" y="5894"/>
                  </a:cubicBezTo>
                  <a:cubicBezTo>
                    <a:pt x="8407" y="6168"/>
                    <a:pt x="8764" y="6299"/>
                    <a:pt x="9240" y="6299"/>
                  </a:cubicBezTo>
                  <a:cubicBezTo>
                    <a:pt x="9311" y="6299"/>
                    <a:pt x="9383" y="6299"/>
                    <a:pt x="9478" y="6287"/>
                  </a:cubicBezTo>
                  <a:cubicBezTo>
                    <a:pt x="9704" y="6263"/>
                    <a:pt x="9776" y="5965"/>
                    <a:pt x="9561" y="5846"/>
                  </a:cubicBezTo>
                  <a:cubicBezTo>
                    <a:pt x="8847" y="5429"/>
                    <a:pt x="9002" y="4715"/>
                    <a:pt x="9145" y="4334"/>
                  </a:cubicBezTo>
                  <a:lnTo>
                    <a:pt x="10276" y="4334"/>
                  </a:lnTo>
                  <a:cubicBezTo>
                    <a:pt x="11205" y="4334"/>
                    <a:pt x="11943" y="3584"/>
                    <a:pt x="11943" y="2667"/>
                  </a:cubicBezTo>
                  <a:lnTo>
                    <a:pt x="11943" y="179"/>
                  </a:lnTo>
                  <a:cubicBezTo>
                    <a:pt x="11919" y="95"/>
                    <a:pt x="11847" y="0"/>
                    <a:pt x="1174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51"/>
            <p:cNvSpPr/>
            <p:nvPr/>
          </p:nvSpPr>
          <p:spPr>
            <a:xfrm>
              <a:off x="7384751" y="4147984"/>
              <a:ext cx="380012" cy="228382"/>
            </a:xfrm>
            <a:custGeom>
              <a:rect b="b" l="l" r="r" t="t"/>
              <a:pathLst>
                <a:path extrusionOk="0" h="7192" w="11967">
                  <a:moveTo>
                    <a:pt x="3144" y="0"/>
                  </a:moveTo>
                  <a:cubicBezTo>
                    <a:pt x="2227" y="0"/>
                    <a:pt x="1477" y="739"/>
                    <a:pt x="1477" y="1667"/>
                  </a:cubicBezTo>
                  <a:lnTo>
                    <a:pt x="1477" y="4132"/>
                  </a:lnTo>
                  <a:cubicBezTo>
                    <a:pt x="1108" y="4191"/>
                    <a:pt x="751" y="4358"/>
                    <a:pt x="477" y="4644"/>
                  </a:cubicBezTo>
                  <a:cubicBezTo>
                    <a:pt x="168" y="4965"/>
                    <a:pt x="1" y="5382"/>
                    <a:pt x="1" y="5823"/>
                  </a:cubicBezTo>
                  <a:lnTo>
                    <a:pt x="1" y="7013"/>
                  </a:lnTo>
                  <a:cubicBezTo>
                    <a:pt x="1" y="7097"/>
                    <a:pt x="84" y="7192"/>
                    <a:pt x="180" y="7192"/>
                  </a:cubicBezTo>
                  <a:cubicBezTo>
                    <a:pt x="275" y="7192"/>
                    <a:pt x="358" y="7108"/>
                    <a:pt x="358" y="7013"/>
                  </a:cubicBezTo>
                  <a:lnTo>
                    <a:pt x="358" y="5823"/>
                  </a:lnTo>
                  <a:cubicBezTo>
                    <a:pt x="358" y="5465"/>
                    <a:pt x="501" y="5132"/>
                    <a:pt x="751" y="4882"/>
                  </a:cubicBezTo>
                  <a:cubicBezTo>
                    <a:pt x="953" y="4668"/>
                    <a:pt x="1203" y="4537"/>
                    <a:pt x="1489" y="4477"/>
                  </a:cubicBezTo>
                  <a:lnTo>
                    <a:pt x="1489" y="5084"/>
                  </a:lnTo>
                  <a:cubicBezTo>
                    <a:pt x="1489" y="6013"/>
                    <a:pt x="2239" y="6751"/>
                    <a:pt x="3156" y="6751"/>
                  </a:cubicBezTo>
                  <a:lnTo>
                    <a:pt x="5240" y="6751"/>
                  </a:lnTo>
                  <a:cubicBezTo>
                    <a:pt x="5335" y="6751"/>
                    <a:pt x="5418" y="6680"/>
                    <a:pt x="5418" y="6573"/>
                  </a:cubicBezTo>
                  <a:cubicBezTo>
                    <a:pt x="5418" y="6489"/>
                    <a:pt x="5347" y="6394"/>
                    <a:pt x="5240" y="6394"/>
                  </a:cubicBezTo>
                  <a:lnTo>
                    <a:pt x="3156" y="6394"/>
                  </a:lnTo>
                  <a:cubicBezTo>
                    <a:pt x="2430" y="6394"/>
                    <a:pt x="1834" y="5799"/>
                    <a:pt x="1834" y="5073"/>
                  </a:cubicBezTo>
                  <a:lnTo>
                    <a:pt x="1834" y="1620"/>
                  </a:lnTo>
                  <a:cubicBezTo>
                    <a:pt x="1834" y="893"/>
                    <a:pt x="2430" y="298"/>
                    <a:pt x="3156" y="298"/>
                  </a:cubicBezTo>
                  <a:lnTo>
                    <a:pt x="10288" y="298"/>
                  </a:lnTo>
                  <a:cubicBezTo>
                    <a:pt x="11014" y="298"/>
                    <a:pt x="11610" y="893"/>
                    <a:pt x="11610" y="1620"/>
                  </a:cubicBezTo>
                  <a:lnTo>
                    <a:pt x="11610" y="1846"/>
                  </a:lnTo>
                  <a:cubicBezTo>
                    <a:pt x="11610" y="1929"/>
                    <a:pt x="11693" y="2025"/>
                    <a:pt x="11788" y="2025"/>
                  </a:cubicBezTo>
                  <a:cubicBezTo>
                    <a:pt x="11883" y="2025"/>
                    <a:pt x="11967" y="1953"/>
                    <a:pt x="11967" y="1846"/>
                  </a:cubicBezTo>
                  <a:lnTo>
                    <a:pt x="11967" y="1620"/>
                  </a:lnTo>
                  <a:cubicBezTo>
                    <a:pt x="11943" y="762"/>
                    <a:pt x="11193" y="0"/>
                    <a:pt x="10276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51"/>
            <p:cNvSpPr/>
            <p:nvPr/>
          </p:nvSpPr>
          <p:spPr>
            <a:xfrm>
              <a:off x="7507642" y="4228134"/>
              <a:ext cx="37852" cy="37852"/>
            </a:xfrm>
            <a:custGeom>
              <a:rect b="b" l="l" r="r" t="t"/>
              <a:pathLst>
                <a:path extrusionOk="0" h="1192" w="1192">
                  <a:moveTo>
                    <a:pt x="596" y="358"/>
                  </a:moveTo>
                  <a:cubicBezTo>
                    <a:pt x="739" y="358"/>
                    <a:pt x="834" y="465"/>
                    <a:pt x="834" y="596"/>
                  </a:cubicBezTo>
                  <a:cubicBezTo>
                    <a:pt x="834" y="739"/>
                    <a:pt x="739" y="834"/>
                    <a:pt x="596" y="834"/>
                  </a:cubicBezTo>
                  <a:cubicBezTo>
                    <a:pt x="465" y="834"/>
                    <a:pt x="358" y="739"/>
                    <a:pt x="358" y="596"/>
                  </a:cubicBezTo>
                  <a:cubicBezTo>
                    <a:pt x="358" y="465"/>
                    <a:pt x="465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51"/>
            <p:cNvSpPr/>
            <p:nvPr/>
          </p:nvSpPr>
          <p:spPr>
            <a:xfrm>
              <a:off x="7573820" y="4228134"/>
              <a:ext cx="37820" cy="37852"/>
            </a:xfrm>
            <a:custGeom>
              <a:rect b="b" l="l" r="r" t="t"/>
              <a:pathLst>
                <a:path extrusionOk="0" h="1192" w="1191">
                  <a:moveTo>
                    <a:pt x="595" y="358"/>
                  </a:moveTo>
                  <a:cubicBezTo>
                    <a:pt x="738" y="358"/>
                    <a:pt x="833" y="465"/>
                    <a:pt x="833" y="596"/>
                  </a:cubicBezTo>
                  <a:cubicBezTo>
                    <a:pt x="833" y="739"/>
                    <a:pt x="738" y="834"/>
                    <a:pt x="595" y="834"/>
                  </a:cubicBezTo>
                  <a:cubicBezTo>
                    <a:pt x="464" y="834"/>
                    <a:pt x="357" y="739"/>
                    <a:pt x="357" y="596"/>
                  </a:cubicBezTo>
                  <a:cubicBezTo>
                    <a:pt x="357" y="465"/>
                    <a:pt x="464" y="358"/>
                    <a:pt x="595" y="358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51"/>
            <p:cNvSpPr/>
            <p:nvPr/>
          </p:nvSpPr>
          <p:spPr>
            <a:xfrm>
              <a:off x="7640728" y="4228134"/>
              <a:ext cx="37852" cy="37852"/>
            </a:xfrm>
            <a:custGeom>
              <a:rect b="b" l="l" r="r" t="t"/>
              <a:pathLst>
                <a:path extrusionOk="0" h="1192" w="1192">
                  <a:moveTo>
                    <a:pt x="596" y="358"/>
                  </a:moveTo>
                  <a:cubicBezTo>
                    <a:pt x="727" y="358"/>
                    <a:pt x="834" y="465"/>
                    <a:pt x="834" y="596"/>
                  </a:cubicBezTo>
                  <a:cubicBezTo>
                    <a:pt x="834" y="739"/>
                    <a:pt x="727" y="834"/>
                    <a:pt x="596" y="834"/>
                  </a:cubicBezTo>
                  <a:cubicBezTo>
                    <a:pt x="453" y="834"/>
                    <a:pt x="358" y="739"/>
                    <a:pt x="358" y="596"/>
                  </a:cubicBezTo>
                  <a:cubicBezTo>
                    <a:pt x="334" y="465"/>
                    <a:pt x="453" y="358"/>
                    <a:pt x="596" y="358"/>
                  </a:cubicBezTo>
                  <a:close/>
                  <a:moveTo>
                    <a:pt x="596" y="1"/>
                  </a:moveTo>
                  <a:cubicBezTo>
                    <a:pt x="262" y="1"/>
                    <a:pt x="0" y="274"/>
                    <a:pt x="0" y="596"/>
                  </a:cubicBezTo>
                  <a:cubicBezTo>
                    <a:pt x="0" y="929"/>
                    <a:pt x="262" y="1191"/>
                    <a:pt x="596" y="1191"/>
                  </a:cubicBezTo>
                  <a:cubicBezTo>
                    <a:pt x="917" y="1191"/>
                    <a:pt x="1191" y="929"/>
                    <a:pt x="1191" y="596"/>
                  </a:cubicBezTo>
                  <a:cubicBezTo>
                    <a:pt x="1191" y="274"/>
                    <a:pt x="917" y="1"/>
                    <a:pt x="59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UNIT ECONOMICS: A CLEAR PATH TO EFFICIENCY</a:t>
            </a:r>
            <a:endParaRPr/>
          </a:p>
        </p:txBody>
      </p:sp>
      <p:cxnSp>
        <p:nvCxnSpPr>
          <p:cNvPr id="366" name="Google Shape;366;p5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graphicFrame>
        <p:nvGraphicFramePr>
          <p:cNvPr id="367" name="Google Shape;367;p52"/>
          <p:cNvGraphicFramePr/>
          <p:nvPr/>
        </p:nvGraphicFramePr>
        <p:xfrm>
          <a:off x="1691400" y="155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{0F800C25-3B26-4A03-9EF3-520F5B5E6BF8}</a:tableStyleId>
              </a:tblPr>
              <a:tblGrid>
                <a:gridCol w="1440300"/>
                <a:gridCol w="1440300"/>
                <a:gridCol w="1440300"/>
                <a:gridCol w="1440300"/>
              </a:tblGrid>
              <a:tr h="5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Metric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Year 1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Year 2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Year 3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ARPU (annual, USD)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F3F3F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$12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$18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$24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CAC (USD)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$8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$6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$4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LTV : CAC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4.5x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9x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18x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Annual Retention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58%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72%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82%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 ExtraBold"/>
                          <a:ea typeface="Montserrat ExtraBold"/>
                          <a:cs typeface="Montserrat ExtraBold"/>
                          <a:sym typeface="Montserrat ExtraBold"/>
                        </a:rPr>
                        <a:t>Net Revenue Retention</a:t>
                      </a:r>
                      <a:endParaRPr>
                        <a:solidFill>
                          <a:schemeClr val="lt1"/>
                        </a:solidFill>
                        <a:latin typeface="Montserrat ExtraBold"/>
                        <a:ea typeface="Montserrat ExtraBold"/>
                        <a:cs typeface="Montserrat ExtraBold"/>
                        <a:sym typeface="Montserrat ExtraBold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92%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105%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115%</a:t>
                      </a:r>
                      <a:endParaRPr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4" name="Shape 1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" name="Google Shape;1955;p54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3-YEAR ROADMAP</a:t>
            </a:r>
            <a:endParaRPr/>
          </a:p>
        </p:txBody>
      </p:sp>
      <p:cxnSp>
        <p:nvCxnSpPr>
          <p:cNvPr id="1956" name="Google Shape;1956;p54"/>
          <p:cNvCxnSpPr/>
          <p:nvPr/>
        </p:nvCxnSpPr>
        <p:spPr>
          <a:xfrm>
            <a:off x="1245300" y="2859300"/>
            <a:ext cx="66534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57" name="Google Shape;1957;p54"/>
          <p:cNvSpPr txBox="1"/>
          <p:nvPr>
            <p:ph idx="4294967295" type="title"/>
          </p:nvPr>
        </p:nvSpPr>
        <p:spPr>
          <a:xfrm>
            <a:off x="1019361" y="2097688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MONTH 1 — SEED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8" name="Google Shape;1958;p54"/>
          <p:cNvSpPr txBox="1"/>
          <p:nvPr>
            <p:ph idx="4294967295" type="subTitle"/>
          </p:nvPr>
        </p:nvSpPr>
        <p:spPr>
          <a:xfrm>
            <a:off x="1019364" y="3183038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100 users onboarded; PMF validation begins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59" name="Google Shape;1959;p54"/>
          <p:cNvSpPr txBox="1"/>
          <p:nvPr>
            <p:ph idx="4294967295" type="title"/>
          </p:nvPr>
        </p:nvSpPr>
        <p:spPr>
          <a:xfrm>
            <a:off x="4738561" y="2097688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MONTH 24 — SCALE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0" name="Google Shape;1960;p54"/>
          <p:cNvSpPr txBox="1"/>
          <p:nvPr>
            <p:ph idx="4294967295" type="subTitle"/>
          </p:nvPr>
        </p:nvSpPr>
        <p:spPr>
          <a:xfrm>
            <a:off x="4738564" y="3183038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25,000 users; $450K/mo revenue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1" name="Google Shape;1961;p54"/>
          <p:cNvSpPr txBox="1"/>
          <p:nvPr>
            <p:ph idx="4294967295" type="subTitle"/>
          </p:nvPr>
        </p:nvSpPr>
        <p:spPr>
          <a:xfrm>
            <a:off x="2879789" y="1892972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5,000 users; contribution turns positive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2" name="Google Shape;1962;p54"/>
          <p:cNvSpPr txBox="1"/>
          <p:nvPr>
            <p:ph idx="4294967295" type="title"/>
          </p:nvPr>
        </p:nvSpPr>
        <p:spPr>
          <a:xfrm>
            <a:off x="2879786" y="3230845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MONTH 12 — BREAK-EVEN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3" name="Google Shape;1963;p54"/>
          <p:cNvSpPr txBox="1"/>
          <p:nvPr>
            <p:ph idx="4294967295" type="subTitle"/>
          </p:nvPr>
        </p:nvSpPr>
        <p:spPr>
          <a:xfrm>
            <a:off x="6597339" y="1881059"/>
            <a:ext cx="1527300" cy="72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100,000 users; $1.8M/mo revenue</a:t>
            </a:r>
            <a:r>
              <a:rPr lang="en" sz="1400">
                <a:solidFill>
                  <a:schemeClr val="lt1"/>
                </a:solidFill>
              </a:rPr>
              <a:t/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4" name="Google Shape;1964;p54"/>
          <p:cNvSpPr txBox="1"/>
          <p:nvPr>
            <p:ph idx="4294967295" type="title"/>
          </p:nvPr>
        </p:nvSpPr>
        <p:spPr>
          <a:xfrm>
            <a:off x="6597336" y="3218932"/>
            <a:ext cx="1527300" cy="34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MONTH 36 — MATURE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1965" name="Google Shape;1965;p54"/>
          <p:cNvSpPr/>
          <p:nvPr/>
        </p:nvSpPr>
        <p:spPr>
          <a:xfrm>
            <a:off x="167425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6" name="Google Shape;1966;p54"/>
          <p:cNvSpPr/>
          <p:nvPr/>
        </p:nvSpPr>
        <p:spPr>
          <a:xfrm>
            <a:off x="353467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7" name="Google Shape;1967;p54"/>
          <p:cNvSpPr/>
          <p:nvPr/>
        </p:nvSpPr>
        <p:spPr>
          <a:xfrm>
            <a:off x="5395100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8" name="Google Shape;1968;p54"/>
          <p:cNvSpPr/>
          <p:nvPr/>
        </p:nvSpPr>
        <p:spPr>
          <a:xfrm>
            <a:off x="7255525" y="2750550"/>
            <a:ext cx="217500" cy="2175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9" name="Google Shape;1969;p54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3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p55"/>
          <p:cNvSpPr txBox="1"/>
          <p:nvPr>
            <p:ph type="title"/>
          </p:nvPr>
        </p:nvSpPr>
        <p:spPr>
          <a:xfrm>
            <a:off x="938500" y="445025"/>
            <a:ext cx="47022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 TO PROFITABILITY: BREAK-EVEN AT MONTH 12</a:t>
            </a:r>
            <a:endParaRPr/>
          </a:p>
        </p:txBody>
      </p:sp>
      <p:sp>
        <p:nvSpPr>
          <p:cNvPr id="1975" name="Google Shape;1975;p55"/>
          <p:cNvSpPr txBox="1"/>
          <p:nvPr>
            <p:ph idx="4294967295" type="body"/>
          </p:nvPr>
        </p:nvSpPr>
        <p:spPr>
          <a:xfrm>
            <a:off x="6341669" y="3705325"/>
            <a:ext cx="1907100" cy="86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200">
                <a:solidFill>
                  <a:schemeClr val="lt1"/>
                </a:solidFill>
              </a:rPr>
              <a:t>Monthly operating cost vs. monthly revenue, on-site scenario (USD) — crossover at ~5,000 users</a:t>
            </a:r>
            <a:endParaRPr sz="1200">
              <a:solidFill>
                <a:schemeClr val="lt1"/>
              </a:solidFill>
            </a:endParaRPr>
          </a:p>
        </p:txBody>
      </p:sp>
      <p:cxnSp>
        <p:nvCxnSpPr>
          <p:cNvPr id="1980" name="Google Shape;1980;p5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graphicFrame>
        <p:nvGraphicFramePr>
          <p:cNvPr id="1981" name="Chart 1980"/>
          <p:cNvGraphicFramePr>
            <a:graphicFrameLocks noGrp="1"/>
          </p:cNvGraphicFramePr>
          <p:nvPr/>
        </p:nvGraphicFramePr>
        <p:xfrm>
          <a:off x="891738" y="1656775"/>
          <a:ext cx="4795725" cy="2965375"/>
        </p:xfrm>
        <a:graphic>
          <a:graphicData uri="http://schemas.openxmlformats.org/drawingml/2006/chart">
            <c:chart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5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p56"/>
          <p:cNvSpPr txBox="1"/>
          <p:nvPr>
            <p:ph type="title"/>
          </p:nvPr>
        </p:nvSpPr>
        <p:spPr>
          <a:xfrm>
            <a:off x="1920750" y="1634425"/>
            <a:ext cx="5302500" cy="1116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$1.28M</a:t>
            </a:r>
            <a:endParaRPr/>
          </a:p>
        </p:txBody>
      </p:sp>
      <p:sp>
        <p:nvSpPr>
          <p:cNvPr id="1987" name="Google Shape;1987;p56"/>
          <p:cNvSpPr txBox="1"/>
          <p:nvPr>
            <p:ph idx="1" type="body"/>
          </p:nvPr>
        </p:nvSpPr>
        <p:spPr>
          <a:xfrm>
            <a:off x="2786550" y="3094475"/>
            <a:ext cx="3570900" cy="56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Projected annual recurring revenue at 100,000 users by Month 36 — blended across all six pillars</a:t>
            </a:r>
            <a:endParaRPr/>
          </a:p>
        </p:txBody>
      </p:sp>
      <p:cxnSp>
        <p:nvCxnSpPr>
          <p:cNvPr id="1988" name="Google Shape;1988;p56"/>
          <p:cNvCxnSpPr/>
          <p:nvPr/>
        </p:nvCxnSpPr>
        <p:spPr>
          <a:xfrm>
            <a:off x="3190500" y="2845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2" name="Shape 1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3" name="Google Shape;1993;p57"/>
          <p:cNvSpPr txBox="1"/>
          <p:nvPr>
            <p:ph type="title"/>
          </p:nvPr>
        </p:nvSpPr>
        <p:spPr>
          <a:xfrm>
            <a:off x="938500" y="445025"/>
            <a:ext cx="49647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EXISTING PLATFORMS DON'T SOLVE THIS</a:t>
            </a:r>
            <a:r>
              <a:rPr lang="en"/>
              <a:t/>
            </a:r>
            <a:r>
              <a:rPr lang="en"/>
              <a:t/>
            </a:r>
            <a:endParaRPr/>
          </a:p>
        </p:txBody>
      </p:sp>
      <p:sp>
        <p:nvSpPr>
          <p:cNvPr id="1994" name="Google Shape;1994;p57"/>
          <p:cNvSpPr txBox="1"/>
          <p:nvPr>
            <p:ph idx="1" type="body"/>
          </p:nvPr>
        </p:nvSpPr>
        <p:spPr>
          <a:xfrm>
            <a:off x="1067241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LinkedIn: networking, no verified salary data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Glassdoor: anonymous reviews, no peer verification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Indeed: job volume, no gig work or mentorship layer</a:t>
            </a:r>
            <a:endParaRPr/>
          </a:p>
        </p:txBody>
      </p:sp>
      <p:sp>
        <p:nvSpPr>
          <p:cNvPr id="1995" name="Google Shape;1995;p57"/>
          <p:cNvSpPr txBox="1"/>
          <p:nvPr>
            <p:ph idx="2" type="body"/>
          </p:nvPr>
        </p:nvSpPr>
        <p:spPr>
          <a:xfrm>
            <a:off x="4673852" y="2651775"/>
            <a:ext cx="3258900" cy="17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Peer-verified salary intelligence with k-anonymity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AI-scored, Bayesian-shrunk reputation across 6 pillars</a:t>
            </a:r>
            <a:endParaRPr/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SzPts val="1400"/>
              <a:buChar char="●"/>
            </a:pPr>
            <a:r>
              <a:rPr lang="en"/>
              <a:t>Hiring, gig work, mentorship and community — one login</a:t>
            </a:r>
            <a:endParaRPr/>
          </a:p>
        </p:txBody>
      </p:sp>
      <p:sp>
        <p:nvSpPr>
          <p:cNvPr id="1996" name="Google Shape;1996;p57"/>
          <p:cNvSpPr txBox="1"/>
          <p:nvPr>
            <p:ph idx="3" type="title"/>
          </p:nvPr>
        </p:nvSpPr>
        <p:spPr>
          <a:xfrm>
            <a:off x="12134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LEGACY POINT SOLUTIONS</a:t>
            </a:r>
            <a:endParaRPr/>
          </a:p>
        </p:txBody>
      </p:sp>
      <p:sp>
        <p:nvSpPr>
          <p:cNvPr id="1997" name="Google Shape;1997;p57"/>
          <p:cNvSpPr txBox="1"/>
          <p:nvPr>
            <p:ph idx="4" type="title"/>
          </p:nvPr>
        </p:nvSpPr>
        <p:spPr>
          <a:xfrm>
            <a:off x="4820099" y="1955125"/>
            <a:ext cx="32589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GREYIN</a:t>
            </a:r>
            <a:endParaRPr/>
          </a:p>
        </p:txBody>
      </p:sp>
      <p:cxnSp>
        <p:nvCxnSpPr>
          <p:cNvPr id="1998" name="Google Shape;1998;p57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2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/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GO-TO-MARKET: FOUR ACQUISITION CHANNELS</a:t>
            </a:r>
            <a:endParaRPr/>
          </a:p>
        </p:txBody>
      </p:sp>
      <p:sp>
        <p:nvSpPr>
          <p:cNvPr id="2004" name="Google Shape;2004;p58"/>
          <p:cNvSpPr txBox="1"/>
          <p:nvPr>
            <p:ph idx="2" type="title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DIRECT SALES — 20%</a:t>
            </a:r>
            <a:endParaRPr/>
          </a:p>
        </p:txBody>
      </p:sp>
      <p:sp>
        <p:nvSpPr>
          <p:cNvPr id="2005" name="Google Shape;2005;p58"/>
          <p:cNvSpPr txBox="1"/>
          <p:nvPr>
            <p:ph idx="1" type="subTitle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Enterprise &amp; HR outreach for company licensing and DeepEdge seats</a:t>
            </a:r>
            <a:endParaRPr/>
          </a:p>
        </p:txBody>
      </p:sp>
      <p:sp>
        <p:nvSpPr>
          <p:cNvPr id="2006" name="Google Shape;2006;p58"/>
          <p:cNvSpPr txBox="1"/>
          <p:nvPr>
            <p:ph idx="3" type="title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REFERRAL — 40%</a:t>
            </a:r>
            <a:endParaRPr/>
          </a:p>
        </p:txBody>
      </p:sp>
      <p:sp>
        <p:nvSpPr>
          <p:cNvPr id="2007" name="Google Shape;2007;p58"/>
          <p:cNvSpPr txBox="1"/>
          <p:nvPr>
            <p:ph idx="4" type="subTitle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Peer-to-peer invites; viral coefficient ~1.2x per active user</a:t>
            </a:r>
            <a:r>
              <a:rPr lang="en"/>
              <a:t/>
            </a:r>
            <a:endParaRPr/>
          </a:p>
        </p:txBody>
      </p:sp>
      <p:sp>
        <p:nvSpPr>
          <p:cNvPr id="2008" name="Google Shape;2008;p58"/>
          <p:cNvSpPr txBox="1"/>
          <p:nvPr>
            <p:ph idx="5" type="title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PARTNERS — 15%</a:t>
            </a:r>
            <a:endParaRPr/>
          </a:p>
        </p:txBody>
      </p:sp>
      <p:sp>
        <p:nvSpPr>
          <p:cNvPr id="2009" name="Google Shape;2009;p58"/>
          <p:cNvSpPr txBox="1"/>
          <p:nvPr>
            <p:ph idx="6" type="subTitle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Job boards, professional networks and community integrations</a:t>
            </a:r>
            <a:r>
              <a:rPr lang="en"/>
              <a:t/>
            </a:r>
            <a:endParaRPr/>
          </a:p>
        </p:txBody>
      </p:sp>
      <p:sp>
        <p:nvSpPr>
          <p:cNvPr id="2010" name="Google Shape;2010;p58"/>
          <p:cNvSpPr txBox="1"/>
          <p:nvPr>
            <p:ph idx="7" type="title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— 25%</a:t>
            </a:r>
            <a:endParaRPr/>
          </a:p>
        </p:txBody>
      </p:sp>
      <p:sp>
        <p:nvSpPr>
          <p:cNvPr id="2011" name="Google Shape;2011;p58"/>
          <p:cNvSpPr txBox="1"/>
          <p:nvPr>
            <p:ph idx="8" type="subTitle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Salary reports &amp; benchmarking data drive organic search and shares</a:t>
            </a:r>
            <a:endParaRPr/>
          </a:p>
        </p:txBody>
      </p:sp>
      <p:sp>
        <p:nvSpPr>
          <p:cNvPr id="2012" name="Google Shape;2012;p58"/>
          <p:cNvSpPr/>
          <p:nvPr/>
        </p:nvSpPr>
        <p:spPr>
          <a:xfrm>
            <a:off x="129797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3" name="Google Shape;2013;p58"/>
          <p:cNvSpPr/>
          <p:nvPr/>
        </p:nvSpPr>
        <p:spPr>
          <a:xfrm>
            <a:off x="3189850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4" name="Google Shape;2014;p58"/>
          <p:cNvSpPr/>
          <p:nvPr/>
        </p:nvSpPr>
        <p:spPr>
          <a:xfrm>
            <a:off x="6973625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5" name="Google Shape;2015;p58"/>
          <p:cNvSpPr/>
          <p:nvPr/>
        </p:nvSpPr>
        <p:spPr>
          <a:xfrm>
            <a:off x="5081738" y="2036425"/>
            <a:ext cx="872400" cy="87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017" name="Google Shape;2017;p58"/>
          <p:cNvSpPr/>
          <p:nvPr/>
        </p:nvSpPr>
        <p:spPr>
          <a:xfrm>
            <a:off x="5304069" y="2258977"/>
            <a:ext cx="427722" cy="427305"/>
          </a:xfrm>
          <a:custGeom>
            <a:rect b="b" l="l" r="r" t="t"/>
            <a:pathLst>
              <a:path extrusionOk="0" h="11253" w="11264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18" name="Google Shape;2018;p58"/>
          <p:cNvGrpSpPr/>
          <p:nvPr/>
        </p:nvGrpSpPr>
        <p:grpSpPr>
          <a:xfrm>
            <a:off x="7204132" y="2277037"/>
            <a:ext cx="409193" cy="391194"/>
            <a:chOff x="7441465" y="2302860"/>
            <a:chExt cx="342192" cy="327140"/>
          </a:xfrm>
        </p:grpSpPr>
        <p:sp>
          <p:nvSpPr>
            <p:cNvPr id="2019" name="Google Shape;2019;p58"/>
            <p:cNvSpPr/>
            <p:nvPr/>
          </p:nvSpPr>
          <p:spPr>
            <a:xfrm>
              <a:off x="7441465" y="2337727"/>
              <a:ext cx="299862" cy="292273"/>
            </a:xfrm>
            <a:custGeom>
              <a:rect b="b" l="l" r="r" t="t"/>
              <a:pathLst>
                <a:path extrusionOk="0" h="9204" w="9443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" name="Google Shape;2020;p58"/>
            <p:cNvSpPr/>
            <p:nvPr/>
          </p:nvSpPr>
          <p:spPr>
            <a:xfrm>
              <a:off x="7484588" y="2302860"/>
              <a:ext cx="299069" cy="293130"/>
            </a:xfrm>
            <a:custGeom>
              <a:rect b="b" l="l" r="r" t="t"/>
              <a:pathLst>
                <a:path extrusionOk="0" h="9231" w="9418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21" name="Google Shape;2021;p58"/>
          <p:cNvGrpSpPr/>
          <p:nvPr/>
        </p:nvGrpSpPr>
        <p:grpSpPr>
          <a:xfrm>
            <a:off x="1510148" y="2249004"/>
            <a:ext cx="448077" cy="447242"/>
            <a:chOff x="1421638" y="4125629"/>
            <a:chExt cx="374709" cy="374010"/>
          </a:xfrm>
        </p:grpSpPr>
        <p:sp>
          <p:nvSpPr>
            <p:cNvPr id="2022" name="Google Shape;2022;p58"/>
            <p:cNvSpPr/>
            <p:nvPr/>
          </p:nvSpPr>
          <p:spPr>
            <a:xfrm>
              <a:off x="1421638" y="4265954"/>
              <a:ext cx="374709" cy="233685"/>
            </a:xfrm>
            <a:custGeom>
              <a:rect b="b" l="l" r="r" t="t"/>
              <a:pathLst>
                <a:path extrusionOk="0" h="7359" w="1180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3" name="Google Shape;2023;p58"/>
            <p:cNvSpPr/>
            <p:nvPr/>
          </p:nvSpPr>
          <p:spPr>
            <a:xfrm>
              <a:off x="1428052" y="4125629"/>
              <a:ext cx="356958" cy="215585"/>
            </a:xfrm>
            <a:custGeom>
              <a:rect b="b" l="l" r="r" t="t"/>
              <a:pathLst>
                <a:path extrusionOk="0" h="6789" w="11241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24" name="Google Shape;2024;p58"/>
          <p:cNvGrpSpPr/>
          <p:nvPr/>
        </p:nvGrpSpPr>
        <p:grpSpPr>
          <a:xfrm>
            <a:off x="3420343" y="2252224"/>
            <a:ext cx="411433" cy="440824"/>
            <a:chOff x="4149138" y="4121151"/>
            <a:chExt cx="344065" cy="368644"/>
          </a:xfrm>
        </p:grpSpPr>
        <p:sp>
          <p:nvSpPr>
            <p:cNvPr id="2025" name="Google Shape;2025;p58"/>
            <p:cNvSpPr/>
            <p:nvPr/>
          </p:nvSpPr>
          <p:spPr>
            <a:xfrm>
              <a:off x="4205853" y="4182724"/>
              <a:ext cx="225746" cy="307071"/>
            </a:xfrm>
            <a:custGeom>
              <a:rect b="b" l="l" r="r" t="t"/>
              <a:pathLst>
                <a:path extrusionOk="0" h="9670" w="7109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6" name="Google Shape;2026;p58"/>
            <p:cNvSpPr/>
            <p:nvPr/>
          </p:nvSpPr>
          <p:spPr>
            <a:xfrm>
              <a:off x="4444777" y="4287484"/>
              <a:ext cx="48426" cy="11400"/>
            </a:xfrm>
            <a:custGeom>
              <a:rect b="b" l="l" r="r" t="t"/>
              <a:pathLst>
                <a:path extrusionOk="0" h="359" w="1525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" name="Google Shape;2027;p58"/>
            <p:cNvSpPr/>
            <p:nvPr/>
          </p:nvSpPr>
          <p:spPr>
            <a:xfrm>
              <a:off x="4149138" y="4287484"/>
              <a:ext cx="48426" cy="11400"/>
            </a:xfrm>
            <a:custGeom>
              <a:rect b="b" l="l" r="r" t="t"/>
              <a:pathLst>
                <a:path extrusionOk="0" h="359" w="1525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8" name="Google Shape;2028;p58"/>
            <p:cNvSpPr/>
            <p:nvPr/>
          </p:nvSpPr>
          <p:spPr>
            <a:xfrm>
              <a:off x="4315471" y="4121151"/>
              <a:ext cx="11400" cy="48045"/>
            </a:xfrm>
            <a:custGeom>
              <a:rect b="b" l="l" r="r" t="t"/>
              <a:pathLst>
                <a:path extrusionOk="0" h="1513" w="359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9" name="Google Shape;2029;p58"/>
            <p:cNvSpPr/>
            <p:nvPr/>
          </p:nvSpPr>
          <p:spPr>
            <a:xfrm>
              <a:off x="4378632" y="4159575"/>
              <a:ext cx="22705" cy="27754"/>
            </a:xfrm>
            <a:custGeom>
              <a:rect b="b" l="l" r="r" t="t"/>
              <a:pathLst>
                <a:path extrusionOk="0" h="874" w="715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0" name="Google Shape;2030;p58"/>
            <p:cNvSpPr/>
            <p:nvPr/>
          </p:nvSpPr>
          <p:spPr>
            <a:xfrm>
              <a:off x="4240243" y="4399103"/>
              <a:ext cx="22705" cy="27563"/>
            </a:xfrm>
            <a:custGeom>
              <a:rect b="b" l="l" r="r" t="t"/>
              <a:pathLst>
                <a:path extrusionOk="0" h="868" w="715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1" name="Google Shape;2031;p58"/>
            <p:cNvSpPr/>
            <p:nvPr/>
          </p:nvSpPr>
          <p:spPr>
            <a:xfrm>
              <a:off x="4240243" y="4159130"/>
              <a:ext cx="22705" cy="28198"/>
            </a:xfrm>
            <a:custGeom>
              <a:rect b="b" l="l" r="r" t="t"/>
              <a:pathLst>
                <a:path extrusionOk="0" h="888" w="715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2" name="Google Shape;2032;p58"/>
            <p:cNvSpPr/>
            <p:nvPr/>
          </p:nvSpPr>
          <p:spPr>
            <a:xfrm>
              <a:off x="4378632" y="4399230"/>
              <a:ext cx="22705" cy="28198"/>
            </a:xfrm>
            <a:custGeom>
              <a:rect b="b" l="l" r="r" t="t"/>
              <a:pathLst>
                <a:path extrusionOk="0" h="888" w="715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3" name="Google Shape;2033;p58"/>
            <p:cNvSpPr/>
            <p:nvPr/>
          </p:nvSpPr>
          <p:spPr>
            <a:xfrm>
              <a:off x="4426264" y="4351851"/>
              <a:ext cx="29532" cy="21117"/>
            </a:xfrm>
            <a:custGeom>
              <a:rect b="b" l="l" r="r" t="t"/>
              <a:pathLst>
                <a:path extrusionOk="0" h="665" w="93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4" name="Google Shape;2034;p58"/>
            <p:cNvSpPr/>
            <p:nvPr/>
          </p:nvSpPr>
          <p:spPr>
            <a:xfrm>
              <a:off x="4186196" y="4213463"/>
              <a:ext cx="29500" cy="21117"/>
            </a:xfrm>
            <a:custGeom>
              <a:rect b="b" l="l" r="r" t="t"/>
              <a:pathLst>
                <a:path extrusionOk="0" h="665" w="929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5" name="Google Shape;2035;p58"/>
            <p:cNvSpPr/>
            <p:nvPr/>
          </p:nvSpPr>
          <p:spPr>
            <a:xfrm>
              <a:off x="4425883" y="4213590"/>
              <a:ext cx="29913" cy="21371"/>
            </a:xfrm>
            <a:custGeom>
              <a:rect b="b" l="l" r="r" t="t"/>
              <a:pathLst>
                <a:path extrusionOk="0" h="673" w="942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6" name="Google Shape;2036;p58"/>
            <p:cNvSpPr/>
            <p:nvPr/>
          </p:nvSpPr>
          <p:spPr>
            <a:xfrm>
              <a:off x="4186196" y="4351978"/>
              <a:ext cx="29500" cy="21371"/>
            </a:xfrm>
            <a:custGeom>
              <a:rect b="b" l="l" r="r" t="t"/>
              <a:pathLst>
                <a:path extrusionOk="0" h="673" w="929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0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59"/>
          <p:cNvSpPr txBox="1"/>
          <p:nvPr>
            <p:ph type="title"/>
          </p:nvPr>
        </p:nvSpPr>
        <p:spPr>
          <a:xfrm>
            <a:off x="4996800" y="6618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$70K</a:t>
            </a:r>
            <a:endParaRPr/>
          </a:p>
        </p:txBody>
      </p:sp>
      <p:sp>
        <p:nvSpPr>
          <p:cNvPr id="2042" name="Google Shape;2042;p59"/>
          <p:cNvSpPr txBox="1"/>
          <p:nvPr>
            <p:ph idx="1" type="subTitle"/>
          </p:nvPr>
        </p:nvSpPr>
        <p:spPr>
          <a:xfrm>
            <a:off x="4911000" y="12658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Monthly revenue run-rate at Month 12 — break-even</a:t>
            </a:r>
            <a:endParaRPr/>
          </a:p>
        </p:txBody>
      </p:sp>
      <p:sp>
        <p:nvSpPr>
          <p:cNvPr id="2043" name="Google Shape;2043;p59"/>
          <p:cNvSpPr txBox="1"/>
          <p:nvPr>
            <p:ph idx="2" type="title"/>
          </p:nvPr>
        </p:nvSpPr>
        <p:spPr>
          <a:xfrm>
            <a:off x="4996800" y="209919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$450K</a:t>
            </a:r>
            <a:endParaRPr/>
          </a:p>
        </p:txBody>
      </p:sp>
      <p:sp>
        <p:nvSpPr>
          <p:cNvPr id="2044" name="Google Shape;2044;p59"/>
          <p:cNvSpPr txBox="1"/>
          <p:nvPr>
            <p:ph idx="3" type="subTitle"/>
          </p:nvPr>
        </p:nvSpPr>
        <p:spPr>
          <a:xfrm>
            <a:off x="4911000" y="270320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Monthly revenue run-rate at Month 24</a:t>
            </a:r>
            <a:endParaRPr/>
          </a:p>
        </p:txBody>
      </p:sp>
      <p:sp>
        <p:nvSpPr>
          <p:cNvPr id="2045" name="Google Shape;2045;p59"/>
          <p:cNvSpPr txBox="1"/>
          <p:nvPr>
            <p:ph idx="4" type="title"/>
          </p:nvPr>
        </p:nvSpPr>
        <p:spPr>
          <a:xfrm>
            <a:off x="4996800" y="3536543"/>
            <a:ext cx="3159300" cy="72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$1.8M</a:t>
            </a:r>
            <a:endParaRPr/>
          </a:p>
        </p:txBody>
      </p:sp>
      <p:sp>
        <p:nvSpPr>
          <p:cNvPr id="2046" name="Google Shape;2046;p59"/>
          <p:cNvSpPr txBox="1"/>
          <p:nvPr>
            <p:ph idx="5" type="subTitle"/>
          </p:nvPr>
        </p:nvSpPr>
        <p:spPr>
          <a:xfrm>
            <a:off x="4911000" y="4140550"/>
            <a:ext cx="3330900" cy="41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Monthly revenue run-rate at Month 36</a:t>
            </a:r>
            <a:endParaRPr/>
          </a:p>
        </p:txBody>
      </p:sp>
      <p:cxnSp>
        <p:nvCxnSpPr>
          <p:cNvPr id="2047" name="Google Shape;2047;p59"/>
          <p:cNvCxnSpPr/>
          <p:nvPr/>
        </p:nvCxnSpPr>
        <p:spPr>
          <a:xfrm>
            <a:off x="8843800" y="392547"/>
            <a:ext cx="0" cy="4358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9" name="Shape 2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0" name="Google Shape;2070;p61"/>
          <p:cNvSpPr txBox="1"/>
          <p:nvPr>
            <p:ph idx="4"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INVESTORS ARE BACKING GREYIN</a:t>
            </a:r>
            <a:endParaRPr/>
          </a:p>
        </p:txBody>
      </p:sp>
      <p:cxnSp>
        <p:nvCxnSpPr>
          <p:cNvPr id="2071" name="Google Shape;2071;p61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072" name="Google Shape;2072;p61"/>
          <p:cNvSpPr txBox="1"/>
          <p:nvPr>
            <p:ph type="title"/>
          </p:nvPr>
        </p:nvSpPr>
        <p:spPr>
          <a:xfrm>
            <a:off x="353849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PRODUCTION-READY</a:t>
            </a:r>
            <a:endParaRPr/>
          </a:p>
        </p:txBody>
      </p:sp>
      <p:sp>
        <p:nvSpPr>
          <p:cNvPr id="2073" name="Google Shape;2073;p61"/>
          <p:cNvSpPr txBox="1"/>
          <p:nvPr>
            <p:ph idx="1" type="subTitle"/>
          </p:nvPr>
        </p:nvSpPr>
        <p:spPr>
          <a:xfrm>
            <a:off x="3538498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110+ features shipped, live today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/>
            </a:r>
            <a:endParaRPr/>
          </a:p>
        </p:txBody>
      </p:sp>
      <p:sp>
        <p:nvSpPr>
          <p:cNvPr id="2074" name="Google Shape;2074;p61"/>
          <p:cNvSpPr txBox="1"/>
          <p:nvPr>
            <p:ph idx="2" type="title"/>
          </p:nvPr>
        </p:nvSpPr>
        <p:spPr>
          <a:xfrm>
            <a:off x="6028553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 MOAT</a:t>
            </a:r>
            <a:endParaRPr/>
          </a:p>
        </p:txBody>
      </p:sp>
      <p:sp>
        <p:nvSpPr>
          <p:cNvPr id="2075" name="Google Shape;2075;p61"/>
          <p:cNvSpPr txBox="1"/>
          <p:nvPr>
            <p:ph idx="3" type="subTitle"/>
          </p:nvPr>
        </p:nvSpPr>
        <p:spPr>
          <a:xfrm>
            <a:off x="6028552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Bayesian scoring — hard to copy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6" name="Google Shape;2076;p61"/>
          <p:cNvSpPr txBox="1"/>
          <p:nvPr>
            <p:ph idx="5" type="title"/>
          </p:nvPr>
        </p:nvSpPr>
        <p:spPr>
          <a:xfrm>
            <a:off x="1048447" y="1818541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DIVERSIFIED REVENUE</a:t>
            </a:r>
            <a:endParaRPr/>
          </a:p>
        </p:txBody>
      </p:sp>
      <p:sp>
        <p:nvSpPr>
          <p:cNvPr id="2077" name="Google Shape;2077;p61"/>
          <p:cNvSpPr txBox="1"/>
          <p:nvPr>
            <p:ph idx="6" type="subTitle"/>
          </p:nvPr>
        </p:nvSpPr>
        <p:spPr>
          <a:xfrm>
            <a:off x="1048450" y="2324765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Subscriptions + marketplace + B2B</a:t>
            </a:r>
            <a:endParaRPr/>
          </a:p>
        </p:txBody>
      </p:sp>
      <p:sp>
        <p:nvSpPr>
          <p:cNvPr id="2078" name="Google Shape;2078;p61"/>
          <p:cNvSpPr txBox="1"/>
          <p:nvPr>
            <p:ph idx="7" type="title"/>
          </p:nvPr>
        </p:nvSpPr>
        <p:spPr>
          <a:xfrm>
            <a:off x="353849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CAPITAL-EFFICIENT INFRA</a:t>
            </a:r>
            <a:endParaRPr/>
          </a:p>
        </p:txBody>
      </p:sp>
      <p:sp>
        <p:nvSpPr>
          <p:cNvPr id="2079" name="Google Shape;2079;p61"/>
          <p:cNvSpPr txBox="1"/>
          <p:nvPr>
            <p:ph idx="8" type="subTitle"/>
          </p:nvPr>
        </p:nvSpPr>
        <p:spPr>
          <a:xfrm>
            <a:off x="3538498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Self-hosted, under $50/mo today</a:t>
            </a:r>
            <a:endParaRPr/>
          </a:p>
        </p:txBody>
      </p:sp>
      <p:sp>
        <p:nvSpPr>
          <p:cNvPr id="2080" name="Google Shape;2080;p61"/>
          <p:cNvSpPr txBox="1"/>
          <p:nvPr>
            <p:ph idx="9" type="title"/>
          </p:nvPr>
        </p:nvSpPr>
        <p:spPr>
          <a:xfrm>
            <a:off x="6028553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INDIA COST ADVANTAGE</a:t>
            </a:r>
            <a:endParaRPr/>
          </a:p>
        </p:txBody>
      </p:sp>
      <p:sp>
        <p:nvSpPr>
          <p:cNvPr id="2081" name="Google Shape;2081;p61"/>
          <p:cNvSpPr txBox="1"/>
          <p:nvPr>
            <p:ph idx="13" type="subTitle"/>
          </p:nvPr>
        </p:nvSpPr>
        <p:spPr>
          <a:xfrm>
            <a:off x="6028552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~2-3x lower engineering cost</a:t>
            </a:r>
            <a:r>
              <a:rPr lang="en"/>
              <a:t/>
            </a:r>
            <a:endParaRPr/>
          </a:p>
        </p:txBody>
      </p:sp>
      <p:sp>
        <p:nvSpPr>
          <p:cNvPr id="2082" name="Google Shape;2082;p61"/>
          <p:cNvSpPr txBox="1"/>
          <p:nvPr>
            <p:ph idx="14" type="title"/>
          </p:nvPr>
        </p:nvSpPr>
        <p:spPr>
          <a:xfrm>
            <a:off x="1048447" y="3325035"/>
            <a:ext cx="2067000" cy="54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PATH TO PROFITABILITY</a:t>
            </a:r>
            <a:endParaRPr/>
          </a:p>
        </p:txBody>
      </p:sp>
      <p:sp>
        <p:nvSpPr>
          <p:cNvPr id="2083" name="Google Shape;2083;p61"/>
          <p:cNvSpPr txBox="1"/>
          <p:nvPr>
            <p:ph idx="15" type="subTitle"/>
          </p:nvPr>
        </p:nvSpPr>
        <p:spPr>
          <a:xfrm>
            <a:off x="1048450" y="3831259"/>
            <a:ext cx="2067000" cy="6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Break-even at 5K users (M12)</a:t>
            </a:r>
            <a:endParaRPr/>
          </a:p>
        </p:txBody>
      </p:sp>
      <p:cxnSp>
        <p:nvCxnSpPr>
          <p:cNvPr id="2084" name="Google Shape;2084;p61"/>
          <p:cNvCxnSpPr/>
          <p:nvPr/>
        </p:nvCxnSpPr>
        <p:spPr>
          <a:xfrm>
            <a:off x="1218450" y="3138821"/>
            <a:ext cx="670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8" name="Shape 2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9" name="Google Shape;2089;p62"/>
          <p:cNvSpPr txBox="1"/>
          <p:nvPr>
            <p:ph idx="1" type="subTitle"/>
          </p:nvPr>
        </p:nvSpPr>
        <p:spPr>
          <a:xfrm>
            <a:off x="938500" y="1769575"/>
            <a:ext cx="28716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login, one verified identity, six connected products — every pillar feeds real signal into a single Greyin Score.</a:t>
            </a:r>
            <a:endParaRPr/>
          </a:p>
        </p:txBody>
      </p:sp>
      <p:sp>
        <p:nvSpPr>
          <p:cNvPr id="2090" name="Google Shape;2090;p62"/>
          <p:cNvSpPr txBox="1"/>
          <p:nvPr>
            <p:ph idx="2" type="body"/>
          </p:nvPr>
        </p:nvSpPr>
        <p:spPr>
          <a:xfrm>
            <a:off x="4703375" y="909600"/>
            <a:ext cx="3468900" cy="3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DeepEdge — enterprise hiring &amp; peer-verified salary benchmarking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FlexPro — freelance gig marketplace &amp; paid mentorship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StackWorks — collaborative projects with a verified track record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Salt &amp; Pepper — senior peer community &amp; industry insights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GreyMatters — reputation-building technical blog, AI-scored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Char char="●"/>
            </a:pPr>
            <a:r>
              <a:rPr lang="en">
                <a:solidFill>
                  <a:schemeClr val="lt1"/>
                </a:solidFill>
              </a:rPr>
              <a:t>Longlist — quiet, future-dated recruiting pipeline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091" name="Google Shape;2091;p62"/>
          <p:cNvSpPr txBox="1"/>
          <p:nvPr>
            <p:ph type="title"/>
          </p:nvPr>
        </p:nvSpPr>
        <p:spPr>
          <a:xfrm>
            <a:off x="938500" y="445025"/>
            <a:ext cx="3223800" cy="9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SOLUTION: SIX INTEGRATED PILLARS</a:t>
            </a:r>
            <a:endParaRPr/>
          </a:p>
        </p:txBody>
      </p:sp>
      <p:cxnSp>
        <p:nvCxnSpPr>
          <p:cNvPr id="2092" name="Google Shape;2092;p62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8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9" name="Google Shape;2159;p68"/>
          <p:cNvSpPr txBox="1"/>
          <p:nvPr>
            <p:ph type="title"/>
          </p:nvPr>
        </p:nvSpPr>
        <p:spPr>
          <a:xfrm>
            <a:off x="924870" y="760375"/>
            <a:ext cx="3068700" cy="59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2160" name="Google Shape;2160;p68"/>
          <p:cNvSpPr txBox="1"/>
          <p:nvPr>
            <p:ph idx="1" type="subTitle"/>
          </p:nvPr>
        </p:nvSpPr>
        <p:spPr>
          <a:xfrm>
            <a:off x="924875" y="1684275"/>
            <a:ext cx="3305400" cy="10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Questions? Let's talk.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founders@greyin.net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greyin.net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61" name="Google Shape;2161;p68"/>
          <p:cNvCxnSpPr/>
          <p:nvPr/>
        </p:nvCxnSpPr>
        <p:spPr>
          <a:xfrm>
            <a:off x="1013400" y="1488797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162" name="Google Shape;2162;p68"/>
          <p:cNvSpPr txBox="1"/>
          <p:nvPr/>
        </p:nvSpPr>
        <p:spPr>
          <a:xfrm>
            <a:off x="894900" y="4196425"/>
            <a:ext cx="3000000" cy="3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Please keep this slide for attribution.</a:t>
            </a:r>
            <a:endParaRPr sz="11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2163" name="Google Shape;2163;p68"/>
          <p:cNvCxnSpPr/>
          <p:nvPr/>
        </p:nvCxnSpPr>
        <p:spPr>
          <a:xfrm>
            <a:off x="1013400" y="3458072"/>
            <a:ext cx="2763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  <a:effectLst>
            <a:outerShdw blurRad="57150" rotWithShape="0" algn="bl" dir="5400000" dist="19050">
              <a:srgbClr val="FFFFFF">
                <a:alpha val="50000"/>
              </a:srgbClr>
            </a:outerShdw>
          </a:effectLst>
        </p:spPr>
      </p:cxnSp>
      <p:sp>
        <p:nvSpPr>
          <p:cNvPr id="2164" name="Google Shape;2164;p68"/>
          <p:cNvSpPr/>
          <p:nvPr/>
        </p:nvSpPr>
        <p:spPr>
          <a:xfrm>
            <a:off x="1013409" y="2776274"/>
            <a:ext cx="345674" cy="346056"/>
          </a:xfrm>
          <a:custGeom>
            <a:rect b="b" l="l" r="r" t="t"/>
            <a:pathLst>
              <a:path extrusionOk="0" h="10872" w="1086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65" name="Google Shape;2165;p68"/>
          <p:cNvGrpSpPr/>
          <p:nvPr/>
        </p:nvGrpSpPr>
        <p:grpSpPr>
          <a:xfrm>
            <a:off x="1462881" y="2776274"/>
            <a:ext cx="346056" cy="345674"/>
            <a:chOff x="3303268" y="3817349"/>
            <a:chExt cx="346056" cy="345674"/>
          </a:xfrm>
        </p:grpSpPr>
        <p:sp>
          <p:nvSpPr>
            <p:cNvPr id="2166" name="Google Shape;2166;p68"/>
            <p:cNvSpPr/>
            <p:nvPr/>
          </p:nvSpPr>
          <p:spPr>
            <a:xfrm>
              <a:off x="330326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7" name="Google Shape;2167;p68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8" name="Google Shape;2168;p68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9" name="Google Shape;2169;p68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70" name="Google Shape;2170;p68"/>
          <p:cNvGrpSpPr/>
          <p:nvPr/>
        </p:nvGrpSpPr>
        <p:grpSpPr>
          <a:xfrm>
            <a:off x="1911970" y="2776274"/>
            <a:ext cx="346056" cy="345674"/>
            <a:chOff x="3752358" y="3817349"/>
            <a:chExt cx="346056" cy="345674"/>
          </a:xfrm>
        </p:grpSpPr>
        <p:sp>
          <p:nvSpPr>
            <p:cNvPr id="2171" name="Google Shape;2171;p68"/>
            <p:cNvSpPr/>
            <p:nvPr/>
          </p:nvSpPr>
          <p:spPr>
            <a:xfrm>
              <a:off x="3752358" y="3817349"/>
              <a:ext cx="346056" cy="345674"/>
            </a:xfrm>
            <a:custGeom>
              <a:rect b="b" l="l" r="r" t="t"/>
              <a:pathLst>
                <a:path extrusionOk="0" h="10860" w="10872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2" name="Google Shape;2172;p68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3" name="Google Shape;2173;p68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4" name="Google Shape;2174;p68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