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62" r:id="rId13"/>
    <p:sldId id="280" r:id="rId31"/>
    <p:sldId id="269" r:id="rId20"/>
    <p:sldId id="276" r:id="rId27"/>
    <p:sldId id="259" r:id="rId10"/>
    <p:sldId id="270" r:id="rId21"/>
    <p:sldId id="268" r:id="rId19"/>
    <p:sldId id="273" r:id="rId24"/>
    <p:sldId id="274" r:id="rId25"/>
    <p:sldId id="277" r:id="rId28"/>
    <p:sldId id="264" r:id="rId15"/>
    <p:sldId id="275" r:id="rId26"/>
    <p:sldId id="272" r:id="rId23"/>
    <p:sldId id="263" r:id="rId14"/>
    <p:sldId id="279" r:id="rId30"/>
    <p:sldId id="286" r:id="rId37"/>
  </p:sldIdLst>
  <p:sldSz cy="5143500" cx="9144000"/>
  <p:notesSz cx="6858000" cy="9144000"/>
  <p:embeddedFontLst>
    <p:embeddedFont>
      <p:font typeface="Proxima Nova"/>
      <p:regular r:id="rId56"/>
      <p:bold r:id="rId57"/>
      <p:italic r:id="rId58"/>
      <p:boldItalic r:id="rId59"/>
    </p:embeddedFont>
    <p:embeddedFont>
      <p:font typeface="Roboto Medium"/>
      <p:regular r:id="rId60"/>
      <p:bold r:id="rId61"/>
      <p:italic r:id="rId62"/>
      <p:boldItalic r:id="rId63"/>
    </p:embeddedFont>
    <p:embeddedFont>
      <p:font typeface="Amatic SC"/>
      <p:regular r:id="rId64"/>
      <p:bold r:id="rId65"/>
    </p:embeddedFont>
    <p:embeddedFont>
      <p:font typeface="Montserrat"/>
      <p:regular r:id="rId66"/>
      <p:bold r:id="rId67"/>
      <p:italic r:id="rId68"/>
      <p:boldItalic r:id="rId69"/>
    </p:embeddedFont>
    <p:embeddedFont>
      <p:font typeface="Montserrat Medium"/>
      <p:regular r:id="rId70"/>
      <p:bold r:id="rId71"/>
      <p:italic r:id="rId72"/>
      <p:boldItalic r:id="rId73"/>
    </p:embeddedFont>
    <p:embeddedFont>
      <p:font typeface="Montserrat ExtraLight"/>
      <p:regular r:id="rId74"/>
      <p:bold r:id="rId75"/>
      <p:italic r:id="rId76"/>
      <p:boldItalic r:id="rId77"/>
    </p:embeddedFont>
    <p:embeddedFont>
      <p:font typeface="Proxima Nova Semibold"/>
      <p:regular r:id="rId78"/>
      <p:bold r:id="rId79"/>
      <p:boldItalic r:id="rId80"/>
    </p:embeddedFont>
    <p:embeddedFont>
      <p:font typeface="Montserrat ExtraBold"/>
      <p:bold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800C25-3B26-4A03-9EF3-520F5B5E6BF8}">
  <a:tblStyle styleId="{0F800C25-3B26-4A03-9EF3-520F5B5E6B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7" Type="http://schemas.openxmlformats.org/officeDocument/2006/relationships/slide" Target="slides/slide31.xml"/><Relationship Id="rId56" Type="http://schemas.openxmlformats.org/officeDocument/2006/relationships/font" Target="fonts/ProximaNova-regular.fntdata"/><Relationship Id="rId57" Type="http://schemas.openxmlformats.org/officeDocument/2006/relationships/font" Target="fonts/ProximaNova-bold.fntdata"/><Relationship Id="rId58" Type="http://schemas.openxmlformats.org/officeDocument/2006/relationships/font" Target="fonts/ProximaNova-italic.fntdata"/><Relationship Id="rId59" Type="http://schemas.openxmlformats.org/officeDocument/2006/relationships/font" Target="fonts/ProximaNova-boldItalic.fntdata"/><Relationship Id="rId60" Type="http://schemas.openxmlformats.org/officeDocument/2006/relationships/font" Target="fonts/RobotoMedium-regular.fntdata"/><Relationship Id="rId61" Type="http://schemas.openxmlformats.org/officeDocument/2006/relationships/font" Target="fonts/RobotoMedium-bold.fntdata"/><Relationship Id="rId62" Type="http://schemas.openxmlformats.org/officeDocument/2006/relationships/font" Target="fonts/RobotoMedium-italic.fntdata"/><Relationship Id="rId63" Type="http://schemas.openxmlformats.org/officeDocument/2006/relationships/font" Target="fonts/RobotoMedium-boldItalic.fntdata"/><Relationship Id="rId64" Type="http://schemas.openxmlformats.org/officeDocument/2006/relationships/font" Target="fonts/AmaticSC-regular.fntdata"/><Relationship Id="rId65" Type="http://schemas.openxmlformats.org/officeDocument/2006/relationships/font" Target="fonts/AmaticSC-bold.fntdata"/><Relationship Id="rId66" Type="http://schemas.openxmlformats.org/officeDocument/2006/relationships/font" Target="fonts/Montserrat-regular.fntdata"/><Relationship Id="rId67" Type="http://schemas.openxmlformats.org/officeDocument/2006/relationships/font" Target="fonts/Montserrat-bold.fntdata"/><Relationship Id="rId68" Type="http://schemas.openxmlformats.org/officeDocument/2006/relationships/font" Target="fonts/Montserrat-italic.fntdata"/><Relationship Id="rId69" Type="http://schemas.openxmlformats.org/officeDocument/2006/relationships/font" Target="fonts/Montserrat-boldItalic.fntdata"/><Relationship Id="rId70" Type="http://schemas.openxmlformats.org/officeDocument/2006/relationships/font" Target="fonts/MontserratMedium-regular.fntdata"/><Relationship Id="rId71" Type="http://schemas.openxmlformats.org/officeDocument/2006/relationships/font" Target="fonts/MontserratMedium-bold.fntdata"/><Relationship Id="rId72" Type="http://schemas.openxmlformats.org/officeDocument/2006/relationships/font" Target="fonts/MontserratMedium-italic.fntdata"/><Relationship Id="rId73" Type="http://schemas.openxmlformats.org/officeDocument/2006/relationships/font" Target="fonts/MontserratMedium-boldItalic.fntdata"/><Relationship Id="rId74" Type="http://schemas.openxmlformats.org/officeDocument/2006/relationships/font" Target="fonts/MontserratExtraLight-regular.fntdata"/><Relationship Id="rId75" Type="http://schemas.openxmlformats.org/officeDocument/2006/relationships/font" Target="fonts/MontserratExtraLight-bold.fntdata"/><Relationship Id="rId76" Type="http://schemas.openxmlformats.org/officeDocument/2006/relationships/font" Target="fonts/MontserratExtraLight-italic.fntdata"/><Relationship Id="rId77" Type="http://schemas.openxmlformats.org/officeDocument/2006/relationships/font" Target="fonts/MontserratExtraLight-boldItalic.fntdata"/><Relationship Id="rId78" Type="http://schemas.openxmlformats.org/officeDocument/2006/relationships/font" Target="fonts/ProximaNovaSemibold-regular.fntdata"/><Relationship Id="rId79" Type="http://schemas.openxmlformats.org/officeDocument/2006/relationships/font" Target="fonts/ProximaNovaSemibold-bold.fntdata"/><Relationship Id="rId80" Type="http://schemas.openxmlformats.org/officeDocument/2006/relationships/font" Target="fonts/ProximaNovaSemibold-boldItalic.fntdata"/><Relationship Id="rId81" Type="http://schemas.openxmlformats.org/officeDocument/2006/relationships/font" Target="fonts/MontserratExtraBold-bold.fntdata"/><Relationship Id="rId82" Type="http://schemas.openxmlformats.org/officeDocument/2006/relationships/font" Target="fonts/MontserratExtraBold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(USD)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M6</c:v>
                </c:pt>
                <c:pt idx="2">
                  <c:v>M12</c:v>
                </c:pt>
                <c:pt idx="3">
                  <c:v>M18</c:v>
                </c:pt>
                <c:pt idx="4">
                  <c:v>M24</c:v>
                </c:pt>
                <c:pt idx="5">
                  <c:v>M30</c:v>
                </c:pt>
                <c:pt idx="6">
                  <c:v>M36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600</c:v>
                </c:pt>
                <c:pt idx="1">
                  <c:v>10000</c:v>
                </c:pt>
                <c:pt idx="2">
                  <c:v>70000</c:v>
                </c:pt>
                <c:pt idx="3">
                  <c:v>160000</c:v>
                </c:pt>
                <c:pt idx="4">
                  <c:v>450000</c:v>
                </c:pt>
                <c:pt idx="5">
                  <c:v>1000000</c:v>
                </c:pt>
                <c:pt idx="6">
                  <c:v>1800000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(USD)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M6</c:v>
                </c:pt>
                <c:pt idx="2">
                  <c:v>M12</c:v>
                </c:pt>
                <c:pt idx="3">
                  <c:v>M18</c:v>
                </c:pt>
                <c:pt idx="4">
                  <c:v>M24</c:v>
                </c:pt>
                <c:pt idx="5">
                  <c:v>M30</c:v>
                </c:pt>
                <c:pt idx="6">
                  <c:v>M36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10091</c:v>
                </c:pt>
                <c:pt idx="1">
                  <c:v>14008</c:v>
                </c:pt>
                <c:pt idx="2">
                  <c:v>27161</c:v>
                </c:pt>
                <c:pt idx="3">
                  <c:v>34126</c:v>
                </c:pt>
                <c:pt idx="4">
                  <c:v>61583</c:v>
                </c:pt>
                <c:pt idx="5">
                  <c:v>80153</c:v>
                </c:pt>
                <c:pt idx="6">
                  <c:v>123890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Revenue (USD)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M6</c:v>
                </c:pt>
                <c:pt idx="2">
                  <c:v>M12</c:v>
                </c:pt>
                <c:pt idx="3">
                  <c:v>M18</c:v>
                </c:pt>
                <c:pt idx="4">
                  <c:v>M24</c:v>
                </c:pt>
                <c:pt idx="5">
                  <c:v>M30</c:v>
                </c:pt>
                <c:pt idx="6">
                  <c:v>M36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600</c:v>
                </c:pt>
                <c:pt idx="1">
                  <c:v>10000</c:v>
                </c:pt>
                <c:pt idx="2">
                  <c:v>70000</c:v>
                </c:pt>
                <c:pt idx="3">
                  <c:v>160000</c:v>
                </c:pt>
                <c:pt idx="4">
                  <c:v>450000</c:v>
                </c:pt>
                <c:pt idx="5">
                  <c:v>1000000</c:v>
                </c:pt>
                <c:pt idx="6">
                  <c:v>1800000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f9262ee2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f9262ee2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7f9262ee2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7f9262ee2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7f9262ee2f_0_26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7f9262ee2f_0_26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7f9262ee2f_0_26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7f9262ee2f_0_26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7f9262ee2f_0_26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7f9262ee2f_0_26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7f9262ee2f_0_26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7f9262ee2f_0_26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7f9262ee2f_0_26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7f9262ee2f_0_26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7f9262ee2f_0_26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hx5gh0Hff0O5fDTp9xrQKfEQOFIRj9Xw4HpzoTh9n8A/copy" TargetMode="External"/><Relationship Id="rId4" Type="http://schemas.openxmlformats.org/officeDocument/2006/relationships/image" Target="../media/image26.png"/><Relationship Id="rId5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hx5gh0Hff0O5fDTp9xrQKfEQOFIRj9Xw4HpzoTh9n8A/copy" TargetMode="External"/><Relationship Id="rId4" Type="http://schemas.openxmlformats.org/officeDocument/2006/relationships/image" Target="../media/image20.png"/><Relationship Id="rId5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rotWithShape="0" algn="bl" dir="87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GREYIN</a:t>
            </a:r>
            <a:endParaRPr/>
          </a:p>
        </p:txBody>
      </p:sp>
      <p:sp>
        <p:nvSpPr>
          <p:cNvPr id="163" name="Google Shape;163;p38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Verified Professional Network — Salary Intelligence, Peer-Verified Reputation &amp; Career Opportunity, in One Login. Seed Investor Deck · 2026</a:t>
            </a:r>
            <a:endParaRPr/>
          </a:p>
        </p:txBody>
      </p:sp>
      <p:sp>
        <p:nvSpPr>
          <p:cNvPr id="164" name="Google Shape;164;p38"/>
          <p:cNvSpPr txBox="1"/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rotWithShape="0" algn="bl" dir="84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latin typeface="Montserrat ExtraLight"/>
                <a:ea typeface="Montserrat ExtraLight"/>
                <a:cs typeface="Montserrat ExtraLight"/>
                <a:sym typeface="Montserrat ExtraLight"/>
              </a:rPr>
              <a:t>E C O S Y S T E M</a:t>
            </a:r>
            <a:endParaRPr b="0" sz="22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NOW</a:t>
            </a:r>
            <a:endParaRPr/>
          </a:p>
        </p:txBody>
      </p:sp>
      <p:sp>
        <p:nvSpPr>
          <p:cNvPr id="195" name="Google Shape;195;p41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AI-grade credibility scoring meets a cultural demand for salary transparency — and we already ship both.</a:t>
            </a:r>
            <a:r>
              <a:rPr lang="en"/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r>
              <a:rPr lang="en">
                <a:solidFill>
                  <a:schemeClr val="accent1"/>
                </a:solidFill>
              </a:rP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Professionals can't verify what they're worth — salary data is opaque, scattered across self-reported surveys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Credentials and reputation are unverifiable — anyone can claim years of experience with nothing to back it up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Career tools are fragmented — a job board, a gig marketplace, a community and a benchmarking tool are all separate logins with no shared trust signal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Incumbents optimize for volume, not verification — LinkedIn, Glassdoor and Indeed each solve one slice, none combine them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/>
            </a:r>
            <a:endParaRPr/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ASK</a:t>
            </a:r>
            <a:endParaRPr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23" name="Google Shape;223;p45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WE'RE RAISING</a:t>
            </a:r>
            <a:endParaRPr/>
          </a:p>
        </p:txBody>
      </p:sp>
      <p:sp>
        <p:nvSpPr>
          <p:cNvPr id="224" name="Google Shape;224;p45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round to fund operations through Month-12 break-even and beyond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225" name="Google Shape;225;p45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IT'S USED</a:t>
            </a:r>
            <a:endParaRPr/>
          </a:p>
        </p:txBody>
      </p:sp>
      <p:sp>
        <p:nvSpPr>
          <p:cNvPr id="226" name="Google Shape;226;p45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10-person India team, self-hosted infra, and referral-led growth</a:t>
            </a:r>
            <a:endParaRPr/>
          </a:p>
        </p:txBody>
      </p:sp>
      <p:cxnSp>
        <p:nvCxnSpPr>
          <p:cNvPr id="227" name="Google Shape;227;p45"/>
          <p:cNvCxnSpPr/>
          <p:nvPr/>
        </p:nvCxnSpPr>
        <p:spPr>
          <a:xfrm>
            <a:off x="2996488" y="30840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228" name="Google Shape;228;p45"/>
          <p:cNvCxnSpPr/>
          <p:nvPr/>
        </p:nvCxnSpPr>
        <p:spPr>
          <a:xfrm>
            <a:off x="5875713" y="30840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SERVICES: ILLUSTRATIVE UPSIDE</a:t>
            </a:r>
            <a:endParaRPr/>
          </a:p>
        </p:txBody>
      </p:sp>
      <p:cxnSp>
        <p:nvCxnSpPr>
          <p:cNvPr id="234" name="Google Shape;23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35" name="Google Shape;235;p46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OUTPLACEMENT</a:t>
            </a:r>
            <a:endParaRPr/>
          </a:p>
        </p:txBody>
      </p:sp>
      <p:sp>
        <p:nvSpPr>
          <p:cNvPr id="236" name="Google Shape;236;p46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~$300K/yr — 20 deals x 75 staff x $200/head</a:t>
            </a:r>
            <a:endParaRPr/>
          </a:p>
        </p:txBody>
      </p:sp>
      <p:sp>
        <p:nvSpPr>
          <p:cNvPr id="237" name="Google Shape;237;p46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FRACTIONAL LEADERSHIP</a:t>
            </a:r>
            <a:endParaRPr/>
          </a:p>
        </p:txBody>
      </p:sp>
      <p:sp>
        <p:nvSpPr>
          <p:cNvPr id="238" name="Google Shape;238;p46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~$125K/yr — 25 placements x $5K fee</a:t>
            </a:r>
            <a:endParaRPr/>
          </a:p>
        </p:txBody>
      </p:sp>
      <p:sp>
        <p:nvSpPr>
          <p:cNvPr id="239" name="Google Shape;239;p46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B2B LICENSING</a:t>
            </a:r>
            <a:endParaRPr/>
          </a:p>
        </p:txBody>
      </p:sp>
      <p:sp>
        <p:nvSpPr>
          <p:cNvPr id="240" name="Google Shape;240;p46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$100K-800K/yr — company directory access</a:t>
            </a:r>
            <a:endParaRPr/>
          </a:p>
        </p:txBody>
      </p:sp>
      <p:cxnSp>
        <p:nvCxnSpPr>
          <p:cNvPr id="241" name="Google Shape;241;p46"/>
          <p:cNvCxnSpPr/>
          <p:nvPr/>
        </p:nvCxnSpPr>
        <p:spPr>
          <a:xfrm>
            <a:off x="4436097" y="33888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/>
          <p:cNvCxnSpPr/>
          <p:nvPr/>
        </p:nvCxnSpPr>
        <p:spPr>
          <a:xfrm>
            <a:off x="6926150" y="33888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/>
          <p:cNvCxnSpPr/>
          <p:nvPr/>
        </p:nvCxnSpPr>
        <p:spPr>
          <a:xfrm>
            <a:off x="1946050" y="33888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44" name="Google Shape;244;p46"/>
          <p:cNvSpPr/>
          <p:nvPr/>
        </p:nvSpPr>
        <p:spPr>
          <a:xfrm>
            <a:off x="1739650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6"/>
          <p:cNvSpPr/>
          <p:nvPr/>
        </p:nvSpPr>
        <p:spPr>
          <a:xfrm>
            <a:off x="4229697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6"/>
          <p:cNvSpPr/>
          <p:nvPr/>
        </p:nvSpPr>
        <p:spPr>
          <a:xfrm>
            <a:off x="6719750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6"/>
          <p:cNvSpPr/>
          <p:nvPr/>
        </p:nvSpPr>
        <p:spPr>
          <a:xfrm>
            <a:off x="6850102" y="2024450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46"/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/>
            <p:cNvSpPr/>
            <p:nvPr/>
          </p:nvSpPr>
          <p:spPr>
            <a:xfrm>
              <a:off x="3990517" y="3354173"/>
              <a:ext cx="279559" cy="363402"/>
            </a:xfrm>
            <a:custGeom>
              <a:rect b="b" l="l" r="r" t="t"/>
              <a:pathLst>
                <a:path extrusionOk="0" h="11408" w="8776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4102009" y="3418680"/>
              <a:ext cx="36824" cy="37175"/>
            </a:xfrm>
            <a:custGeom>
              <a:rect b="b" l="l" r="r" t="t"/>
              <a:pathLst>
                <a:path extrusionOk="0" h="1167" w="1156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4083820" y="3615129"/>
              <a:ext cx="37175" cy="36824"/>
            </a:xfrm>
            <a:custGeom>
              <a:rect b="b" l="l" r="r" t="t"/>
              <a:pathLst>
                <a:path extrusionOk="0" h="1156" w="1167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46"/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/>
            <p:cNvSpPr/>
            <p:nvPr/>
          </p:nvSpPr>
          <p:spPr>
            <a:xfrm>
              <a:off x="1436861" y="2112975"/>
              <a:ext cx="69444" cy="68902"/>
            </a:xfrm>
            <a:custGeom>
              <a:rect b="b" l="l" r="r" t="t"/>
              <a:pathLst>
                <a:path extrusionOk="0" h="2163" w="218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6"/>
            <p:cNvSpPr/>
            <p:nvPr/>
          </p:nvSpPr>
          <p:spPr>
            <a:xfrm>
              <a:off x="1284212" y="1963766"/>
              <a:ext cx="379489" cy="366046"/>
            </a:xfrm>
            <a:custGeom>
              <a:rect b="b" l="l" r="r" t="t"/>
              <a:pathLst>
                <a:path extrusionOk="0" h="11491" w="11913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GROWTH: $600/MO TO $1.8M/MO</a:t>
            </a:r>
            <a:endParaRPr/>
          </a:p>
        </p:txBody>
      </p:sp>
      <p:cxnSp>
        <p:nvCxnSpPr>
          <p:cNvPr id="281" name="Google Shape;281;p5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82" name="Google Shape;282;p50"/>
          <p:cNvSpPr txBox="1"/>
          <p:nvPr>
            <p:ph idx="4294967295" type="body"/>
          </p:nvPr>
        </p:nvSpPr>
        <p:spPr>
          <a:xfrm>
            <a:off x="2493750" y="4065250"/>
            <a:ext cx="41565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Monthly recurring revenue at each growth milestone, per the 3-year budget model</a:t>
            </a:r>
            <a:endParaRPr sz="1200">
              <a:solidFill>
                <a:schemeClr val="lt1"/>
              </a:solidFill>
            </a:endParaRPr>
          </a:p>
        </p:txBody>
      </p:sp>
      <p:graphicFrame>
        <p:nvGraphicFramePr>
          <p:cNvPr id="283" name="Chart 282"/>
          <p:cNvGraphicFramePr>
            <a:graphicFrameLocks noGrp="1"/>
          </p:cNvGraphicFramePr>
          <p:nvPr/>
        </p:nvGraphicFramePr>
        <p:xfrm>
          <a:off x="2201000" y="1424600"/>
          <a:ext cx="4742001" cy="2602474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MARKET OPPORTUNITY</a:t>
            </a:r>
            <a:endParaRPr/>
          </a:p>
        </p:txBody>
      </p:sp>
      <p:cxnSp>
        <p:nvCxnSpPr>
          <p:cNvPr id="293" name="Google Shape;293;p5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grpSp>
        <p:nvGrpSpPr>
          <p:cNvPr id="294" name="Google Shape;294;p51"/>
          <p:cNvGrpSpPr/>
          <p:nvPr/>
        </p:nvGrpSpPr>
        <p:grpSpPr>
          <a:xfrm>
            <a:off x="1840495" y="1785565"/>
            <a:ext cx="1579088" cy="1674729"/>
            <a:chOff x="1825800" y="1651625"/>
            <a:chExt cx="539989" cy="571775"/>
          </a:xfrm>
        </p:grpSpPr>
        <p:sp>
          <p:nvSpPr>
            <p:cNvPr id="295" name="Google Shape;295;p51"/>
            <p:cNvSpPr/>
            <p:nvPr/>
          </p:nvSpPr>
          <p:spPr>
            <a:xfrm>
              <a:off x="2093189" y="1651625"/>
              <a:ext cx="272600" cy="287950"/>
            </a:xfrm>
            <a:custGeom>
              <a:rect b="b" l="l" r="r" t="t"/>
              <a:pathLst>
                <a:path extrusionOk="0" h="11518" w="10904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1"/>
            <p:cNvSpPr/>
            <p:nvPr/>
          </p:nvSpPr>
          <p:spPr>
            <a:xfrm>
              <a:off x="1825800" y="1967150"/>
              <a:ext cx="231900" cy="233575"/>
            </a:xfrm>
            <a:custGeom>
              <a:rect b="b" l="l" r="r" t="t"/>
              <a:pathLst>
                <a:path extrusionOk="0" h="9343" w="9276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1"/>
            <p:cNvSpPr/>
            <p:nvPr/>
          </p:nvSpPr>
          <p:spPr>
            <a:xfrm>
              <a:off x="2093189" y="1967150"/>
              <a:ext cx="244350" cy="256250"/>
            </a:xfrm>
            <a:custGeom>
              <a:rect b="b" l="l" r="r" t="t"/>
              <a:pathLst>
                <a:path extrusionOk="0" h="10250" w="9774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1"/>
            <p:cNvSpPr/>
            <p:nvPr/>
          </p:nvSpPr>
          <p:spPr>
            <a:xfrm>
              <a:off x="1851375" y="1730300"/>
              <a:ext cx="206325" cy="209275"/>
            </a:xfrm>
            <a:custGeom>
              <a:rect b="b" l="l" r="r" t="t"/>
              <a:pathLst>
                <a:path extrusionOk="0" h="8371" w="8253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51"/>
          <p:cNvSpPr txBox="1"/>
          <p:nvPr>
            <p:ph idx="4294967295" type="body"/>
          </p:nvPr>
        </p:nvSpPr>
        <p:spPr>
          <a:xfrm>
            <a:off x="958396" y="1785554"/>
            <a:ext cx="729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$2.5B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00" name="Google Shape;300;p51"/>
          <p:cNvSpPr txBox="1"/>
          <p:nvPr>
            <p:ph idx="4294967295" type="body"/>
          </p:nvPr>
        </p:nvSpPr>
        <p:spPr>
          <a:xfrm>
            <a:off x="958396" y="3035504"/>
            <a:ext cx="729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$180M</a:t>
            </a:r>
            <a:r>
              <a:rPr lang="en" sz="1600">
                <a:solidFill>
                  <a:schemeClr val="lt1"/>
                </a:solidFill>
              </a:rP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01" name="Google Shape;301;p51"/>
          <p:cNvSpPr txBox="1"/>
          <p:nvPr>
            <p:ph idx="4294967295" type="body"/>
          </p:nvPr>
        </p:nvSpPr>
        <p:spPr>
          <a:xfrm>
            <a:off x="3572396" y="1785554"/>
            <a:ext cx="729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$15M</a:t>
            </a:r>
            <a:r>
              <a:rPr lang="en" sz="1600">
                <a:solidFill>
                  <a:schemeClr val="lt1"/>
                </a:solidFill>
              </a:rP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02" name="Google Shape;302;p51"/>
          <p:cNvSpPr txBox="1"/>
          <p:nvPr>
            <p:ph idx="4294967295" type="body"/>
          </p:nvPr>
        </p:nvSpPr>
        <p:spPr>
          <a:xfrm>
            <a:off x="3572396" y="3035504"/>
            <a:ext cx="729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100K</a:t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303" name="Google Shape;303;p51"/>
          <p:cNvCxnSpPr>
            <a:stCxn id="299" idx="3"/>
          </p:cNvCxnSpPr>
          <p:nvPr/>
        </p:nvCxnSpPr>
        <p:spPr>
          <a:xfrm>
            <a:off x="1687696" y="1997954"/>
            <a:ext cx="646200" cy="389100"/>
          </a:xfrm>
          <a:prstGeom prst="bentConnector3">
            <a:avLst>
              <a:gd fmla="val 80222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51"/>
          <p:cNvCxnSpPr>
            <a:stCxn id="300" idx="3"/>
          </p:cNvCxnSpPr>
          <p:nvPr/>
        </p:nvCxnSpPr>
        <p:spPr>
          <a:xfrm>
            <a:off x="1687696" y="3247904"/>
            <a:ext cx="5439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51"/>
          <p:cNvCxnSpPr>
            <a:stCxn id="301" idx="1"/>
          </p:cNvCxnSpPr>
          <p:nvPr/>
        </p:nvCxnSpPr>
        <p:spPr>
          <a:xfrm rot="10800000">
            <a:off x="2845796" y="1997954"/>
            <a:ext cx="726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51"/>
          <p:cNvCxnSpPr>
            <a:stCxn id="302" idx="1"/>
          </p:cNvCxnSpPr>
          <p:nvPr/>
        </p:nvCxnSpPr>
        <p:spPr>
          <a:xfrm rot="10800000">
            <a:off x="3012296" y="3247904"/>
            <a:ext cx="560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51"/>
          <p:cNvSpPr txBox="1"/>
          <p:nvPr>
            <p:ph idx="4294967295" type="body"/>
          </p:nvPr>
        </p:nvSpPr>
        <p:spPr>
          <a:xfrm>
            <a:off x="1690555" y="3766204"/>
            <a:ext cx="807300" cy="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TAM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08" name="Google Shape;308;p51"/>
          <p:cNvSpPr/>
          <p:nvPr/>
        </p:nvSpPr>
        <p:spPr>
          <a:xfrm>
            <a:off x="1522255" y="3874804"/>
            <a:ext cx="168300" cy="16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1"/>
          <p:cNvSpPr txBox="1"/>
          <p:nvPr>
            <p:ph idx="4294967295" type="body"/>
          </p:nvPr>
        </p:nvSpPr>
        <p:spPr>
          <a:xfrm>
            <a:off x="2829280" y="3766204"/>
            <a:ext cx="807300" cy="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SAM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0" name="Google Shape;310;p51"/>
          <p:cNvSpPr/>
          <p:nvPr/>
        </p:nvSpPr>
        <p:spPr>
          <a:xfrm>
            <a:off x="2660980" y="3874804"/>
            <a:ext cx="168300" cy="168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1"/>
          <p:cNvSpPr txBox="1"/>
          <p:nvPr>
            <p:ph idx="4294967295" type="body"/>
          </p:nvPr>
        </p:nvSpPr>
        <p:spPr>
          <a:xfrm>
            <a:off x="1690555" y="4113054"/>
            <a:ext cx="807300" cy="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SOM (Yr 3)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2" name="Google Shape;312;p51"/>
          <p:cNvSpPr/>
          <p:nvPr/>
        </p:nvSpPr>
        <p:spPr>
          <a:xfrm>
            <a:off x="1522255" y="4221654"/>
            <a:ext cx="168300" cy="168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1"/>
          <p:cNvSpPr txBox="1"/>
          <p:nvPr>
            <p:ph idx="4294967295" type="body"/>
          </p:nvPr>
        </p:nvSpPr>
        <p:spPr>
          <a:xfrm>
            <a:off x="2829277" y="4113054"/>
            <a:ext cx="873900" cy="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Target Users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4" name="Google Shape;314;p51"/>
          <p:cNvSpPr/>
          <p:nvPr/>
        </p:nvSpPr>
        <p:spPr>
          <a:xfrm>
            <a:off x="2660980" y="4221654"/>
            <a:ext cx="168300" cy="168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1"/>
          <p:cNvSpPr/>
          <p:nvPr/>
        </p:nvSpPr>
        <p:spPr>
          <a:xfrm>
            <a:off x="5190763" y="1824550"/>
            <a:ext cx="729300" cy="7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1"/>
          <p:cNvSpPr/>
          <p:nvPr/>
        </p:nvSpPr>
        <p:spPr>
          <a:xfrm>
            <a:off x="5190763" y="3645175"/>
            <a:ext cx="729300" cy="7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1"/>
          <p:cNvSpPr/>
          <p:nvPr/>
        </p:nvSpPr>
        <p:spPr>
          <a:xfrm>
            <a:off x="5190763" y="2734863"/>
            <a:ext cx="729300" cy="7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51"/>
          <p:cNvGrpSpPr/>
          <p:nvPr/>
        </p:nvGrpSpPr>
        <p:grpSpPr>
          <a:xfrm>
            <a:off x="5330853" y="1997309"/>
            <a:ext cx="449122" cy="383741"/>
            <a:chOff x="866243" y="2291587"/>
            <a:chExt cx="415546" cy="355053"/>
          </a:xfrm>
        </p:grpSpPr>
        <p:sp>
          <p:nvSpPr>
            <p:cNvPr id="346" name="Google Shape;346;p51"/>
            <p:cNvSpPr/>
            <p:nvPr/>
          </p:nvSpPr>
          <p:spPr>
            <a:xfrm>
              <a:off x="1053756" y="2523748"/>
              <a:ext cx="103998" cy="81706"/>
            </a:xfrm>
            <a:custGeom>
              <a:rect b="b" l="l" r="r" t="t"/>
              <a:pathLst>
                <a:path extrusionOk="0" h="2573" w="3275">
                  <a:moveTo>
                    <a:pt x="2358" y="393"/>
                  </a:moveTo>
                  <a:cubicBezTo>
                    <a:pt x="2418" y="393"/>
                    <a:pt x="2465" y="429"/>
                    <a:pt x="2489" y="488"/>
                  </a:cubicBezTo>
                  <a:lnTo>
                    <a:pt x="2823" y="1262"/>
                  </a:lnTo>
                  <a:cubicBezTo>
                    <a:pt x="2846" y="1322"/>
                    <a:pt x="2823" y="1405"/>
                    <a:pt x="2739" y="1441"/>
                  </a:cubicBezTo>
                  <a:lnTo>
                    <a:pt x="989" y="2179"/>
                  </a:lnTo>
                  <a:cubicBezTo>
                    <a:pt x="977" y="2179"/>
                    <a:pt x="953" y="2203"/>
                    <a:pt x="929" y="2203"/>
                  </a:cubicBezTo>
                  <a:cubicBezTo>
                    <a:pt x="870" y="2203"/>
                    <a:pt x="822" y="2167"/>
                    <a:pt x="787" y="2108"/>
                  </a:cubicBezTo>
                  <a:lnTo>
                    <a:pt x="465" y="1334"/>
                  </a:lnTo>
                  <a:cubicBezTo>
                    <a:pt x="441" y="1262"/>
                    <a:pt x="465" y="1191"/>
                    <a:pt x="537" y="1155"/>
                  </a:cubicBezTo>
                  <a:lnTo>
                    <a:pt x="2299" y="417"/>
                  </a:lnTo>
                  <a:cubicBezTo>
                    <a:pt x="2311" y="417"/>
                    <a:pt x="2322" y="393"/>
                    <a:pt x="2358" y="393"/>
                  </a:cubicBezTo>
                  <a:close/>
                  <a:moveTo>
                    <a:pt x="2358" y="0"/>
                  </a:moveTo>
                  <a:cubicBezTo>
                    <a:pt x="2287" y="0"/>
                    <a:pt x="2227" y="12"/>
                    <a:pt x="2144" y="36"/>
                  </a:cubicBezTo>
                  <a:lnTo>
                    <a:pt x="394" y="786"/>
                  </a:lnTo>
                  <a:cubicBezTo>
                    <a:pt x="120" y="905"/>
                    <a:pt x="1" y="1203"/>
                    <a:pt x="108" y="1465"/>
                  </a:cubicBezTo>
                  <a:lnTo>
                    <a:pt x="429" y="2239"/>
                  </a:lnTo>
                  <a:cubicBezTo>
                    <a:pt x="525" y="2441"/>
                    <a:pt x="703" y="2572"/>
                    <a:pt x="929" y="2572"/>
                  </a:cubicBezTo>
                  <a:cubicBezTo>
                    <a:pt x="1001" y="2572"/>
                    <a:pt x="1060" y="2560"/>
                    <a:pt x="1132" y="2524"/>
                  </a:cubicBezTo>
                  <a:lnTo>
                    <a:pt x="2894" y="1786"/>
                  </a:lnTo>
                  <a:cubicBezTo>
                    <a:pt x="3156" y="1679"/>
                    <a:pt x="3275" y="1370"/>
                    <a:pt x="3180" y="1096"/>
                  </a:cubicBezTo>
                  <a:lnTo>
                    <a:pt x="2846" y="322"/>
                  </a:lnTo>
                  <a:cubicBezTo>
                    <a:pt x="2763" y="131"/>
                    <a:pt x="2584" y="0"/>
                    <a:pt x="23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1"/>
            <p:cNvSpPr/>
            <p:nvPr/>
          </p:nvSpPr>
          <p:spPr>
            <a:xfrm>
              <a:off x="1076461" y="2409176"/>
              <a:ext cx="79419" cy="60525"/>
            </a:xfrm>
            <a:custGeom>
              <a:rect b="b" l="l" r="r" t="t"/>
              <a:pathLst>
                <a:path extrusionOk="0" h="1906" w="2501">
                  <a:moveTo>
                    <a:pt x="1250" y="370"/>
                  </a:moveTo>
                  <a:cubicBezTo>
                    <a:pt x="1715" y="370"/>
                    <a:pt x="2119" y="620"/>
                    <a:pt x="2119" y="941"/>
                  </a:cubicBezTo>
                  <a:cubicBezTo>
                    <a:pt x="2119" y="1251"/>
                    <a:pt x="1715" y="1501"/>
                    <a:pt x="1250" y="1501"/>
                  </a:cubicBezTo>
                  <a:cubicBezTo>
                    <a:pt x="798" y="1501"/>
                    <a:pt x="393" y="1251"/>
                    <a:pt x="393" y="941"/>
                  </a:cubicBezTo>
                  <a:cubicBezTo>
                    <a:pt x="393" y="620"/>
                    <a:pt x="786" y="370"/>
                    <a:pt x="1250" y="370"/>
                  </a:cubicBezTo>
                  <a:close/>
                  <a:moveTo>
                    <a:pt x="1250" y="1"/>
                  </a:moveTo>
                  <a:cubicBezTo>
                    <a:pt x="929" y="1"/>
                    <a:pt x="631" y="96"/>
                    <a:pt x="393" y="251"/>
                  </a:cubicBezTo>
                  <a:cubicBezTo>
                    <a:pt x="143" y="429"/>
                    <a:pt x="0" y="691"/>
                    <a:pt x="0" y="953"/>
                  </a:cubicBezTo>
                  <a:cubicBezTo>
                    <a:pt x="0" y="1227"/>
                    <a:pt x="143" y="1465"/>
                    <a:pt x="393" y="1656"/>
                  </a:cubicBezTo>
                  <a:cubicBezTo>
                    <a:pt x="631" y="1822"/>
                    <a:pt x="929" y="1906"/>
                    <a:pt x="1250" y="1906"/>
                  </a:cubicBezTo>
                  <a:cubicBezTo>
                    <a:pt x="1584" y="1906"/>
                    <a:pt x="1881" y="1810"/>
                    <a:pt x="2119" y="1656"/>
                  </a:cubicBezTo>
                  <a:cubicBezTo>
                    <a:pt x="2369" y="1477"/>
                    <a:pt x="2500" y="1227"/>
                    <a:pt x="2500" y="953"/>
                  </a:cubicBezTo>
                  <a:cubicBezTo>
                    <a:pt x="2500" y="691"/>
                    <a:pt x="2358" y="429"/>
                    <a:pt x="2119" y="251"/>
                  </a:cubicBezTo>
                  <a:cubicBezTo>
                    <a:pt x="1881" y="96"/>
                    <a:pt x="1584" y="1"/>
                    <a:pt x="12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1"/>
            <p:cNvSpPr/>
            <p:nvPr/>
          </p:nvSpPr>
          <p:spPr>
            <a:xfrm>
              <a:off x="985324" y="2448488"/>
              <a:ext cx="86628" cy="94185"/>
            </a:xfrm>
            <a:custGeom>
              <a:rect b="b" l="l" r="r" t="t"/>
              <a:pathLst>
                <a:path extrusionOk="0" h="2966" w="2728">
                  <a:moveTo>
                    <a:pt x="977" y="370"/>
                  </a:moveTo>
                  <a:lnTo>
                    <a:pt x="1537" y="430"/>
                  </a:lnTo>
                  <a:cubicBezTo>
                    <a:pt x="1608" y="442"/>
                    <a:pt x="1680" y="489"/>
                    <a:pt x="1715" y="561"/>
                  </a:cubicBezTo>
                  <a:lnTo>
                    <a:pt x="2287" y="1858"/>
                  </a:lnTo>
                  <a:cubicBezTo>
                    <a:pt x="2322" y="1918"/>
                    <a:pt x="2322" y="1977"/>
                    <a:pt x="2311" y="2037"/>
                  </a:cubicBezTo>
                  <a:cubicBezTo>
                    <a:pt x="2299" y="2096"/>
                    <a:pt x="2251" y="2144"/>
                    <a:pt x="2191" y="2156"/>
                  </a:cubicBezTo>
                  <a:lnTo>
                    <a:pt x="1310" y="2549"/>
                  </a:lnTo>
                  <a:cubicBezTo>
                    <a:pt x="1287" y="2561"/>
                    <a:pt x="1251" y="2561"/>
                    <a:pt x="1227" y="2561"/>
                  </a:cubicBezTo>
                  <a:cubicBezTo>
                    <a:pt x="1132" y="2561"/>
                    <a:pt x="1060" y="2513"/>
                    <a:pt x="1013" y="2430"/>
                  </a:cubicBezTo>
                  <a:lnTo>
                    <a:pt x="429" y="1132"/>
                  </a:lnTo>
                  <a:cubicBezTo>
                    <a:pt x="406" y="1061"/>
                    <a:pt x="406" y="977"/>
                    <a:pt x="465" y="906"/>
                  </a:cubicBezTo>
                  <a:lnTo>
                    <a:pt x="787" y="465"/>
                  </a:lnTo>
                  <a:cubicBezTo>
                    <a:pt x="834" y="406"/>
                    <a:pt x="906" y="370"/>
                    <a:pt x="977" y="370"/>
                  </a:cubicBezTo>
                  <a:close/>
                  <a:moveTo>
                    <a:pt x="965" y="1"/>
                  </a:moveTo>
                  <a:cubicBezTo>
                    <a:pt x="775" y="1"/>
                    <a:pt x="596" y="84"/>
                    <a:pt x="477" y="251"/>
                  </a:cubicBezTo>
                  <a:lnTo>
                    <a:pt x="156" y="703"/>
                  </a:lnTo>
                  <a:cubicBezTo>
                    <a:pt x="13" y="882"/>
                    <a:pt x="1" y="1096"/>
                    <a:pt x="84" y="1311"/>
                  </a:cubicBezTo>
                  <a:lnTo>
                    <a:pt x="667" y="2608"/>
                  </a:lnTo>
                  <a:cubicBezTo>
                    <a:pt x="775" y="2823"/>
                    <a:pt x="977" y="2966"/>
                    <a:pt x="1215" y="2966"/>
                  </a:cubicBezTo>
                  <a:cubicBezTo>
                    <a:pt x="1310" y="2966"/>
                    <a:pt x="1382" y="2942"/>
                    <a:pt x="1453" y="2906"/>
                  </a:cubicBezTo>
                  <a:lnTo>
                    <a:pt x="2334" y="2513"/>
                  </a:lnTo>
                  <a:cubicBezTo>
                    <a:pt x="2489" y="2454"/>
                    <a:pt x="2608" y="2335"/>
                    <a:pt x="2644" y="2168"/>
                  </a:cubicBezTo>
                  <a:cubicBezTo>
                    <a:pt x="2727" y="2025"/>
                    <a:pt x="2727" y="1858"/>
                    <a:pt x="2656" y="1715"/>
                  </a:cubicBezTo>
                  <a:lnTo>
                    <a:pt x="2072" y="418"/>
                  </a:lnTo>
                  <a:cubicBezTo>
                    <a:pt x="1977" y="227"/>
                    <a:pt x="1787" y="84"/>
                    <a:pt x="1572" y="61"/>
                  </a:cubicBezTo>
                  <a:cubicBezTo>
                    <a:pt x="1370" y="49"/>
                    <a:pt x="1156" y="1"/>
                    <a:pt x="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1"/>
            <p:cNvSpPr/>
            <p:nvPr/>
          </p:nvSpPr>
          <p:spPr>
            <a:xfrm>
              <a:off x="1014062" y="2472336"/>
              <a:ext cx="15147" cy="15147"/>
            </a:xfrm>
            <a:custGeom>
              <a:rect b="b" l="l" r="r" t="t"/>
              <a:pathLst>
                <a:path extrusionOk="0" h="477" w="477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107"/>
                    <a:pt x="370" y="0"/>
                    <a:pt x="2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1"/>
            <p:cNvSpPr/>
            <p:nvPr/>
          </p:nvSpPr>
          <p:spPr>
            <a:xfrm>
              <a:off x="866243" y="2291587"/>
              <a:ext cx="415546" cy="355053"/>
            </a:xfrm>
            <a:custGeom>
              <a:rect b="b" l="l" r="r" t="t"/>
              <a:pathLst>
                <a:path extrusionOk="0" h="11181" w="13086">
                  <a:moveTo>
                    <a:pt x="7620" y="1430"/>
                  </a:moveTo>
                  <a:lnTo>
                    <a:pt x="7620" y="1989"/>
                  </a:lnTo>
                  <a:lnTo>
                    <a:pt x="5453" y="1989"/>
                  </a:lnTo>
                  <a:lnTo>
                    <a:pt x="5453" y="1430"/>
                  </a:lnTo>
                  <a:close/>
                  <a:moveTo>
                    <a:pt x="7608" y="406"/>
                  </a:moveTo>
                  <a:cubicBezTo>
                    <a:pt x="8168" y="406"/>
                    <a:pt x="8632" y="858"/>
                    <a:pt x="8632" y="1430"/>
                  </a:cubicBezTo>
                  <a:lnTo>
                    <a:pt x="8632" y="1989"/>
                  </a:lnTo>
                  <a:lnTo>
                    <a:pt x="7989" y="1989"/>
                  </a:lnTo>
                  <a:lnTo>
                    <a:pt x="7989" y="1430"/>
                  </a:lnTo>
                  <a:cubicBezTo>
                    <a:pt x="7989" y="1215"/>
                    <a:pt x="7811" y="1037"/>
                    <a:pt x="7608" y="1037"/>
                  </a:cubicBezTo>
                  <a:lnTo>
                    <a:pt x="5453" y="1037"/>
                  </a:lnTo>
                  <a:cubicBezTo>
                    <a:pt x="5239" y="1037"/>
                    <a:pt x="5060" y="1215"/>
                    <a:pt x="5060" y="1430"/>
                  </a:cubicBezTo>
                  <a:lnTo>
                    <a:pt x="5060" y="1989"/>
                  </a:lnTo>
                  <a:lnTo>
                    <a:pt x="4417" y="1989"/>
                  </a:lnTo>
                  <a:lnTo>
                    <a:pt x="4417" y="1430"/>
                  </a:lnTo>
                  <a:cubicBezTo>
                    <a:pt x="4417" y="858"/>
                    <a:pt x="4882" y="406"/>
                    <a:pt x="5453" y="406"/>
                  </a:cubicBezTo>
                  <a:close/>
                  <a:moveTo>
                    <a:pt x="2929" y="2096"/>
                  </a:moveTo>
                  <a:cubicBezTo>
                    <a:pt x="3013" y="2096"/>
                    <a:pt x="3072" y="2156"/>
                    <a:pt x="3072" y="2227"/>
                  </a:cubicBezTo>
                  <a:lnTo>
                    <a:pt x="3072" y="3299"/>
                  </a:lnTo>
                  <a:cubicBezTo>
                    <a:pt x="3072" y="3382"/>
                    <a:pt x="3132" y="3454"/>
                    <a:pt x="3203" y="3478"/>
                  </a:cubicBezTo>
                  <a:cubicBezTo>
                    <a:pt x="3224" y="3486"/>
                    <a:pt x="3246" y="3490"/>
                    <a:pt x="3267" y="3490"/>
                  </a:cubicBezTo>
                  <a:cubicBezTo>
                    <a:pt x="3365" y="3490"/>
                    <a:pt x="3453" y="3406"/>
                    <a:pt x="3453" y="3299"/>
                  </a:cubicBezTo>
                  <a:lnTo>
                    <a:pt x="3453" y="2358"/>
                  </a:lnTo>
                  <a:lnTo>
                    <a:pt x="9632" y="2358"/>
                  </a:lnTo>
                  <a:lnTo>
                    <a:pt x="9632" y="10502"/>
                  </a:lnTo>
                  <a:lnTo>
                    <a:pt x="3453" y="10502"/>
                  </a:lnTo>
                  <a:lnTo>
                    <a:pt x="3453" y="4073"/>
                  </a:lnTo>
                  <a:cubicBezTo>
                    <a:pt x="3453" y="3978"/>
                    <a:pt x="3370" y="3882"/>
                    <a:pt x="3263" y="3882"/>
                  </a:cubicBezTo>
                  <a:cubicBezTo>
                    <a:pt x="3155" y="3882"/>
                    <a:pt x="3072" y="3978"/>
                    <a:pt x="3072" y="4073"/>
                  </a:cubicBezTo>
                  <a:lnTo>
                    <a:pt x="3072" y="10657"/>
                  </a:lnTo>
                  <a:cubicBezTo>
                    <a:pt x="3072" y="10728"/>
                    <a:pt x="3013" y="10788"/>
                    <a:pt x="2929" y="10788"/>
                  </a:cubicBezTo>
                  <a:lnTo>
                    <a:pt x="2310" y="10788"/>
                  </a:lnTo>
                  <a:cubicBezTo>
                    <a:pt x="2239" y="10788"/>
                    <a:pt x="2179" y="10728"/>
                    <a:pt x="2179" y="10657"/>
                  </a:cubicBezTo>
                  <a:lnTo>
                    <a:pt x="2179" y="2227"/>
                  </a:lnTo>
                  <a:cubicBezTo>
                    <a:pt x="2179" y="2156"/>
                    <a:pt x="2239" y="2096"/>
                    <a:pt x="2310" y="2096"/>
                  </a:cubicBezTo>
                  <a:close/>
                  <a:moveTo>
                    <a:pt x="10775" y="2096"/>
                  </a:moveTo>
                  <a:cubicBezTo>
                    <a:pt x="10847" y="2096"/>
                    <a:pt x="10906" y="2156"/>
                    <a:pt x="10906" y="2227"/>
                  </a:cubicBezTo>
                  <a:lnTo>
                    <a:pt x="10906" y="10657"/>
                  </a:lnTo>
                  <a:cubicBezTo>
                    <a:pt x="10906" y="10728"/>
                    <a:pt x="10847" y="10788"/>
                    <a:pt x="10775" y="10788"/>
                  </a:cubicBezTo>
                  <a:lnTo>
                    <a:pt x="10156" y="10788"/>
                  </a:lnTo>
                  <a:cubicBezTo>
                    <a:pt x="10073" y="10788"/>
                    <a:pt x="10013" y="10728"/>
                    <a:pt x="10013" y="10657"/>
                  </a:cubicBezTo>
                  <a:lnTo>
                    <a:pt x="10013" y="2227"/>
                  </a:lnTo>
                  <a:cubicBezTo>
                    <a:pt x="10013" y="2156"/>
                    <a:pt x="10073" y="2096"/>
                    <a:pt x="10156" y="2096"/>
                  </a:cubicBezTo>
                  <a:close/>
                  <a:moveTo>
                    <a:pt x="5465" y="1"/>
                  </a:moveTo>
                  <a:cubicBezTo>
                    <a:pt x="4691" y="1"/>
                    <a:pt x="4048" y="644"/>
                    <a:pt x="4048" y="1418"/>
                  </a:cubicBezTo>
                  <a:lnTo>
                    <a:pt x="4048" y="1977"/>
                  </a:lnTo>
                  <a:lnTo>
                    <a:pt x="3394" y="1977"/>
                  </a:lnTo>
                  <a:cubicBezTo>
                    <a:pt x="3310" y="1811"/>
                    <a:pt x="3132" y="1692"/>
                    <a:pt x="2929" y="1692"/>
                  </a:cubicBezTo>
                  <a:lnTo>
                    <a:pt x="2310" y="1692"/>
                  </a:lnTo>
                  <a:cubicBezTo>
                    <a:pt x="2096" y="1692"/>
                    <a:pt x="1941" y="1811"/>
                    <a:pt x="1846" y="1977"/>
                  </a:cubicBezTo>
                  <a:lnTo>
                    <a:pt x="1310" y="1977"/>
                  </a:lnTo>
                  <a:cubicBezTo>
                    <a:pt x="596" y="1977"/>
                    <a:pt x="0" y="2561"/>
                    <a:pt x="0" y="3287"/>
                  </a:cubicBezTo>
                  <a:lnTo>
                    <a:pt x="0" y="7990"/>
                  </a:lnTo>
                  <a:cubicBezTo>
                    <a:pt x="0" y="8097"/>
                    <a:pt x="96" y="8180"/>
                    <a:pt x="191" y="8180"/>
                  </a:cubicBezTo>
                  <a:cubicBezTo>
                    <a:pt x="298" y="8180"/>
                    <a:pt x="393" y="8097"/>
                    <a:pt x="393" y="7990"/>
                  </a:cubicBezTo>
                  <a:lnTo>
                    <a:pt x="393" y="3287"/>
                  </a:lnTo>
                  <a:cubicBezTo>
                    <a:pt x="393" y="2787"/>
                    <a:pt x="810" y="2370"/>
                    <a:pt x="1310" y="2370"/>
                  </a:cubicBezTo>
                  <a:lnTo>
                    <a:pt x="1786" y="2370"/>
                  </a:lnTo>
                  <a:lnTo>
                    <a:pt x="1786" y="10502"/>
                  </a:lnTo>
                  <a:lnTo>
                    <a:pt x="1310" y="10502"/>
                  </a:lnTo>
                  <a:cubicBezTo>
                    <a:pt x="810" y="10502"/>
                    <a:pt x="393" y="10085"/>
                    <a:pt x="393" y="9585"/>
                  </a:cubicBezTo>
                  <a:lnTo>
                    <a:pt x="393" y="8764"/>
                  </a:lnTo>
                  <a:cubicBezTo>
                    <a:pt x="393" y="8657"/>
                    <a:pt x="298" y="8573"/>
                    <a:pt x="191" y="8573"/>
                  </a:cubicBezTo>
                  <a:cubicBezTo>
                    <a:pt x="96" y="8573"/>
                    <a:pt x="0" y="8657"/>
                    <a:pt x="0" y="8764"/>
                  </a:cubicBezTo>
                  <a:lnTo>
                    <a:pt x="0" y="9585"/>
                  </a:lnTo>
                  <a:cubicBezTo>
                    <a:pt x="0" y="10300"/>
                    <a:pt x="584" y="10895"/>
                    <a:pt x="1310" y="10895"/>
                  </a:cubicBezTo>
                  <a:lnTo>
                    <a:pt x="1846" y="10895"/>
                  </a:lnTo>
                  <a:cubicBezTo>
                    <a:pt x="1941" y="11062"/>
                    <a:pt x="2120" y="11181"/>
                    <a:pt x="2310" y="11181"/>
                  </a:cubicBezTo>
                  <a:lnTo>
                    <a:pt x="2929" y="11181"/>
                  </a:lnTo>
                  <a:cubicBezTo>
                    <a:pt x="3144" y="11181"/>
                    <a:pt x="3310" y="11062"/>
                    <a:pt x="3394" y="10895"/>
                  </a:cubicBezTo>
                  <a:lnTo>
                    <a:pt x="9692" y="10895"/>
                  </a:lnTo>
                  <a:cubicBezTo>
                    <a:pt x="9775" y="11062"/>
                    <a:pt x="9954" y="11181"/>
                    <a:pt x="10156" y="11181"/>
                  </a:cubicBezTo>
                  <a:lnTo>
                    <a:pt x="10775" y="11181"/>
                  </a:lnTo>
                  <a:cubicBezTo>
                    <a:pt x="10978" y="11181"/>
                    <a:pt x="11145" y="11062"/>
                    <a:pt x="11240" y="10895"/>
                  </a:cubicBezTo>
                  <a:lnTo>
                    <a:pt x="11776" y="10895"/>
                  </a:lnTo>
                  <a:cubicBezTo>
                    <a:pt x="12490" y="10895"/>
                    <a:pt x="13085" y="10312"/>
                    <a:pt x="13085" y="9585"/>
                  </a:cubicBezTo>
                  <a:lnTo>
                    <a:pt x="13085" y="4894"/>
                  </a:lnTo>
                  <a:cubicBezTo>
                    <a:pt x="13085" y="4787"/>
                    <a:pt x="12990" y="4704"/>
                    <a:pt x="12883" y="4704"/>
                  </a:cubicBezTo>
                  <a:cubicBezTo>
                    <a:pt x="12788" y="4704"/>
                    <a:pt x="12692" y="4787"/>
                    <a:pt x="12692" y="4894"/>
                  </a:cubicBezTo>
                  <a:lnTo>
                    <a:pt x="12692" y="9585"/>
                  </a:lnTo>
                  <a:cubicBezTo>
                    <a:pt x="12692" y="10085"/>
                    <a:pt x="12276" y="10502"/>
                    <a:pt x="11776" y="10502"/>
                  </a:cubicBezTo>
                  <a:lnTo>
                    <a:pt x="11299" y="10502"/>
                  </a:lnTo>
                  <a:lnTo>
                    <a:pt x="11299" y="2370"/>
                  </a:lnTo>
                  <a:lnTo>
                    <a:pt x="11776" y="2370"/>
                  </a:lnTo>
                  <a:cubicBezTo>
                    <a:pt x="12276" y="2370"/>
                    <a:pt x="12692" y="2787"/>
                    <a:pt x="12692" y="3287"/>
                  </a:cubicBezTo>
                  <a:lnTo>
                    <a:pt x="12692" y="4120"/>
                  </a:lnTo>
                  <a:cubicBezTo>
                    <a:pt x="12692" y="4240"/>
                    <a:pt x="12788" y="4311"/>
                    <a:pt x="12895" y="4311"/>
                  </a:cubicBezTo>
                  <a:cubicBezTo>
                    <a:pt x="12990" y="4311"/>
                    <a:pt x="13085" y="4228"/>
                    <a:pt x="13085" y="4120"/>
                  </a:cubicBezTo>
                  <a:lnTo>
                    <a:pt x="13085" y="3287"/>
                  </a:lnTo>
                  <a:cubicBezTo>
                    <a:pt x="13085" y="2573"/>
                    <a:pt x="12502" y="1977"/>
                    <a:pt x="11776" y="1977"/>
                  </a:cubicBezTo>
                  <a:lnTo>
                    <a:pt x="11240" y="1977"/>
                  </a:lnTo>
                  <a:cubicBezTo>
                    <a:pt x="11145" y="1811"/>
                    <a:pt x="10966" y="1692"/>
                    <a:pt x="10775" y="1692"/>
                  </a:cubicBezTo>
                  <a:lnTo>
                    <a:pt x="10156" y="1692"/>
                  </a:lnTo>
                  <a:cubicBezTo>
                    <a:pt x="9942" y="1692"/>
                    <a:pt x="9775" y="1811"/>
                    <a:pt x="9692" y="1977"/>
                  </a:cubicBezTo>
                  <a:lnTo>
                    <a:pt x="9037" y="1977"/>
                  </a:lnTo>
                  <a:lnTo>
                    <a:pt x="9037" y="1418"/>
                  </a:lnTo>
                  <a:cubicBezTo>
                    <a:pt x="9037" y="644"/>
                    <a:pt x="8394" y="1"/>
                    <a:pt x="76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51"/>
          <p:cNvGrpSpPr/>
          <p:nvPr/>
        </p:nvGrpSpPr>
        <p:grpSpPr>
          <a:xfrm>
            <a:off x="5345169" y="2907637"/>
            <a:ext cx="420458" cy="383731"/>
            <a:chOff x="1958520" y="2302574"/>
            <a:chExt cx="359213" cy="327807"/>
          </a:xfrm>
        </p:grpSpPr>
        <p:sp>
          <p:nvSpPr>
            <p:cNvPr id="352" name="Google Shape;352;p51"/>
            <p:cNvSpPr/>
            <p:nvPr/>
          </p:nvSpPr>
          <p:spPr>
            <a:xfrm>
              <a:off x="1958520" y="2302574"/>
              <a:ext cx="359213" cy="327807"/>
            </a:xfrm>
            <a:custGeom>
              <a:rect b="b" l="l" r="r" t="t"/>
              <a:pathLst>
                <a:path extrusionOk="0" h="10323" w="11312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1"/>
            <p:cNvSpPr/>
            <p:nvPr/>
          </p:nvSpPr>
          <p:spPr>
            <a:xfrm>
              <a:off x="1986877" y="2331313"/>
              <a:ext cx="302117" cy="184909"/>
            </a:xfrm>
            <a:custGeom>
              <a:rect b="b" l="l" r="r" t="t"/>
              <a:pathLst>
                <a:path extrusionOk="0" h="5823" w="9514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1"/>
            <p:cNvSpPr/>
            <p:nvPr/>
          </p:nvSpPr>
          <p:spPr>
            <a:xfrm>
              <a:off x="2131521" y="2526701"/>
              <a:ext cx="11908" cy="10638"/>
            </a:xfrm>
            <a:custGeom>
              <a:rect b="b" l="l" r="r" t="t"/>
              <a:pathLst>
                <a:path extrusionOk="0" h="335" w="375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51"/>
          <p:cNvGrpSpPr/>
          <p:nvPr/>
        </p:nvGrpSpPr>
        <p:grpSpPr>
          <a:xfrm>
            <a:off x="5330852" y="3818025"/>
            <a:ext cx="449098" cy="415171"/>
            <a:chOff x="7384751" y="4147984"/>
            <a:chExt cx="380012" cy="351274"/>
          </a:xfrm>
        </p:grpSpPr>
        <p:sp>
          <p:nvSpPr>
            <p:cNvPr id="356" name="Google Shape;356;p51"/>
            <p:cNvSpPr/>
            <p:nvPr/>
          </p:nvSpPr>
          <p:spPr>
            <a:xfrm>
              <a:off x="7385513" y="4225879"/>
              <a:ext cx="379250" cy="273379"/>
            </a:xfrm>
            <a:custGeom>
              <a:rect b="b" l="l" r="r" t="t"/>
              <a:pathLst>
                <a:path extrusionOk="0" h="8609" w="11943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1"/>
            <p:cNvSpPr/>
            <p:nvPr/>
          </p:nvSpPr>
          <p:spPr>
            <a:xfrm>
              <a:off x="7384751" y="4147984"/>
              <a:ext cx="380012" cy="228382"/>
            </a:xfrm>
            <a:custGeom>
              <a:rect b="b" l="l" r="r" t="t"/>
              <a:pathLst>
                <a:path extrusionOk="0" h="7192" w="11967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1"/>
            <p:cNvSpPr/>
            <p:nvPr/>
          </p:nvSpPr>
          <p:spPr>
            <a:xfrm>
              <a:off x="7507642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1"/>
            <p:cNvSpPr/>
            <p:nvPr/>
          </p:nvSpPr>
          <p:spPr>
            <a:xfrm>
              <a:off x="7573820" y="4228134"/>
              <a:ext cx="37820" cy="37852"/>
            </a:xfrm>
            <a:custGeom>
              <a:rect b="b" l="l" r="r" t="t"/>
              <a:pathLst>
                <a:path extrusionOk="0" h="1192" w="1191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1"/>
            <p:cNvSpPr/>
            <p:nvPr/>
          </p:nvSpPr>
          <p:spPr>
            <a:xfrm>
              <a:off x="7640728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ECONOMICS: A CLEAR PATH TO EFFICIENCY</a:t>
            </a:r>
            <a:endParaRPr/>
          </a:p>
        </p:txBody>
      </p:sp>
      <p:cxnSp>
        <p:nvCxnSpPr>
          <p:cNvPr id="366" name="Google Shape;366;p5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graphicFrame>
        <p:nvGraphicFramePr>
          <p:cNvPr id="367" name="Google Shape;367;p52"/>
          <p:cNvGraphicFramePr/>
          <p:nvPr/>
        </p:nvGraphicFramePr>
        <p:xfrm>
          <a:off x="1691400" y="15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{0F800C25-3B26-4A03-9EF3-520F5B5E6BF8}</a:tableStyleId>
              </a:tblPr>
              <a:tblGrid>
                <a:gridCol w="1440300"/>
                <a:gridCol w="1440300"/>
                <a:gridCol w="1440300"/>
                <a:gridCol w="1440300"/>
              </a:tblGrid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Year 1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Year 2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Year 3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ARPU (annual, USD)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$12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$18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$24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CAC (USD)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LTV : CAC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4.5x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9x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18x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Annual Retention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58%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82%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Net Revenue Retention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92%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115%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3-YEAR ROADMAP</a:t>
            </a:r>
            <a:endParaRPr/>
          </a:p>
        </p:txBody>
      </p:sp>
      <p:cxnSp>
        <p:nvCxnSpPr>
          <p:cNvPr id="1956" name="Google Shape;1956;p54"/>
          <p:cNvCxnSpPr/>
          <p:nvPr/>
        </p:nvCxnSpPr>
        <p:spPr>
          <a:xfrm>
            <a:off x="1245300" y="2859300"/>
            <a:ext cx="6653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54"/>
          <p:cNvSpPr txBox="1"/>
          <p:nvPr>
            <p:ph idx="4294967295" type="title"/>
          </p:nvPr>
        </p:nvSpPr>
        <p:spPr>
          <a:xfrm>
            <a:off x="1019361" y="2097688"/>
            <a:ext cx="15273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MONTH 1 — SEED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58" name="Google Shape;1958;p54"/>
          <p:cNvSpPr txBox="1"/>
          <p:nvPr>
            <p:ph idx="4294967295" type="subTitle"/>
          </p:nvPr>
        </p:nvSpPr>
        <p:spPr>
          <a:xfrm>
            <a:off x="1019364" y="3183038"/>
            <a:ext cx="1527300" cy="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100 users onboarded; PMF validation begins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59" name="Google Shape;1959;p54"/>
          <p:cNvSpPr txBox="1"/>
          <p:nvPr>
            <p:ph idx="4294967295" type="title"/>
          </p:nvPr>
        </p:nvSpPr>
        <p:spPr>
          <a:xfrm>
            <a:off x="4738561" y="2097688"/>
            <a:ext cx="15273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MONTH 24 — SCALE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0" name="Google Shape;1960;p54"/>
          <p:cNvSpPr txBox="1"/>
          <p:nvPr>
            <p:ph idx="4294967295" type="subTitle"/>
          </p:nvPr>
        </p:nvSpPr>
        <p:spPr>
          <a:xfrm>
            <a:off x="4738564" y="3183038"/>
            <a:ext cx="1527300" cy="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25,000 users; $450K/mo revenue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1" name="Google Shape;1961;p54"/>
          <p:cNvSpPr txBox="1"/>
          <p:nvPr>
            <p:ph idx="4294967295" type="subTitle"/>
          </p:nvPr>
        </p:nvSpPr>
        <p:spPr>
          <a:xfrm>
            <a:off x="2879789" y="1892972"/>
            <a:ext cx="1527300" cy="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5,000 users; contribution turns positive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2" name="Google Shape;1962;p54"/>
          <p:cNvSpPr txBox="1"/>
          <p:nvPr>
            <p:ph idx="4294967295" type="title"/>
          </p:nvPr>
        </p:nvSpPr>
        <p:spPr>
          <a:xfrm>
            <a:off x="2879786" y="3230845"/>
            <a:ext cx="15273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MONTH 12 — BREAK-EVEN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3" name="Google Shape;1963;p54"/>
          <p:cNvSpPr txBox="1"/>
          <p:nvPr>
            <p:ph idx="4294967295" type="subTitle"/>
          </p:nvPr>
        </p:nvSpPr>
        <p:spPr>
          <a:xfrm>
            <a:off x="6597339" y="1881059"/>
            <a:ext cx="1527300" cy="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100,000 users; $1.8M/mo revenue</a:t>
            </a:r>
            <a:r>
              <a:rPr lang="en" sz="1400">
                <a:solidFill>
                  <a:schemeClr val="lt1"/>
                </a:solidFill>
              </a:rP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4" name="Google Shape;1964;p54"/>
          <p:cNvSpPr txBox="1"/>
          <p:nvPr>
            <p:ph idx="4294967295" type="title"/>
          </p:nvPr>
        </p:nvSpPr>
        <p:spPr>
          <a:xfrm>
            <a:off x="6597336" y="3218932"/>
            <a:ext cx="15273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MONTH 36 — MATURE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5" name="Google Shape;1965;p54"/>
          <p:cNvSpPr/>
          <p:nvPr/>
        </p:nvSpPr>
        <p:spPr>
          <a:xfrm>
            <a:off x="1674250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54"/>
          <p:cNvSpPr/>
          <p:nvPr/>
        </p:nvSpPr>
        <p:spPr>
          <a:xfrm>
            <a:off x="3534675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54"/>
          <p:cNvSpPr/>
          <p:nvPr/>
        </p:nvSpPr>
        <p:spPr>
          <a:xfrm>
            <a:off x="5395100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54"/>
          <p:cNvSpPr/>
          <p:nvPr/>
        </p:nvSpPr>
        <p:spPr>
          <a:xfrm>
            <a:off x="7255525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9" name="Google Shape;1969;p5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TO PROFITABILITY: BREAK-EVEN AT MONTH 12</a:t>
            </a:r>
            <a:endParaRPr/>
          </a:p>
        </p:txBody>
      </p:sp>
      <p:sp>
        <p:nvSpPr>
          <p:cNvPr id="1975" name="Google Shape;1975;p55"/>
          <p:cNvSpPr txBox="1"/>
          <p:nvPr>
            <p:ph idx="4294967295" type="body"/>
          </p:nvPr>
        </p:nvSpPr>
        <p:spPr>
          <a:xfrm>
            <a:off x="6341669" y="3705325"/>
            <a:ext cx="1907100" cy="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Monthly operating cost vs. monthly revenue, on-site scenario (USD) — crossover at ~5,000 users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1980" name="Google Shape;1980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graphicFrame>
        <p:nvGraphicFramePr>
          <p:cNvPr id="1981" name="Chart 1980"/>
          <p:cNvGraphicFramePr>
            <a:graphicFrameLocks noGrp="1"/>
          </p:cNvGraphicFramePr>
          <p:nvPr/>
        </p:nvGraphicFramePr>
        <p:xfrm>
          <a:off x="891738" y="1656775"/>
          <a:ext cx="4795725" cy="2965375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56"/>
          <p:cNvSpPr txBox="1"/>
          <p:nvPr>
            <p:ph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$1.28M</a:t>
            </a:r>
            <a:endParaRPr/>
          </a:p>
        </p:txBody>
      </p:sp>
      <p:sp>
        <p:nvSpPr>
          <p:cNvPr id="1987" name="Google Shape;1987;p56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Projected annual recurring revenue at 100,000 users by Month 36 — blended across all six pillars</a:t>
            </a:r>
            <a:endParaRPr/>
          </a:p>
        </p:txBody>
      </p:sp>
      <p:cxnSp>
        <p:nvCxnSpPr>
          <p:cNvPr id="1988" name="Google Shape;1988;p56"/>
          <p:cNvCxnSpPr/>
          <p:nvPr/>
        </p:nvCxnSpPr>
        <p:spPr>
          <a:xfrm>
            <a:off x="3190500" y="2845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EXISTING PLATFORMS DON'T SOLVE THIS</a:t>
            </a:r>
            <a:r>
              <a:rPr lang="en"/>
              <a:t/>
            </a:r>
            <a:r>
              <a:rPr lang="en"/>
              <a:t/>
            </a:r>
            <a:endParaRPr/>
          </a:p>
        </p:txBody>
      </p:sp>
      <p:sp>
        <p:nvSpPr>
          <p:cNvPr id="1994" name="Google Shape;1994;p57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LinkedIn: networking, no verified salary data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Glassdoor: anonymous reviews, no peer verification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Indeed: job volume, no gig work or mentorship layer</a:t>
            </a:r>
            <a:endParaRPr/>
          </a:p>
        </p:txBody>
      </p:sp>
      <p:sp>
        <p:nvSpPr>
          <p:cNvPr id="1995" name="Google Shape;1995;p57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Peer-verified salary intelligence with k-anonymity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AI-scored, Bayesian-shrunk reputation across 6 pillars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Hiring, gig work, mentorship and community — one login</a:t>
            </a:r>
            <a:endParaRPr/>
          </a:p>
        </p:txBody>
      </p:sp>
      <p:sp>
        <p:nvSpPr>
          <p:cNvPr id="1996" name="Google Shape;1996;p57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 POINT SOLUTIONS</a:t>
            </a:r>
            <a:endParaRPr/>
          </a:p>
        </p:txBody>
      </p:sp>
      <p:sp>
        <p:nvSpPr>
          <p:cNvPr id="1997" name="Google Shape;1997;p57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GREYIN</a:t>
            </a:r>
            <a:endParaRPr/>
          </a:p>
        </p:txBody>
      </p:sp>
      <p:cxnSp>
        <p:nvCxnSpPr>
          <p:cNvPr id="1998" name="Google Shape;1998;p5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5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GO-TO-MARKET: FOUR ACQUISITION CHANNELS</a:t>
            </a:r>
            <a:endParaRPr/>
          </a:p>
        </p:txBody>
      </p:sp>
      <p:sp>
        <p:nvSpPr>
          <p:cNvPr id="2004" name="Google Shape;2004;p58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SALES — 20%</a:t>
            </a:r>
            <a:endParaRPr/>
          </a:p>
        </p:txBody>
      </p:sp>
      <p:sp>
        <p:nvSpPr>
          <p:cNvPr id="2005" name="Google Shape;2005;p58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&amp; HR outreach for company licensing and DeepEdge seats</a:t>
            </a:r>
            <a:endParaRPr/>
          </a:p>
        </p:txBody>
      </p:sp>
      <p:sp>
        <p:nvSpPr>
          <p:cNvPr id="2006" name="Google Shape;2006;p58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REFERRAL — 40%</a:t>
            </a:r>
            <a:endParaRPr/>
          </a:p>
        </p:txBody>
      </p:sp>
      <p:sp>
        <p:nvSpPr>
          <p:cNvPr id="2007" name="Google Shape;2007;p58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Peer-to-peer invites; viral coefficient ~1.2x per active user</a:t>
            </a:r>
            <a:r>
              <a:rPr lang="en"/>
              <a:t/>
            </a:r>
            <a:endParaRPr/>
          </a:p>
        </p:txBody>
      </p:sp>
      <p:sp>
        <p:nvSpPr>
          <p:cNvPr id="2008" name="Google Shape;2008;p58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PARTNERS — 15%</a:t>
            </a:r>
            <a:endParaRPr/>
          </a:p>
        </p:txBody>
      </p:sp>
      <p:sp>
        <p:nvSpPr>
          <p:cNvPr id="2009" name="Google Shape;2009;p58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boards, professional networks and community integrations</a:t>
            </a:r>
            <a:r>
              <a:rPr lang="en"/>
              <a:t/>
            </a:r>
            <a:endParaRPr/>
          </a:p>
        </p:txBody>
      </p:sp>
      <p:sp>
        <p:nvSpPr>
          <p:cNvPr id="2010" name="Google Shape;2010;p58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— 25%</a:t>
            </a:r>
            <a:endParaRPr/>
          </a:p>
        </p:txBody>
      </p:sp>
      <p:sp>
        <p:nvSpPr>
          <p:cNvPr id="2011" name="Google Shape;2011;p58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reports &amp; benchmarking data drive organic search and shares</a:t>
            </a:r>
            <a:endParaRPr/>
          </a:p>
        </p:txBody>
      </p:sp>
      <p:sp>
        <p:nvSpPr>
          <p:cNvPr id="2012" name="Google Shape;2012;p58"/>
          <p:cNvSpPr/>
          <p:nvPr/>
        </p:nvSpPr>
        <p:spPr>
          <a:xfrm>
            <a:off x="1297975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58"/>
          <p:cNvSpPr/>
          <p:nvPr/>
        </p:nvSpPr>
        <p:spPr>
          <a:xfrm>
            <a:off x="3189850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58"/>
          <p:cNvSpPr/>
          <p:nvPr/>
        </p:nvSpPr>
        <p:spPr>
          <a:xfrm>
            <a:off x="6973625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58"/>
          <p:cNvSpPr/>
          <p:nvPr/>
        </p:nvSpPr>
        <p:spPr>
          <a:xfrm>
            <a:off x="5081738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6" name="Google Shape;2016;p58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017" name="Google Shape;2017;p58"/>
          <p:cNvSpPr/>
          <p:nvPr/>
        </p:nvSpPr>
        <p:spPr>
          <a:xfrm>
            <a:off x="5304069" y="2258977"/>
            <a:ext cx="427722" cy="427305"/>
          </a:xfrm>
          <a:custGeom>
            <a:rect b="b" l="l" r="r" t="t"/>
            <a:pathLst>
              <a:path extrusionOk="0" h="11253" w="11264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8" name="Google Shape;2018;p58"/>
          <p:cNvGrpSpPr/>
          <p:nvPr/>
        </p:nvGrpSpPr>
        <p:grpSpPr>
          <a:xfrm>
            <a:off x="7204132" y="2277037"/>
            <a:ext cx="409193" cy="391194"/>
            <a:chOff x="7441465" y="2302860"/>
            <a:chExt cx="342192" cy="327140"/>
          </a:xfrm>
        </p:grpSpPr>
        <p:sp>
          <p:nvSpPr>
            <p:cNvPr id="2019" name="Google Shape;2019;p58"/>
            <p:cNvSpPr/>
            <p:nvPr/>
          </p:nvSpPr>
          <p:spPr>
            <a:xfrm>
              <a:off x="7441465" y="2337727"/>
              <a:ext cx="299862" cy="292273"/>
            </a:xfrm>
            <a:custGeom>
              <a:rect b="b" l="l" r="r" t="t"/>
              <a:pathLst>
                <a:path extrusionOk="0" h="9204" w="9443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7484588" y="2302860"/>
              <a:ext cx="299069" cy="293130"/>
            </a:xfrm>
            <a:custGeom>
              <a:rect b="b" l="l" r="r" t="t"/>
              <a:pathLst>
                <a:path extrusionOk="0" h="9231" w="9418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1" name="Google Shape;2021;p58"/>
          <p:cNvGrpSpPr/>
          <p:nvPr/>
        </p:nvGrpSpPr>
        <p:grpSpPr>
          <a:xfrm>
            <a:off x="1510148" y="2249004"/>
            <a:ext cx="448077" cy="447242"/>
            <a:chOff x="1421638" y="4125629"/>
            <a:chExt cx="374709" cy="374010"/>
          </a:xfrm>
        </p:grpSpPr>
        <p:sp>
          <p:nvSpPr>
            <p:cNvPr id="2022" name="Google Shape;2022;p58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58"/>
          <p:cNvGrpSpPr/>
          <p:nvPr/>
        </p:nvGrpSpPr>
        <p:grpSpPr>
          <a:xfrm>
            <a:off x="3420343" y="2252224"/>
            <a:ext cx="411433" cy="440824"/>
            <a:chOff x="4149138" y="4121151"/>
            <a:chExt cx="344065" cy="368644"/>
          </a:xfrm>
        </p:grpSpPr>
        <p:sp>
          <p:nvSpPr>
            <p:cNvPr id="2025" name="Google Shape;2025;p58"/>
            <p:cNvSpPr/>
            <p:nvPr/>
          </p:nvSpPr>
          <p:spPr>
            <a:xfrm>
              <a:off x="4205853" y="4182724"/>
              <a:ext cx="225746" cy="307071"/>
            </a:xfrm>
            <a:custGeom>
              <a:rect b="b" l="l" r="r" t="t"/>
              <a:pathLst>
                <a:path extrusionOk="0" h="9670" w="7109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4444777" y="4287484"/>
              <a:ext cx="48426" cy="11400"/>
            </a:xfrm>
            <a:custGeom>
              <a:rect b="b" l="l" r="r" t="t"/>
              <a:pathLst>
                <a:path extrusionOk="0" h="359" w="1525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4149138" y="4287484"/>
              <a:ext cx="48426" cy="11400"/>
            </a:xfrm>
            <a:custGeom>
              <a:rect b="b" l="l" r="r" t="t"/>
              <a:pathLst>
                <a:path extrusionOk="0" h="359" w="1525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4315471" y="4121151"/>
              <a:ext cx="11400" cy="48045"/>
            </a:xfrm>
            <a:custGeom>
              <a:rect b="b" l="l" r="r" t="t"/>
              <a:pathLst>
                <a:path extrusionOk="0" h="1513" w="359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4378632" y="4159575"/>
              <a:ext cx="22705" cy="27754"/>
            </a:xfrm>
            <a:custGeom>
              <a:rect b="b" l="l" r="r" t="t"/>
              <a:pathLst>
                <a:path extrusionOk="0" h="874" w="715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4240243" y="4399103"/>
              <a:ext cx="22705" cy="27563"/>
            </a:xfrm>
            <a:custGeom>
              <a:rect b="b" l="l" r="r" t="t"/>
              <a:pathLst>
                <a:path extrusionOk="0" h="868" w="715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4240243" y="4159130"/>
              <a:ext cx="22705" cy="28198"/>
            </a:xfrm>
            <a:custGeom>
              <a:rect b="b" l="l" r="r" t="t"/>
              <a:pathLst>
                <a:path extrusionOk="0" h="888" w="715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4378632" y="4399230"/>
              <a:ext cx="22705" cy="28198"/>
            </a:xfrm>
            <a:custGeom>
              <a:rect b="b" l="l" r="r" t="t"/>
              <a:pathLst>
                <a:path extrusionOk="0" h="888" w="715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4426264" y="4351851"/>
              <a:ext cx="29532" cy="21117"/>
            </a:xfrm>
            <a:custGeom>
              <a:rect b="b" l="l" r="r" t="t"/>
              <a:pathLst>
                <a:path extrusionOk="0" h="665" w="93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4186196" y="4213463"/>
              <a:ext cx="29500" cy="21117"/>
            </a:xfrm>
            <a:custGeom>
              <a:rect b="b" l="l" r="r" t="t"/>
              <a:pathLst>
                <a:path extrusionOk="0" h="665" w="929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4425883" y="4213590"/>
              <a:ext cx="29913" cy="21371"/>
            </a:xfrm>
            <a:custGeom>
              <a:rect b="b" l="l" r="r" t="t"/>
              <a:pathLst>
                <a:path extrusionOk="0" h="673" w="942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4186196" y="4351978"/>
              <a:ext cx="29500" cy="21371"/>
            </a:xfrm>
            <a:custGeom>
              <a:rect b="b" l="l" r="r" t="t"/>
              <a:pathLst>
                <a:path extrusionOk="0" h="673" w="929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59"/>
          <p:cNvSpPr txBox="1"/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$70K</a:t>
            </a:r>
            <a:endParaRPr/>
          </a:p>
        </p:txBody>
      </p:sp>
      <p:sp>
        <p:nvSpPr>
          <p:cNvPr id="2042" name="Google Shape;2042;p59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revenue run-rate at Month 12 — break-even</a:t>
            </a:r>
            <a:endParaRPr/>
          </a:p>
        </p:txBody>
      </p:sp>
      <p:sp>
        <p:nvSpPr>
          <p:cNvPr id="2043" name="Google Shape;2043;p59"/>
          <p:cNvSpPr txBox="1"/>
          <p:nvPr>
            <p:ph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$450K</a:t>
            </a:r>
            <a:endParaRPr/>
          </a:p>
        </p:txBody>
      </p:sp>
      <p:sp>
        <p:nvSpPr>
          <p:cNvPr id="2044" name="Google Shape;2044;p59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revenue run-rate at Month 24</a:t>
            </a:r>
            <a:endParaRPr/>
          </a:p>
        </p:txBody>
      </p:sp>
      <p:sp>
        <p:nvSpPr>
          <p:cNvPr id="2045" name="Google Shape;2045;p59"/>
          <p:cNvSpPr txBox="1"/>
          <p:nvPr>
            <p:ph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$1.8M</a:t>
            </a:r>
            <a:endParaRPr/>
          </a:p>
        </p:txBody>
      </p:sp>
      <p:sp>
        <p:nvSpPr>
          <p:cNvPr id="2046" name="Google Shape;2046;p59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revenue run-rate at Month 36</a:t>
            </a:r>
            <a:endParaRPr/>
          </a:p>
        </p:txBody>
      </p:sp>
      <p:cxnSp>
        <p:nvCxnSpPr>
          <p:cNvPr id="2047" name="Google Shape;2047;p59"/>
          <p:cNvCxnSpPr/>
          <p:nvPr/>
        </p:nvCxnSpPr>
        <p:spPr>
          <a:xfrm>
            <a:off x="8843800" y="392547"/>
            <a:ext cx="0" cy="435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61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INVESTORS ARE BACKING GREYIN</a:t>
            </a:r>
            <a:endParaRPr/>
          </a:p>
        </p:txBody>
      </p:sp>
      <p:cxnSp>
        <p:nvCxnSpPr>
          <p:cNvPr id="2071" name="Google Shape;2071;p6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072" name="Google Shape;2072;p61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PRODUCTION-READY</a:t>
            </a:r>
            <a:endParaRPr/>
          </a:p>
        </p:txBody>
      </p:sp>
      <p:sp>
        <p:nvSpPr>
          <p:cNvPr id="2073" name="Google Shape;2073;p61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110+ features shipped, live today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2074" name="Google Shape;2074;p61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MOAT</a:t>
            </a:r>
            <a:endParaRPr/>
          </a:p>
        </p:txBody>
      </p:sp>
      <p:sp>
        <p:nvSpPr>
          <p:cNvPr id="2075" name="Google Shape;2075;p61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scoring — hard to copy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61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DIVERSIFIED REVENUE</a:t>
            </a:r>
            <a:endParaRPr/>
          </a:p>
        </p:txBody>
      </p:sp>
      <p:sp>
        <p:nvSpPr>
          <p:cNvPr id="2077" name="Google Shape;2077;p61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Subscriptions + marketplace + B2B</a:t>
            </a:r>
            <a:endParaRPr/>
          </a:p>
        </p:txBody>
      </p:sp>
      <p:sp>
        <p:nvSpPr>
          <p:cNvPr id="2078" name="Google Shape;2078;p61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CAPITAL-EFFICIENT INFRA</a:t>
            </a:r>
            <a:endParaRPr/>
          </a:p>
        </p:txBody>
      </p:sp>
      <p:sp>
        <p:nvSpPr>
          <p:cNvPr id="2079" name="Google Shape;2079;p61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Self-hosted, under $50/mo today</a:t>
            </a:r>
            <a:endParaRPr/>
          </a:p>
        </p:txBody>
      </p:sp>
      <p:sp>
        <p:nvSpPr>
          <p:cNvPr id="2080" name="Google Shape;2080;p61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INDIA COST ADVANTAGE</a:t>
            </a:r>
            <a:endParaRPr/>
          </a:p>
        </p:txBody>
      </p:sp>
      <p:sp>
        <p:nvSpPr>
          <p:cNvPr id="2081" name="Google Shape;2081;p61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~2-3x lower engineering cost</a:t>
            </a:r>
            <a:r>
              <a:rPr lang="en"/>
              <a:t/>
            </a:r>
            <a:endParaRPr/>
          </a:p>
        </p:txBody>
      </p:sp>
      <p:sp>
        <p:nvSpPr>
          <p:cNvPr id="2082" name="Google Shape;2082;p61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TO PROFITABILITY</a:t>
            </a:r>
            <a:endParaRPr/>
          </a:p>
        </p:txBody>
      </p:sp>
      <p:sp>
        <p:nvSpPr>
          <p:cNvPr id="2083" name="Google Shape;2083;p61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Break-even at 5K users (M12)</a:t>
            </a:r>
            <a:endParaRPr/>
          </a:p>
        </p:txBody>
      </p:sp>
      <p:cxnSp>
        <p:nvCxnSpPr>
          <p:cNvPr id="2084" name="Google Shape;2084;p61"/>
          <p:cNvCxnSpPr/>
          <p:nvPr/>
        </p:nvCxnSpPr>
        <p:spPr>
          <a:xfrm>
            <a:off x="1218450" y="3138821"/>
            <a:ext cx="670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62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login, one verified identity, six connected products — every pillar feeds real signal into a single Greyin Score.</a:t>
            </a:r>
            <a:endParaRPr/>
          </a:p>
        </p:txBody>
      </p:sp>
      <p:sp>
        <p:nvSpPr>
          <p:cNvPr id="2090" name="Google Shape;2090;p62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DeepEdge — enterprise hiring &amp; peer-verified salary benchmarking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FlexPro — freelance gig marketplace &amp; paid mentorship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StackWorks — collaborative projects with a verified track record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Salt &amp; Pepper — senior peer community &amp; industry insights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GreyMatters — reputation-building technical blog, AI-scored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Longlist — quiet, future-dated recruiting pipeline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1" name="Google Shape;2091;p62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SOLUTION: SIX INTEGRATED PILLARS</a:t>
            </a:r>
            <a:endParaRPr/>
          </a:p>
        </p:txBody>
      </p:sp>
      <p:cxnSp>
        <p:nvCxnSpPr>
          <p:cNvPr id="2092" name="Google Shape;2092;p6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68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160" name="Google Shape;2160;p68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Let's talk.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founders@greyin.net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greyin.net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1" name="Google Shape;2161;p68"/>
          <p:cNvCxnSpPr/>
          <p:nvPr/>
        </p:nvCxnSpPr>
        <p:spPr>
          <a:xfrm>
            <a:off x="1013400" y="14887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162" name="Google Shape;2162;p68"/>
          <p:cNvSpPr txBox="1"/>
          <p:nvPr/>
        </p:nvSpPr>
        <p:spPr>
          <a:xfrm>
            <a:off x="894900" y="4196425"/>
            <a:ext cx="30000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Please keep this slide for attribution.</a:t>
            </a:r>
            <a:endParaRPr sz="1100">
              <a:solidFill>
                <a:schemeClr val="accen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163" name="Google Shape;2163;p68"/>
          <p:cNvCxnSpPr/>
          <p:nvPr/>
        </p:nvCxnSpPr>
        <p:spPr>
          <a:xfrm>
            <a:off x="1013400" y="345807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164" name="Google Shape;2164;p68"/>
          <p:cNvSpPr/>
          <p:nvPr/>
        </p:nvSpPr>
        <p:spPr>
          <a:xfrm>
            <a:off x="1013409" y="2776274"/>
            <a:ext cx="345674" cy="346056"/>
          </a:xfrm>
          <a:custGeom>
            <a:rect b="b" l="l" r="r" t="t"/>
            <a:pathLst>
              <a:path extrusionOk="0" h="10872" w="1086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5" name="Google Shape;2165;p68"/>
          <p:cNvGrpSpPr/>
          <p:nvPr/>
        </p:nvGrpSpPr>
        <p:grpSpPr>
          <a:xfrm>
            <a:off x="1462881" y="2776274"/>
            <a:ext cx="346056" cy="345674"/>
            <a:chOff x="3303268" y="3817349"/>
            <a:chExt cx="346056" cy="345674"/>
          </a:xfrm>
        </p:grpSpPr>
        <p:sp>
          <p:nvSpPr>
            <p:cNvPr id="2166" name="Google Shape;2166;p68"/>
            <p:cNvSpPr/>
            <p:nvPr/>
          </p:nvSpPr>
          <p:spPr>
            <a:xfrm>
              <a:off x="330326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8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8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8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0" name="Google Shape;2170;p68"/>
          <p:cNvGrpSpPr/>
          <p:nvPr/>
        </p:nvGrpSpPr>
        <p:grpSpPr>
          <a:xfrm>
            <a:off x="1911970" y="2776274"/>
            <a:ext cx="346056" cy="345674"/>
            <a:chOff x="3752358" y="3817349"/>
            <a:chExt cx="346056" cy="345674"/>
          </a:xfrm>
        </p:grpSpPr>
        <p:sp>
          <p:nvSpPr>
            <p:cNvPr id="2171" name="Google Shape;2171;p68"/>
            <p:cNvSpPr/>
            <p:nvPr/>
          </p:nvSpPr>
          <p:spPr>
            <a:xfrm>
              <a:off x="375235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8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8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8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