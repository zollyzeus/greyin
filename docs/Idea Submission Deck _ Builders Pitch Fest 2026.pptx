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Lst>
  <p:sldSz cx="9144000" cy="51435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presProps" Target="presProps.xml"/><Relationship Id="rId2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~20s.  Opening line, not the feature list.</a:t>
            </a:r>
          </a:p>
          <a:p>
            <a:r>
              <a:t>SAY: "Greyin is the trust and verification layer for hiring experienced talent - the people keyword-ATS filters out."</a:t>
            </a:r>
          </a:p>
          <a:p>
            <a:r>
              <a:t>FRAME for the whole pitch: one platform, 6 features, 3 of them revenue lines, all feeding ONE score employers pay to search against.</a:t>
            </a:r>
          </a:p>
          <a:p>
            <a:r>
              <a:t>Don't read the URL - it's live, offer a walkthrough later.</a:t>
            </a:r>
          </a:p>
          <a:p>
            <a:r>
              <a:t>NEXT: "Start with why this problem exists."</a:t>
            </a:r>
          </a:p>
          <a:p/>
          <a:p/>
          <a:p>
            <a:r>
              <a:t>==================================================</a:t>
            </a:r>
          </a:p>
          <a:p>
            <a:r>
              <a:t>SHORT VIDEO SUBMISSION -- use the deck as your teleprompter</a:t>
            </a:r>
          </a:p>
          <a:p>
            <a:r>
              <a:t>Recording path: Slide 1 -&gt; 2 -&gt; 9 -&gt; 11 -&gt; 13 (each holds one script part).</a:t>
            </a:r>
          </a:p>
          <a:p>
            <a:r>
              <a:t>Format: to camera, eye-level, window light in front, mic close. Record each part separately and stitch. Target 2:15-2:45.</a:t>
            </a:r>
          </a:p>
          <a:p>
            <a:r>
              <a:t>--------------------------------------------------</a:t>
            </a:r>
          </a:p>
          <a:p>
            <a:r>
              <a:t>PART 1 of 4 -- What you're building   (~0:40)</a:t>
            </a:r>
          </a:p>
          <a:p/>
          <a:p>
            <a:r>
              <a:t>"Every year, millions of experienced professionals -- people with 12, 20, 30 years behind them -- get filtered out of hiring by keyword-matching software, or made redundant in a restructuring. Not because they stopped being good at the work. Because nothing proves the work at scale.</a:t>
            </a:r>
          </a:p>
          <a:p/>
          <a:p>
            <a:r>
              <a:t>I'm Anand Rajendran, and I'm building Greyin -- an AI-native trust and verification layer for hiring experienced talent.</a:t>
            </a:r>
          </a:p>
          <a:p/>
          <a:p>
            <a:r>
              <a:t>It's one platform with six connected features and a single verified identity. Every real interaction on it -- a delivered project, a genuine review, a completed engagement -- becomes part of a portable, audited trust score that employers can actually search against. Three of those features are how we earn revenue, billed straight to the corporate employer. The rest exist to keep the score honest."</a:t>
            </a:r>
          </a:p>
          <a:p/>
          <a:p>
            <a:r>
              <a:t>[on-screen: title lockup / quick pan of the 6 live apps]</a:t>
            </a:r>
          </a:p>
          <a:p>
            <a:r>
              <a:t>--------------------------------------------------</a:t>
            </a:r>
          </a:p>
          <a:p>
            <a:r>
              <a:t>60-SECOND CUTDOWN (the whole video, if you need the short version):</a:t>
            </a:r>
          </a:p>
          <a:p/>
          <a:p>
            <a:r>
              <a:t>"Millions of experienced professionals get filtered out of hiring by keyword software, or cut in a restructuring -- not for lack of skill, but because nothing proves the skill at scale.</a:t>
            </a:r>
          </a:p>
          <a:p>
            <a:r>
              <a:t>I'm Anand Rajendran. I'm building Greyin -- an AI-native trust and verification layer for hiring experienced talent. One platform, six connected features, one verified identity. Every real interaction becomes part of a portable, audited trust score that employers pay to search.</a:t>
            </a:r>
          </a:p>
          <a:p>
            <a:r>
              <a:t>I hit this wall myself: thirteen years in automotive verification, then re-entering the job market with a resume upload as my only proof.</a:t>
            </a:r>
          </a:p>
          <a:p>
            <a:r>
              <a:t>The vision is a verified track record as portable infrastructure -- like a credit score, but earned from real work and owned by you. The platform is built and live; six AI systems in production, a security audit closed.</a:t>
            </a:r>
          </a:p>
          <a:p>
            <a:r>
              <a:t>The gap now is commercial -- enterprise pilots, HR and L&amp;D introductions, venture-building rigor. That's why BITSoM Vertex."</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~40s.  Problem + origin, kept short - depth is on the next two slides.</a:t>
            </a:r>
          </a:p>
          <a:p>
            <a:r>
              <a:t>SAY (problem in one breath): senior professionals, 12+ years, get filtered out by keyword ATS and crowded hiring platforms, and made redundant by restructuring - not for lack of skill, but because nothing proves the skill at scale.</a:t>
            </a:r>
          </a:p>
          <a:p>
            <a:r>
              <a:t>SAY (origin, credibility hook): I hit this wall myself re-entering the market; and building each feature as its own product I watched "verified" mean nothing.</a:t>
            </a:r>
          </a:p>
          <a:p>
            <a:r>
              <a:t>Keep it personal, don't linger.</a:t>
            </a:r>
          </a:p>
          <a:p/>
          <a:p/>
          <a:p>
            <a:r>
              <a:t>==================================================</a:t>
            </a:r>
          </a:p>
          <a:p>
            <a:r>
              <a:t>SHORT VIDEO -- PART 2 of 4 -- What inspired you   (~0:35)</a:t>
            </a:r>
          </a:p>
          <a:p/>
          <a:p>
            <a:r>
              <a:t>"This came from hitting the wall myself. I spent thirteen years in automotive embedded systems, most of it in verification and validation -- the discipline of proving that safety-critical software does exactly what its spec claims. Then I pivoted into full-stack and AI, and re-entered the job market as a senior candidate.</a:t>
            </a:r>
          </a:p>
          <a:p/>
          <a:p>
            <a:r>
              <a:t>A decade of real work, and a resume upload was the only proof anyone would look at. Meanwhile, every product I built along the way had the same flaw -- 'verified' meant nothing; it was a self-reported checkbox. So I started building the layer that would actually check."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~50s.</a:t>
            </a:r>
          </a:p>
          <a:p>
            <a:r>
              <a:t>TWO audiences: the professional (no way to prove a track record short of a reference call) and the employer (can't tell a Verified Expert from a well-formatted resume until deep into interviews).</a:t>
            </a:r>
          </a:p>
          <a:p>
            <a:r>
              <a:t>LAND the evidence: this isn't a survey - every feature we launched with a self-reported trust signal had to be re-audited and re-gated to a verified interaction once real usage began. That re-audit IS the market research.</a:t>
            </a:r>
          </a:p>
          <a:p>
            <a:r>
              <a:t>IF ASKED "will employers pay?": the budget already exists - recruiter fees, wasted interview cycles - we redirect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~50s.</a:t>
            </a:r>
          </a:p>
          <a:p>
            <a:r>
              <a:t>BUYER = the corporate employer (hiring manager / TA lead / Head of Talent). Supply side = individual professionals, free.</a:t>
            </a:r>
          </a:p>
          <a:p>
            <a:r>
              <a:t>LAND the 3 distinct budget lines - recruiting spend, workforce-planning spend, L&amp;D/mentorship spend. That's the "not one product" argument.</a:t>
            </a:r>
          </a:p>
          <a:p>
            <a:r>
              <a:t>SIZE: tens of millions of 12+ year professionals in India; multi-billion-dollar enterprise recruiting spend already exists; Longlist's workforce-planning line has no real incumbent.</a:t>
            </a:r>
          </a:p>
          <a:p>
            <a:r>
              <a:t>IF ASKED "TAM?": don't claim one big number - anchor on the three existing budget lines we redirect.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~90s - longest slide, go slow, this is the architecture.</a:t>
            </a:r>
          </a:p>
          <a:p>
            <a:r>
              <a:t>KEY IDEA: 6 features, not 7 products; Greyin Hub is the identity layer, not a feature. Of the 6, 3 are revenue lines (Longlist standalone; Outplacement + Coaching inside existing features). The other 3 generate the verified interactions that feed the Greyin Score - the signal we actually sell.</a:t>
            </a:r>
          </a:p>
          <a:p>
            <a:r>
              <a:t>Walk the table left-to-right ONCE.</a:t>
            </a:r>
          </a:p>
          <a:p>
            <a:r>
              <a:t>NEW LINE to land: the score is explainable - every user sees their own per-feature inputs, evidence counts and weights.</a:t>
            </a:r>
          </a:p>
          <a:p>
            <a:r>
              <a:t>IF ASKED "is the score a black box?": no - transparent Bayesian-shrinkage formula, auditable, and shown to the person it's about.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~70s.  Three beats.</a:t>
            </a:r>
          </a:p>
          <a:p>
            <a:r>
              <a:t>(1) AI is the mechanism that makes "verified" scale past manual review - 6 systems live, 4 on roadmap. Walk the LIVE rows.</a:t>
            </a:r>
          </a:p>
          <a:p>
            <a:r>
              <a:t>(2) Multi-provider by design (Anthropic / OpenAI / self-hosted Ollama), timeout-bounded, fails over automatically - no vendor lock-in, degrades instead of breaking a paying customer.</a:t>
            </a:r>
          </a:p>
          <a:p>
            <a:r>
              <a:t>(3) The "genuine AI, not a wrapper" test: every call changes the data, feeding the next match - a real data network effect.</a:t>
            </a:r>
          </a:p>
          <a:p>
            <a:r>
              <a:t>IF ASKED "which model?": provider-agnostic registry, admin-configurable. The moat is the data, not the model.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~60s.</a:t>
            </a:r>
          </a:p>
          <a:p>
            <a:r>
              <a:t>Name the alternatives fast - LinkedIn, Naukri, Upwork, Toptal, Blind, ADPList - each solves one slice, all treat trust as a self-reported field.</a:t>
            </a:r>
          </a:p>
          <a:p>
            <a:r>
              <a:t>THE TEST for a technical panel: remove the AI - does the product still work? A social network: yes (AI is decorative). Us: Longlist and AI-Verified Search stop existing.</a:t>
            </a:r>
          </a:p>
          <a:p>
            <a:r>
              <a:t>LAND the moat: the verified-interaction graph is only copyable by living years of real usage. We stress-tested this against a parallel AI-generated build - it reproduced the screens, not the audited trust layer.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~70s.  Three tiers, three budgets, three buyers - do NOT blur them.</a:t>
            </a:r>
          </a:p>
          <a:p>
            <a:r>
              <a:t>(1) Outplacement: sales-led, invoiced per head; live intake + admin triage.</a:t>
            </a:r>
          </a:p>
          <a:p>
            <a:r>
              <a:t>(2) Coaching: experts sell sessions / cohorts / packages; real Razorpay checkout live; we take a platform commission.</a:t>
            </a:r>
          </a:p>
          <a:p>
            <a:r>
              <a:t>(3) Longlist: enterprise add-on to the live DeepEdge hiring subscription; workforce-planning budget; no incumbent.</a:t>
            </a:r>
          </a:p>
          <a:p>
            <a:r>
              <a:t>AI capability is the explicit upsell lever across all three. Individuals stay free - supply must be unrestricted for the score to stay credible.</a:t>
            </a:r>
          </a:p>
          <a:p>
            <a:r>
              <a:t>GTM: direct enterprise outreach for 1 &amp; 2; Longlist as the wedge into a full contract; community + referral as the free acquisition engine.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~60s.</a:t>
            </a:r>
          </a:p>
          <a:p>
            <a:r>
              <a:t>FRAME: everything is already built and live - pre-launch on purpose while the trust/security layer was hardened (38-finding audit closed) and competitive parity closed. The roadmap is monetization, not "build the product".</a:t>
            </a:r>
          </a:p>
          <a:p>
            <a:r>
              <a:t>Walk the phases: hardening (done) -&gt; closed pilot (3-5 design partners, first LOIs) -&gt; public launch -&gt; Year 1 ~50 paying employers -&gt; Year 2 enterprise contracts -&gt; Year 3 unit economics + Series A readiness.</a:t>
            </a:r>
          </a:p>
          <a:p>
            <a:r>
              <a:t>THE ASK: design-partner employers, enterprise-sales expertise, infra only when real load justifies it.</a:t>
            </a:r>
          </a:p>
          <a:p/>
          <a:p/>
          <a:p>
            <a:r>
              <a:t>==================================================</a:t>
            </a:r>
          </a:p>
          <a:p>
            <a:r>
              <a:t>SHORT VIDEO -- PART 3 of 4 -- Long-term vision   (~0:40)</a:t>
            </a:r>
          </a:p>
          <a:p/>
          <a:p>
            <a:r>
              <a:t>"The long-term vision is that a verified track record becomes portable infrastructure -- the way a credit score is, but earned from real work instead of debt, transparent instead of a black box, and owned by the person it describes.</a:t>
            </a:r>
          </a:p>
          <a:p/>
          <a:p>
            <a:r>
              <a:t>If Greyin works: an employer anywhere can search for a genuinely verified expert and trust the result. A professional carries their proven reputation between platforms instead of rebuilding it every time. And anticipatory hiring -- matching people to roles that don't exist publicly yet -- becomes normal, because the trust signal underneath it is finally reliable.</a:t>
            </a:r>
          </a:p>
          <a:p/>
          <a:p>
            <a:r>
              <a:t>The whole platform is already built and live -- six features, six AI systems in production, a full security audit closed. What's left is turning that into a business."</a:t>
            </a:r>
          </a:p>
          <a:p/>
          <a:p>
            <a:r>
              <a:t>[on-screen: 3-5s screen capture of the live platform / a profile showing the Greyin Score breakdown]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~60s.  Own "solo founder" as a strength.</a:t>
            </a:r>
          </a:p>
          <a:p>
            <a:r>
              <a:t>13+ years in automotive embedded, most of it in V&amp;V - literally the discipline of proving software does what it claims - then 2+ years full-stack/AI after a deliberate pivot. Greyin is that same verification discipline aimed at professional trust.</a:t>
            </a:r>
          </a:p>
          <a:p>
            <a:r>
              <a:t>CREDIBILITY: built and run all 7 apps solo; 6 live AI systems; self-run production; 38-finding security audit closed and individually verified; feature-by-feature teardown vs a parallel AI build.</a:t>
            </a:r>
          </a:p>
          <a:p>
            <a:r>
              <a:t>IF ASKED "solo - can you scale a team?": ran 3-4x V&amp;V team ramp-ups at Stellantis. Done it before.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~30s.  This is the ask - short and confident.</a:t>
            </a:r>
          </a:p>
          <a:p>
            <a:r>
              <a:t>SAY: the build is done; the gap is commercial. Vertex gives exactly what's missing - venture-building rigor, enterprise pilot pathways, warm intros to the HR/L&amp;D buyers we sell to, investor access.</a:t>
            </a:r>
          </a:p>
          <a:p>
            <a:r>
              <a:t>The blocker to a first paying enterprise cohort isn't engineering - it's getting into those rooms.</a:t>
            </a:r>
          </a:p>
          <a:p/>
          <a:p/>
          <a:p>
            <a:r>
              <a:t>==================================================</a:t>
            </a:r>
          </a:p>
          <a:p>
            <a:r>
              <a:t>SHORT VIDEO -- PART 4 of 4 -- Why this program   (~0:25)</a:t>
            </a:r>
          </a:p>
          <a:p/>
          <a:p>
            <a:r>
              <a:t>"And that's exactly why BITSoM Vertex. The engineering is done; the gap is commercial. I need venture-building rigor, warm introductions to the HR and L&amp;D buyers Greyin sells to, and the enterprise pilot pathways this program is built to provide. That's the piece I can't build alone -- and it's the piece Vertex does best."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~20s.  Don't read the links.</a:t>
            </a:r>
          </a:p>
          <a:p>
            <a:r>
              <a:t>SAY: the full platform is live and reachable today - all 6 features plus the Hub. Happy to give judges a guided walkthrough or demo-account access right after this.</a:t>
            </a:r>
          </a:p>
          <a:p>
            <a:r>
              <a:t>Demo video on request. Private repo; architecture walkthrough available.</a:t>
            </a:r>
          </a:p>
          <a:p>
            <a:r>
              <a:t>Point to the contact line. Transition to close.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~15s.  Close.</a:t>
            </a:r>
          </a:p>
          <a:p>
            <a:r>
              <a:t>ONE sentence to leave them with: "Greyin turns real work into portable, verified trust - and sells that signal to the employers who need it most."</a:t>
            </a:r>
          </a:p>
          <a:p>
            <a:r>
              <a:t>Invite questions. Keep the live platform open in another tab for any "show me" request.</a:t>
            </a:r>
          </a:p>
          <a:p/>
          <a:p/>
          <a:p>
            <a:r>
              <a:t>==================================================</a:t>
            </a:r>
          </a:p>
          <a:p>
            <a:r>
              <a:t>SHORT VIDEO -- SIGN-OFF   (~0:10)</a:t>
            </a:r>
          </a:p>
          <a:p/>
          <a:p>
            <a:r>
              <a:t>"I'm Anand. This is Greyin. Thanks for watching."</a:t>
            </a:r>
          </a:p>
          <a:p/>
          <a:p>
            <a:r>
              <a:t>(Optional tie-back to the pitch close: "real work into portable, verified trust -- sold to the employers who need it most.")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1"/>
          </p:nvPr>
        </p:nvSpPr>
        <p:spPr/>
        <p:txBody>
          <a:bodyPr/>
          <a:p>
            <a:fld id="{F4D79F17-7E45-4C61-A261-8576F73A4FEB}"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7CECDA4A-6633-4160-B1C6-39BE3CD2D3DD}"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716B578A-3848-435E-BA6A-66977DAE7506}"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7CEE780F-D8C2-4490-AD4D-60296845571E}"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3"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sldNum" idx="5"/>
          </p:nvPr>
        </p:nvSpPr>
        <p:spPr/>
        <p:txBody>
          <a:bodyPr/>
          <a:p>
            <a:fld id="{2BC29E73-6FB3-484E-B839-C1DD36A715FB}"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9"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0"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sldNum" idx="6"/>
          </p:nvPr>
        </p:nvSpPr>
        <p:spPr/>
        <p:txBody>
          <a:bodyPr/>
          <a:p>
            <a:fld id="{470A9D9A-D5BB-4256-A48C-8CB1A1EE9072}"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sldNum" idx="7"/>
          </p:nvPr>
        </p:nvSpPr>
        <p:spPr/>
        <p:txBody>
          <a:bodyPr/>
          <a:p>
            <a:fld id="{AFADBCFE-8178-4881-B4D3-06875C51E3F3}"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spTree>
      <p:nvGrpSpPr>
        <p:cNvPr id="1" name=""/>
        <p:cNvGrpSpPr/>
        <p:nvPr/>
      </p:nvGrpSpPr>
      <p:grpSpPr>
        <a:xfrm>
          <a:off x="0" y="0"/>
          <a:ext cx="0" cy="0"/>
          <a:chOff x="0" y="0"/>
          <a:chExt cx="0" cy="0"/>
        </a:xfrm>
      </p:grpSpPr>
      <p:sp>
        <p:nvSpPr>
          <p:cNvPr id="2" name="PlaceHolder 1"/>
          <p:cNvSpPr>
            <a:spLocks noGrp="1"/>
          </p:cNvSpPr>
          <p:nvPr>
            <p:ph type="sldNum" idx="8"/>
          </p:nvPr>
        </p:nvSpPr>
        <p:spPr/>
        <p:txBody>
          <a:bodyPr/>
          <a:p>
            <a:fld id="{A9985E24-82D7-4377-9DAA-2C14D06A994F}"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spTree>
      <p:nvGrpSpPr>
        <p:cNvPr id="1" name=""/>
        <p:cNvGrpSpPr/>
        <p:nvPr/>
      </p:nvGrpSpPr>
      <p:grpSpPr>
        <a:xfrm>
          <a:off x="0" y="0"/>
          <a:ext cx="0" cy="0"/>
          <a:chOff x="0" y="0"/>
          <a:chExt cx="0" cy="0"/>
        </a:xfrm>
      </p:grpSpPr>
      <p:sp>
        <p:nvSpPr>
          <p:cNvPr id="2" name="PlaceHolder 1"/>
          <p:cNvSpPr>
            <a:spLocks noGrp="1"/>
          </p:cNvSpPr>
          <p:nvPr>
            <p:ph type="sldNum" idx="9"/>
          </p:nvPr>
        </p:nvSpPr>
        <p:spPr/>
        <p:txBody>
          <a:bodyPr/>
          <a:p>
            <a:fld id="{EBEB0880-AB58-4E00-A156-D0CF912BEBD2}"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spTree>
      <p:nvGrpSpPr>
        <p:cNvPr id="1" name=""/>
        <p:cNvGrpSpPr/>
        <p:nvPr/>
      </p:nvGrpSpPr>
      <p:grpSpPr>
        <a:xfrm>
          <a:off x="0" y="0"/>
          <a:ext cx="0" cy="0"/>
          <a:chOff x="0" y="0"/>
          <a:chExt cx="0" cy="0"/>
        </a:xfrm>
      </p:grpSpPr>
      <p:sp>
        <p:nvSpPr>
          <p:cNvPr id="2" name="PlaceHolder 1"/>
          <p:cNvSpPr>
            <a:spLocks noGrp="1"/>
          </p:cNvSpPr>
          <p:nvPr>
            <p:ph type="sldNum" idx="10"/>
          </p:nvPr>
        </p:nvSpPr>
        <p:spPr/>
        <p:txBody>
          <a:bodyPr/>
          <a:p>
            <a:fld id="{763250BA-F4AE-4E23-8DB6-8F91E45ABC28}"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spTree>
      <p:nvGrpSpPr>
        <p:cNvPr id="1" name=""/>
        <p:cNvGrpSpPr/>
        <p:nvPr/>
      </p:nvGrpSpPr>
      <p:grpSpPr>
        <a:xfrm>
          <a:off x="0" y="0"/>
          <a:ext cx="0" cy="0"/>
          <a:chOff x="0" y="0"/>
          <a:chExt cx="0" cy="0"/>
        </a:xfrm>
      </p:grpSpPr>
      <p:sp>
        <p:nvSpPr>
          <p:cNvPr id="2" name="PlaceHolder 1"/>
          <p:cNvSpPr>
            <a:spLocks noGrp="1"/>
          </p:cNvSpPr>
          <p:nvPr>
            <p:ph type="sldNum" idx="11"/>
          </p:nvPr>
        </p:nvSpPr>
        <p:spPr/>
        <p:txBody>
          <a:bodyPr/>
          <a:p>
            <a:fld id="{F953E2FE-BE54-4AA1-AB3C-A822411BA2CF}" type="slidenum">
              <a:t>&lt;#&gt;</a:t>
            </a:fld>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sldNum" idx="1"/>
          </p:nvPr>
        </p:nvSpPr>
        <p:spPr>
          <a:xfrm>
            <a:off x="8472600" y="4663080"/>
            <a:ext cx="547560" cy="3924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3AEAF1B1-B2CA-43B5-B303-59C61A40A4FE}" type="slidenum">
              <a:rPr b="0" lang="en-GB"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 name="PlaceHolder 1"/>
          <p:cNvSpPr>
            <a:spLocks noGrp="1"/>
          </p:cNvSpPr>
          <p:nvPr>
            <p:ph type="sldNum" idx="2"/>
          </p:nvPr>
        </p:nvSpPr>
        <p:spPr>
          <a:xfrm>
            <a:off x="8472600" y="4663080"/>
            <a:ext cx="547560" cy="3924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E4819678-3310-4B84-92BB-12262AE217D5}" type="slidenum">
              <a:rPr b="0" lang="en-GB"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 name="PlaceHolder 1"/>
          <p:cNvSpPr>
            <a:spLocks noGrp="1"/>
          </p:cNvSpPr>
          <p:nvPr>
            <p:ph type="sldNum" idx="3"/>
          </p:nvPr>
        </p:nvSpPr>
        <p:spPr>
          <a:xfrm>
            <a:off x="8472600" y="4663080"/>
            <a:ext cx="547560" cy="3924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B479886B-F451-4685-A248-3D40D2C7D8F9}" type="slidenum">
              <a:rPr b="0" lang="en-GB"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
        <p:nvSpPr>
          <p:cNvPr id="6"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7"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 name="PlaceHolder 1"/>
          <p:cNvSpPr>
            <a:spLocks noGrp="1"/>
          </p:cNvSpPr>
          <p:nvPr>
            <p:ph type="sldNum" idx="4"/>
          </p:nvPr>
        </p:nvSpPr>
        <p:spPr>
          <a:xfrm>
            <a:off x="8472600" y="4663080"/>
            <a:ext cx="547560" cy="3924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0B72F409-DD6C-413C-9855-F769C28F53C2}" type="slidenum">
              <a:rPr b="0" lang="en-GB"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0" name="PlaceHolder 2"/>
          <p:cNvSpPr>
            <a:spLocks noGrp="1"/>
          </p:cNvSpPr>
          <p:nvPr>
            <p:ph type="body"/>
          </p:nvPr>
        </p:nvSpPr>
        <p:spPr>
          <a:xfrm>
            <a:off x="457200" y="1203480"/>
            <a:ext cx="8228880" cy="2982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 name="PlaceHolder 3"/>
          <p:cNvSpPr>
            <a:spLocks noGrp="1"/>
          </p:cNvSpPr>
          <p:nvPr>
            <p:ph type="sldNum" idx="5"/>
          </p:nvPr>
        </p:nvSpPr>
        <p:spPr>
          <a:xfrm>
            <a:off x="8472600" y="4663080"/>
            <a:ext cx="547560" cy="3924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417D7425-68FA-4CCE-B813-D73AEE662879}" type="slidenum">
              <a:rPr b="0" lang="en-GB"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5" name="PlaceHolder 2"/>
          <p:cNvSpPr>
            <a:spLocks noGrp="1"/>
          </p:cNvSpPr>
          <p:nvPr>
            <p:ph type="body"/>
          </p:nvPr>
        </p:nvSpPr>
        <p:spPr>
          <a:xfrm>
            <a:off x="457200" y="1203480"/>
            <a:ext cx="4015440" cy="2982600"/>
          </a:xfrm>
          <a:prstGeom prst="rect">
            <a:avLst/>
          </a:prstGeom>
          <a:noFill/>
          <a:ln w="0">
            <a:noFill/>
          </a:ln>
        </p:spPr>
        <p:txBody>
          <a:bodyPr lIns="0" rIns="0" tIns="0" bIns="0" anchor="t">
            <a:normAutofit fontScale="87222"/>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6" name="PlaceHolder 3"/>
          <p:cNvSpPr>
            <a:spLocks noGrp="1"/>
          </p:cNvSpPr>
          <p:nvPr>
            <p:ph type="body"/>
          </p:nvPr>
        </p:nvSpPr>
        <p:spPr>
          <a:xfrm>
            <a:off x="4674240" y="1203480"/>
            <a:ext cx="4015440" cy="2982600"/>
          </a:xfrm>
          <a:prstGeom prst="rect">
            <a:avLst/>
          </a:prstGeom>
          <a:noFill/>
          <a:ln w="0">
            <a:noFill/>
          </a:ln>
        </p:spPr>
        <p:txBody>
          <a:bodyPr lIns="0" rIns="0" tIns="0" bIns="0" anchor="t">
            <a:normAutofit fontScale="87222"/>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 name="PlaceHolder 4"/>
          <p:cNvSpPr>
            <a:spLocks noGrp="1"/>
          </p:cNvSpPr>
          <p:nvPr>
            <p:ph type="sldNum" idx="6"/>
          </p:nvPr>
        </p:nvSpPr>
        <p:spPr>
          <a:xfrm>
            <a:off x="8472600" y="4663080"/>
            <a:ext cx="547560" cy="3924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899EA706-2B32-4390-98C7-BF6FF677EE41}" type="slidenum">
              <a:rPr b="0" lang="en-GB"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a:t>
            </a:r>
            <a:r>
              <a:rPr b="0" lang="en-US" sz="1800" spc="-1" strike="noStrike">
                <a:solidFill>
                  <a:srgbClr val="000000"/>
                </a:solidFill>
                <a:latin typeface="Arial"/>
              </a:rPr>
              <a:t>the title text </a:t>
            </a:r>
            <a:r>
              <a:rPr b="0" lang="en-US" sz="1800" spc="-1" strike="noStrike">
                <a:solidFill>
                  <a:srgbClr val="000000"/>
                </a:solidFill>
                <a:latin typeface="Arial"/>
              </a:rPr>
              <a:t>format</a:t>
            </a:r>
            <a:endParaRPr b="0" lang="en-US" sz="1800" spc="-1" strike="noStrike">
              <a:solidFill>
                <a:srgbClr val="000000"/>
              </a:solidFill>
              <a:latin typeface="Arial"/>
            </a:endParaRPr>
          </a:p>
        </p:txBody>
      </p:sp>
      <p:sp>
        <p:nvSpPr>
          <p:cNvPr id="22" name="PlaceHolder 2"/>
          <p:cNvSpPr>
            <a:spLocks noGrp="1"/>
          </p:cNvSpPr>
          <p:nvPr>
            <p:ph type="sldNum" idx="7"/>
          </p:nvPr>
        </p:nvSpPr>
        <p:spPr>
          <a:xfrm>
            <a:off x="8472600" y="4663080"/>
            <a:ext cx="547560" cy="3924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CBDD0E23-6FFD-46E9-8484-CA6703AA5577}" type="slidenum">
              <a:rPr b="0" lang="en-GB"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4" name="PlaceHolder 1"/>
          <p:cNvSpPr>
            <a:spLocks noGrp="1"/>
          </p:cNvSpPr>
          <p:nvPr>
            <p:ph type="sldNum" idx="8"/>
          </p:nvPr>
        </p:nvSpPr>
        <p:spPr>
          <a:xfrm>
            <a:off x="8472600" y="4663080"/>
            <a:ext cx="547560" cy="3924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121721C3-0BC9-456F-9E19-0A29B87D58B6}" type="slidenum">
              <a:rPr b="0" lang="en-GB"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5" name="PlaceHolder 1"/>
          <p:cNvSpPr>
            <a:spLocks noGrp="1"/>
          </p:cNvSpPr>
          <p:nvPr>
            <p:ph type="sldNum" idx="9"/>
          </p:nvPr>
        </p:nvSpPr>
        <p:spPr>
          <a:xfrm>
            <a:off x="8472600" y="4663080"/>
            <a:ext cx="547560" cy="3924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5914248F-7A3A-47DB-88EE-62545629ACE8}" type="slidenum">
              <a:rPr b="0" lang="en-GB"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6" name="Google Shape;36;p9"/>
          <p:cNvSpPr/>
          <p:nvPr/>
        </p:nvSpPr>
        <p:spPr>
          <a:xfrm>
            <a:off x="4572000" y="0"/>
            <a:ext cx="4570920" cy="5142600"/>
          </a:xfrm>
          <a:prstGeom prst="rect">
            <a:avLst/>
          </a:prstGeom>
          <a:solidFill>
            <a:schemeClr val="lt2"/>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27" name="PlaceHolder 1"/>
          <p:cNvSpPr>
            <a:spLocks noGrp="1"/>
          </p:cNvSpPr>
          <p:nvPr>
            <p:ph type="sldNum" idx="10"/>
          </p:nvPr>
        </p:nvSpPr>
        <p:spPr>
          <a:xfrm>
            <a:off x="8472600" y="4663080"/>
            <a:ext cx="547560" cy="3924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2106BB66-5C34-4739-B7A1-CB9FC0C08404}" type="slidenum">
              <a:rPr b="0" lang="en-GB"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8" name="PlaceHolder 1"/>
          <p:cNvSpPr>
            <a:spLocks noGrp="1"/>
          </p:cNvSpPr>
          <p:nvPr>
            <p:ph type="sldNum" idx="11"/>
          </p:nvPr>
        </p:nvSpPr>
        <p:spPr>
          <a:xfrm>
            <a:off x="8472600" y="4663080"/>
            <a:ext cx="547560" cy="3924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96C1DE9B-1A37-419F-A19C-2537FA3C2FA2}" type="slidenum">
              <a:rPr b="0" lang="en-GB"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hyperlink" Target="https://greyin.net/" TargetMode="External"/><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hyperlink" Target="https://github.com/zollyzeus/greyin" TargetMode="External"/><Relationship Id="rId3" Type="http://schemas.openxmlformats.org/officeDocument/2006/relationships/hyperlink" Target="https://greyin.net/" TargetMode="External"/><Relationship Id="rId4" Type="http://schemas.openxmlformats.org/officeDocument/2006/relationships/hyperlink" Target="https://deepedge.greyin.net/" TargetMode="External"/><Relationship Id="rId5" Type="http://schemas.openxmlformats.org/officeDocument/2006/relationships/hyperlink" Target="https://flexpro.greyin.net/" TargetMode="External"/><Relationship Id="rId6" Type="http://schemas.openxmlformats.org/officeDocument/2006/relationships/hyperlink" Target="https://longlist.greyin.net/" TargetMode="External"/><Relationship Id="rId7" Type="http://schemas.openxmlformats.org/officeDocument/2006/relationships/hyperlink" Target="https://saltnpepper.greyin.net/" TargetMode="External"/><Relationship Id="rId8" Type="http://schemas.openxmlformats.org/officeDocument/2006/relationships/hyperlink" Target="https://stackworks.greyin.net/" TargetMode="External"/><Relationship Id="rId9" Type="http://schemas.openxmlformats.org/officeDocument/2006/relationships/hyperlink" Target="https://greymatters.greyin.net/" TargetMode="External"/><Relationship Id="rId10" Type="http://schemas.openxmlformats.org/officeDocument/2006/relationships/hyperlink" Target="mailto:rajendran.anand@live.com" TargetMode="External"/><Relationship Id="rId11" Type="http://schemas.openxmlformats.org/officeDocument/2006/relationships/hyperlink" Target="https://www.linkedin.com/in/anand4585" TargetMode="External"/><Relationship Id="rId12" Type="http://schemas.openxmlformats.org/officeDocument/2006/relationships/hyperlink" Target="https://anandrajendran.dev/" TargetMode="External"/><Relationship Id="rId13" Type="http://schemas.openxmlformats.org/officeDocument/2006/relationships/slideLayout" Target="../slideLayouts/slideLayout3.xml"/><Relationship Id="rId1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 name="Google Shape;54;p13" descr=""/>
          <p:cNvPicPr/>
          <p:nvPr/>
        </p:nvPicPr>
        <p:blipFill>
          <a:blip r:embed="rId1"/>
          <a:stretch/>
        </p:blipFill>
        <p:spPr>
          <a:xfrm>
            <a:off x="0" y="0"/>
            <a:ext cx="9142920" cy="5142600"/>
          </a:xfrm>
          <a:prstGeom prst="rect">
            <a:avLst/>
          </a:prstGeom>
          <a:ln w="0">
            <a:noFill/>
          </a:ln>
        </p:spPr>
      </p:pic>
      <p:sp>
        <p:nvSpPr>
          <p:cNvPr id="30" name="TextBox 54"/>
          <p:cNvSpPr/>
          <p:nvPr/>
        </p:nvSpPr>
        <p:spPr>
          <a:xfrm>
            <a:off x="699840" y="3300120"/>
            <a:ext cx="7698960" cy="1344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4000" spc="-1" strike="noStrike">
                <a:solidFill>
                  <a:srgbClr val="1f2a44"/>
                </a:solidFill>
                <a:latin typeface="Arial"/>
                <a:ea typeface="Arial"/>
              </a:rPr>
              <a:t>Greyin</a:t>
            </a:r>
            <a:endParaRPr b="0" lang="en-US" sz="4000" spc="-1" strike="noStrike">
              <a:solidFill>
                <a:srgbClr val="000000"/>
              </a:solidFill>
              <a:latin typeface="Arial"/>
            </a:endParaRPr>
          </a:p>
          <a:p>
            <a:pPr>
              <a:lnSpc>
                <a:spcPct val="100000"/>
              </a:lnSpc>
              <a:spcBef>
                <a:spcPts val="601"/>
              </a:spcBef>
            </a:pPr>
            <a:r>
              <a:rPr b="0" lang="en-US" sz="1600" spc="-1" strike="noStrike">
                <a:solidFill>
                  <a:srgbClr val="ec6b3d"/>
                </a:solidFill>
                <a:latin typeface="Arial"/>
                <a:ea typeface="Arial"/>
              </a:rPr>
              <a:t>The AI-native trust and verification layer for hiring experienced talent</a:t>
            </a:r>
            <a:endParaRPr b="0" lang="en-US" sz="1600" spc="-1" strike="noStrike">
              <a:solidFill>
                <a:srgbClr val="000000"/>
              </a:solidFill>
              <a:latin typeface="Arial"/>
            </a:endParaRPr>
          </a:p>
          <a:p>
            <a:pPr>
              <a:lnSpc>
                <a:spcPct val="100000"/>
              </a:lnSpc>
              <a:spcBef>
                <a:spcPts val="1001"/>
              </a:spcBef>
            </a:pPr>
            <a:r>
              <a:rPr b="0" lang="en-US" sz="1300" spc="-1" strike="noStrike">
                <a:solidFill>
                  <a:srgbClr val="555555"/>
                </a:solidFill>
                <a:latin typeface="Arial"/>
                <a:ea typeface="Arial"/>
              </a:rPr>
              <a:t>6 core features | 3 revenue lines | One shared Hub identity | </a:t>
            </a:r>
            <a:r>
              <a:rPr b="0" lang="en-US" sz="1300" spc="-1" strike="noStrike" u="sng">
                <a:solidFill>
                  <a:srgbClr val="0097a7"/>
                </a:solidFill>
                <a:uFillTx/>
                <a:latin typeface="Arial"/>
                <a:ea typeface="Arial"/>
                <a:hlinkClick r:id="rId2"/>
              </a:rPr>
              <a:t>https://greyin.net</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1" name="Google Shape;66;p15" descr=""/>
          <p:cNvPicPr/>
          <p:nvPr/>
        </p:nvPicPr>
        <p:blipFill>
          <a:blip r:embed="rId1"/>
          <a:stretch/>
        </p:blipFill>
        <p:spPr>
          <a:xfrm>
            <a:off x="0" y="0"/>
            <a:ext cx="9142920" cy="5142600"/>
          </a:xfrm>
          <a:prstGeom prst="rect">
            <a:avLst/>
          </a:prstGeom>
          <a:ln w="0">
            <a:noFill/>
          </a:ln>
        </p:spPr>
      </p:pic>
      <p:sp>
        <p:nvSpPr>
          <p:cNvPr id="32" name="Google Shape;67;p15"/>
          <p:cNvSpPr/>
          <p:nvPr/>
        </p:nvSpPr>
        <p:spPr>
          <a:xfrm>
            <a:off x="313560" y="1256760"/>
            <a:ext cx="8704440" cy="3148560"/>
          </a:xfrm>
          <a:prstGeom prst="rect">
            <a:avLst/>
          </a:prstGeom>
          <a:noFill/>
          <a:ln w="0">
            <a:noFill/>
          </a:ln>
        </p:spPr>
        <p:style>
          <a:lnRef idx="0"/>
          <a:fillRef idx="0"/>
          <a:effectRef idx="0"/>
          <a:fontRef idx="minor"/>
        </p:style>
        <p:txBody>
          <a:bodyPr lIns="90000" rIns="90000" tIns="91440" bIns="91440" anchor="t">
            <a:noAutofit/>
          </a:bodyPr>
          <a:p>
            <a:pPr marL="457200" indent="-298440">
              <a:lnSpc>
                <a:spcPct val="115000"/>
              </a:lnSpc>
              <a:spcBef>
                <a:spcPts val="1199"/>
              </a:spcBef>
              <a:spcAft>
                <a:spcPts val="567"/>
              </a:spcAft>
              <a:buClr>
                <a:srgbClr val="000000"/>
              </a:buClr>
              <a:buFont typeface="Arial"/>
              <a:buAutoNum type="arabicPeriod"/>
            </a:pPr>
            <a:r>
              <a:rPr b="1" lang="en-GB" sz="1100" spc="-1" strike="noStrike">
                <a:solidFill>
                  <a:schemeClr val="dk1"/>
                </a:solidFill>
                <a:latin typeface="Arial"/>
                <a:ea typeface="Arial"/>
              </a:rPr>
              <a:t>What problem are you trying to solve</a:t>
            </a:r>
            <a:endParaRPr b="0" lang="en-US" sz="1100" spc="-1" strike="noStrike">
              <a:solidFill>
                <a:srgbClr val="000000"/>
              </a:solidFill>
              <a:latin typeface="Arial"/>
            </a:endParaRPr>
          </a:p>
          <a:p>
            <a:pPr marL="457200" indent="-298440" algn="just">
              <a:lnSpc>
                <a:spcPct val="115000"/>
              </a:lnSpc>
              <a:spcBef>
                <a:spcPts val="567"/>
              </a:spcBef>
              <a:spcAft>
                <a:spcPts val="601"/>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Senior, experienced professionals (12+ years) get lost in over-crowded hiring platforms, filtered out by keyword-matching ATS software, and made redundant by restructuring -- not because they stopped being good at the work, but because nothing proves it at scale. Greyin is a single-identity ecosystem built for senior professionals, where an AI-driven verification and matching layer turns real work -- a completed project, a real review, a real deliverable -- into a portable, audited trust score employers can search against, for hiring and adjacent talent decisions.</a:t>
            </a:r>
            <a:endParaRPr b="0" lang="en-US" sz="1000" spc="-1" strike="noStrike">
              <a:solidFill>
                <a:srgbClr val="000000"/>
              </a:solidFill>
              <a:latin typeface="Arial"/>
            </a:endParaRPr>
          </a:p>
          <a:p>
            <a:pPr marL="457200" indent="-298440">
              <a:lnSpc>
                <a:spcPct val="115000"/>
              </a:lnSpc>
              <a:spcBef>
                <a:spcPts val="283"/>
              </a:spcBef>
              <a:spcAft>
                <a:spcPts val="916"/>
              </a:spcAft>
              <a:buClr>
                <a:srgbClr val="000000"/>
              </a:buClr>
              <a:buFont typeface="Arial"/>
              <a:buAutoNum type="arabicPeriod"/>
              <a:tabLst>
                <a:tab algn="l" pos="0"/>
              </a:tabLst>
            </a:pPr>
            <a:r>
              <a:rPr b="1" lang="en-GB" sz="1100" spc="-1" strike="noStrike">
                <a:solidFill>
                  <a:schemeClr val="dk1"/>
                </a:solidFill>
                <a:latin typeface="Arial"/>
                <a:ea typeface="Arial"/>
              </a:rPr>
              <a:t>What inspired you to work on this problem?</a:t>
            </a:r>
            <a:endParaRPr b="0" lang="en-US" sz="1100" spc="-1" strike="noStrike">
              <a:solidFill>
                <a:srgbClr val="000000"/>
              </a:solidFill>
              <a:latin typeface="Arial"/>
            </a:endParaRPr>
          </a:p>
          <a:p>
            <a:pPr marL="457200" indent="-298440" algn="just">
              <a:lnSpc>
                <a:spcPct val="115000"/>
              </a:lnSpc>
              <a:spcBef>
                <a:spcPts val="283"/>
              </a:spcBef>
              <a:spcAft>
                <a:spcPts val="283"/>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The gap became obvious building each core feature as its own product first: a hiring platform where “verified” meant nothing beyond a resume upload, a freelance marketplace with no real proof of delivery. Manual review doesn't scale past a handful of profiles -- AI is what makes verifying thousands of real interactions, and matching against them accurately, actually possible.</a:t>
            </a:r>
            <a:endParaRPr b="0" lang="en-US" sz="1000" spc="-1" strike="noStrike">
              <a:solidFill>
                <a:srgbClr val="000000"/>
              </a:solidFill>
              <a:latin typeface="Arial"/>
            </a:endParaRPr>
          </a:p>
        </p:txBody>
      </p:sp>
      <p:sp>
        <p:nvSpPr>
          <p:cNvPr id="33" name="Google Shape;68;p15"/>
          <p:cNvSpPr/>
          <p:nvPr/>
        </p:nvSpPr>
        <p:spPr>
          <a:xfrm>
            <a:off x="304200" y="591840"/>
            <a:ext cx="5152680" cy="506160"/>
          </a:xfrm>
          <a:prstGeom prst="rect">
            <a:avLst/>
          </a:prstGeom>
          <a:noFill/>
          <a:ln w="0">
            <a:noFill/>
          </a:ln>
        </p:spPr>
        <p:style>
          <a:lnRef idx="0"/>
          <a:fillRef idx="0"/>
          <a:effectRef idx="0"/>
          <a:fontRef idx="minor"/>
        </p:style>
        <p:txBody>
          <a:bodyPr lIns="90000" rIns="90000" tIns="91440" bIns="91440" anchor="t">
            <a:noAutofit/>
          </a:bodyPr>
          <a:p>
            <a:pPr>
              <a:lnSpc>
                <a:spcPct val="115000"/>
              </a:lnSpc>
              <a:spcBef>
                <a:spcPts val="2401"/>
              </a:spcBef>
              <a:spcAft>
                <a:spcPts val="601"/>
              </a:spcAft>
              <a:tabLst>
                <a:tab algn="l" pos="0"/>
              </a:tabLst>
            </a:pPr>
            <a:r>
              <a:rPr b="1" lang="en-GB" sz="2300" spc="-1" strike="noStrike">
                <a:solidFill>
                  <a:schemeClr val="dk1"/>
                </a:solidFill>
                <a:latin typeface="Arial"/>
                <a:ea typeface="Arial"/>
              </a:rPr>
              <a:t>Startup</a:t>
            </a:r>
            <a:r>
              <a:rPr b="1" lang="en-GB" sz="1800" spc="-1" strike="noStrike">
                <a:solidFill>
                  <a:schemeClr val="dk1"/>
                </a:solidFill>
                <a:latin typeface="Arial"/>
                <a:ea typeface="Arial"/>
              </a:rPr>
              <a:t> </a:t>
            </a:r>
            <a:r>
              <a:rPr b="1" lang="en-GB" sz="2300" spc="-1" strike="noStrike">
                <a:solidFill>
                  <a:schemeClr val="dk1"/>
                </a:solidFill>
                <a:latin typeface="Arial"/>
                <a:ea typeface="Arial"/>
              </a:rPr>
              <a:t>Snapshot</a:t>
            </a:r>
            <a:endParaRPr b="0" lang="en-US" sz="2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 name="Google Shape;73;p16" descr=""/>
          <p:cNvPicPr/>
          <p:nvPr/>
        </p:nvPicPr>
        <p:blipFill>
          <a:blip r:embed="rId1"/>
          <a:stretch/>
        </p:blipFill>
        <p:spPr>
          <a:xfrm>
            <a:off x="0" y="0"/>
            <a:ext cx="9142920" cy="5142600"/>
          </a:xfrm>
          <a:prstGeom prst="rect">
            <a:avLst/>
          </a:prstGeom>
          <a:ln w="0">
            <a:noFill/>
          </a:ln>
        </p:spPr>
      </p:pic>
      <p:sp>
        <p:nvSpPr>
          <p:cNvPr id="35" name="Google Shape;74;p16"/>
          <p:cNvSpPr/>
          <p:nvPr/>
        </p:nvSpPr>
        <p:spPr>
          <a:xfrm>
            <a:off x="313560" y="1256760"/>
            <a:ext cx="8704440" cy="3148560"/>
          </a:xfrm>
          <a:prstGeom prst="rect">
            <a:avLst/>
          </a:prstGeom>
          <a:noFill/>
          <a:ln w="0">
            <a:noFill/>
          </a:ln>
        </p:spPr>
        <p:style>
          <a:lnRef idx="0"/>
          <a:fillRef idx="0"/>
          <a:effectRef idx="0"/>
          <a:fontRef idx="minor"/>
        </p:style>
        <p:txBody>
          <a:bodyPr lIns="90000" rIns="90000" tIns="91440" bIns="91440" anchor="t">
            <a:noAutofit/>
          </a:bodyPr>
          <a:p>
            <a:pPr marL="457200" indent="-298440">
              <a:lnSpc>
                <a:spcPct val="115000"/>
              </a:lnSpc>
              <a:spcBef>
                <a:spcPts val="1483"/>
              </a:spcBef>
              <a:spcAft>
                <a:spcPts val="567"/>
              </a:spcAft>
              <a:buClr>
                <a:srgbClr val="000000"/>
              </a:buClr>
              <a:buFont typeface="Arial"/>
              <a:buAutoNum type="arabicPeriod"/>
            </a:pPr>
            <a:r>
              <a:rPr b="1" lang="en-GB" sz="1100" spc="-1" strike="noStrike">
                <a:solidFill>
                  <a:schemeClr val="dk1"/>
                </a:solidFill>
                <a:latin typeface="Arial"/>
                <a:ea typeface="Arial"/>
              </a:rPr>
              <a:t>What problem are you solving, and who experiences it most acutely?</a:t>
            </a:r>
            <a:endParaRPr b="0" lang="en-US" sz="1100" spc="-1" strike="noStrike">
              <a:solidFill>
                <a:srgbClr val="000000"/>
              </a:solidFill>
              <a:latin typeface="Arial"/>
            </a:endParaRPr>
          </a:p>
          <a:p>
            <a:pPr marL="457200" indent="-298440" algn="just">
              <a:lnSpc>
                <a:spcPct val="115000"/>
              </a:lnSpc>
              <a:spcBef>
                <a:spcPts val="683"/>
              </a:spcBef>
              <a:spcAft>
                <a:spcPts val="884"/>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Professionals with 12-30+ years of experience feel it most acutely: overqualified for junior ATS filters, with no structured way to prove a real track record short of a reference call. Employers feel the inverse -- unable to tell a genuinely Verified Expert from a well-formatted resume until well into an expensive interview process, and with no visibility into who's a fit for a role that doesn't exist yet.</a:t>
            </a:r>
            <a:endParaRPr b="0" lang="en-US" sz="1000" spc="-1" strike="noStrike">
              <a:solidFill>
                <a:srgbClr val="000000"/>
              </a:solidFill>
              <a:latin typeface="Arial"/>
            </a:endParaRPr>
          </a:p>
          <a:p>
            <a:pPr marL="457200" indent="-298440">
              <a:lnSpc>
                <a:spcPct val="115000"/>
              </a:lnSpc>
              <a:spcBef>
                <a:spcPts val="283"/>
              </a:spcBef>
              <a:spcAft>
                <a:spcPts val="1199"/>
              </a:spcAft>
              <a:buClr>
                <a:srgbClr val="000000"/>
              </a:buClr>
              <a:buFont typeface="Arial"/>
              <a:buAutoNum type="arabicPeriod"/>
              <a:tabLst>
                <a:tab algn="l" pos="0"/>
              </a:tabLst>
            </a:pPr>
            <a:r>
              <a:rPr b="1" lang="en-GB" sz="1100" spc="-1" strike="noStrike">
                <a:solidFill>
                  <a:schemeClr val="dk1"/>
                </a:solidFill>
                <a:latin typeface="Arial"/>
                <a:ea typeface="Arial"/>
              </a:rPr>
              <a:t>What research, observations, or evidence validate this opportunity?</a:t>
            </a:r>
            <a:endParaRPr b="0" lang="en-US" sz="1100" spc="-1" strike="noStrike">
              <a:solidFill>
                <a:srgbClr val="000000"/>
              </a:solidFill>
              <a:latin typeface="Arial"/>
            </a:endParaRPr>
          </a:p>
          <a:p>
            <a:pPr marL="457200" indent="-298440" algn="just">
              <a:lnSpc>
                <a:spcPct val="115000"/>
              </a:lnSpc>
              <a:spcBef>
                <a:spcPts val="400"/>
              </a:spcBef>
              <a:spcAft>
                <a:spcPts val="601"/>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Built directly from this platform's own construction: every feature that launched with a self-reported trust signal (an unverified “connection,” a self-picked seniority flag) had to be re-audited and re-gated to a real, AI-and-human-verified interaction once real usage began. That re-audit is the direct evidence: unverified social proof is the default failure mode of every adjacent product, and only a verification layer with AI doing the heavy lifting can close it at any real scale.</a:t>
            </a:r>
            <a:endParaRPr b="0" lang="en-US" sz="1000" spc="-1" strike="noStrike">
              <a:solidFill>
                <a:srgbClr val="000000"/>
              </a:solidFill>
              <a:latin typeface="Arial"/>
            </a:endParaRPr>
          </a:p>
        </p:txBody>
      </p:sp>
      <p:sp>
        <p:nvSpPr>
          <p:cNvPr id="36" name="Google Shape;75;p16"/>
          <p:cNvSpPr/>
          <p:nvPr/>
        </p:nvSpPr>
        <p:spPr>
          <a:xfrm>
            <a:off x="304200" y="591840"/>
            <a:ext cx="5152680" cy="506160"/>
          </a:xfrm>
          <a:prstGeom prst="rect">
            <a:avLst/>
          </a:prstGeom>
          <a:noFill/>
          <a:ln w="0">
            <a:noFill/>
          </a:ln>
        </p:spPr>
        <p:style>
          <a:lnRef idx="0"/>
          <a:fillRef idx="0"/>
          <a:effectRef idx="0"/>
          <a:fontRef idx="minor"/>
        </p:style>
        <p:txBody>
          <a:bodyPr lIns="90000" rIns="90000" tIns="91440" bIns="91440" anchor="t">
            <a:noAutofit/>
          </a:bodyPr>
          <a:p>
            <a:pPr>
              <a:lnSpc>
                <a:spcPct val="115000"/>
              </a:lnSpc>
              <a:spcBef>
                <a:spcPts val="2401"/>
              </a:spcBef>
              <a:spcAft>
                <a:spcPts val="601"/>
              </a:spcAft>
              <a:tabLst>
                <a:tab algn="l" pos="0"/>
              </a:tabLst>
            </a:pPr>
            <a:r>
              <a:rPr b="1" lang="en-GB" sz="2300" spc="-1" strike="noStrike">
                <a:solidFill>
                  <a:schemeClr val="dk1"/>
                </a:solidFill>
                <a:latin typeface="Arial"/>
                <a:ea typeface="Arial"/>
              </a:rPr>
              <a:t>Problem Understanding</a:t>
            </a:r>
            <a:endParaRPr b="0" lang="en-US" sz="2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 name="Google Shape;80;p17" descr=""/>
          <p:cNvPicPr/>
          <p:nvPr/>
        </p:nvPicPr>
        <p:blipFill>
          <a:blip r:embed="rId1"/>
          <a:stretch/>
        </p:blipFill>
        <p:spPr>
          <a:xfrm>
            <a:off x="0" y="0"/>
            <a:ext cx="9142920" cy="5142600"/>
          </a:xfrm>
          <a:prstGeom prst="rect">
            <a:avLst/>
          </a:prstGeom>
          <a:ln w="0">
            <a:noFill/>
          </a:ln>
        </p:spPr>
      </p:pic>
      <p:sp>
        <p:nvSpPr>
          <p:cNvPr id="38" name="Google Shape;81;p17"/>
          <p:cNvSpPr/>
          <p:nvPr/>
        </p:nvSpPr>
        <p:spPr>
          <a:xfrm>
            <a:off x="313560" y="1256760"/>
            <a:ext cx="8704440" cy="3148560"/>
          </a:xfrm>
          <a:prstGeom prst="rect">
            <a:avLst/>
          </a:prstGeom>
          <a:noFill/>
          <a:ln w="0">
            <a:noFill/>
          </a:ln>
        </p:spPr>
        <p:style>
          <a:lnRef idx="0"/>
          <a:fillRef idx="0"/>
          <a:effectRef idx="0"/>
          <a:fontRef idx="minor"/>
        </p:style>
        <p:txBody>
          <a:bodyPr lIns="90000" rIns="90000" tIns="91440" bIns="91440" anchor="t">
            <a:noAutofit/>
          </a:bodyPr>
          <a:p>
            <a:pPr marL="457200" indent="-298440">
              <a:lnSpc>
                <a:spcPct val="115000"/>
              </a:lnSpc>
              <a:spcBef>
                <a:spcPts val="1483"/>
              </a:spcBef>
              <a:spcAft>
                <a:spcPts val="283"/>
              </a:spcAft>
              <a:buClr>
                <a:srgbClr val="000000"/>
              </a:buClr>
              <a:buFont typeface="Arial"/>
              <a:buAutoNum type="arabicPeriod"/>
            </a:pPr>
            <a:r>
              <a:rPr b="1" lang="en-GB" sz="1100" spc="-1" strike="noStrike">
                <a:solidFill>
                  <a:schemeClr val="dk1"/>
                </a:solidFill>
                <a:latin typeface="Arial"/>
                <a:ea typeface="Arial"/>
              </a:rPr>
              <a:t>Who is your ideal customer, and who would make the buying decision?</a:t>
            </a:r>
            <a:endParaRPr b="0" lang="en-US" sz="1100" spc="-1" strike="noStrike">
              <a:solidFill>
                <a:srgbClr val="000000"/>
              </a:solidFill>
              <a:latin typeface="Arial"/>
            </a:endParaRPr>
          </a:p>
          <a:p>
            <a:pPr marL="457200" indent="-298440" algn="just">
              <a:lnSpc>
                <a:spcPct val="115000"/>
              </a:lnSpc>
              <a:spcBef>
                <a:spcPts val="683"/>
              </a:spcBef>
              <a:spcAft>
                <a:spcPts val="884"/>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The paying customer is the corporate employer: a hiring manager, talent-acquisition lead, or Head of Talent at a company that regularly hires senior/fractional talent and is tired of paying recruiter fees or burning interview cycles on unverifiable resumes. Individual professionals (12+ years -- senior ICs, directors, fractional executives) are the free, identity-led supply side; the enterprise buyer is who Greyin is built to monetize, budget-line by budget-line: recruiting spend, workforce-planning spend, and L&amp;D/mentorship spend.</a:t>
            </a:r>
            <a:endParaRPr b="0" lang="en-US" sz="1000" spc="-1" strike="noStrike">
              <a:solidFill>
                <a:srgbClr val="000000"/>
              </a:solidFill>
              <a:latin typeface="Arial"/>
            </a:endParaRPr>
          </a:p>
          <a:p>
            <a:pPr marL="457200" indent="-298440">
              <a:lnSpc>
                <a:spcPct val="115000"/>
              </a:lnSpc>
              <a:spcAft>
                <a:spcPts val="916"/>
              </a:spcAft>
              <a:buClr>
                <a:srgbClr val="000000"/>
              </a:buClr>
              <a:buFont typeface="Arial"/>
              <a:buAutoNum type="arabicPeriod"/>
              <a:tabLst>
                <a:tab algn="l" pos="0"/>
              </a:tabLst>
            </a:pPr>
            <a:r>
              <a:rPr b="1" lang="en-GB" sz="1100" spc="-1" strike="noStrike">
                <a:solidFill>
                  <a:schemeClr val="dk1"/>
                </a:solidFill>
                <a:latin typeface="Arial"/>
                <a:ea typeface="Arial"/>
              </a:rPr>
              <a:t>How large is the opportunity if your assumptions prove correct?</a:t>
            </a:r>
            <a:endParaRPr b="0" lang="en-US" sz="1100" spc="-1" strike="noStrike">
              <a:solidFill>
                <a:srgbClr val="000000"/>
              </a:solidFill>
              <a:latin typeface="Arial"/>
            </a:endParaRPr>
          </a:p>
          <a:p>
            <a:pPr marL="457200" indent="-298440" algn="just">
              <a:lnSpc>
                <a:spcPct val="115000"/>
              </a:lnSpc>
              <a:spcBef>
                <a:spcPts val="116"/>
              </a:spcBef>
              <a:spcAft>
                <a:spcPts val="317"/>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India alone has tens of millions of professionals past the 12-year mark and a multi-billion-dollar enterprise recruiting spend category already. Three separate employer budget lines are addressable: recruiting spend redirected from traditional job boards and recruiter fees toward a </a:t>
            </a:r>
            <a:r>
              <a:rPr b="1" lang="en-US" sz="1000" spc="-1" strike="noStrike">
                <a:solidFill>
                  <a:srgbClr val="555555"/>
                </a:solidFill>
                <a:latin typeface="Arial"/>
                <a:ea typeface="Arial"/>
              </a:rPr>
              <a:t>Verified Expert</a:t>
            </a:r>
            <a:r>
              <a:rPr b="0" lang="en-US" sz="1000" spc="-1" strike="noStrike">
                <a:solidFill>
                  <a:srgbClr val="555555"/>
                </a:solidFill>
                <a:latin typeface="Arial"/>
                <a:ea typeface="Arial"/>
              </a:rPr>
              <a:t> search subscription; workforce-planning spend for Longlist's anticipatory pipeline, a category with no real incumbent today; and freelance/advisory spend redirected from 20%+-commission marketplaces toward FlexPro's low-fee model -- a flat subscription plus a modest service fee split across both sides, not a 20%+ cut of every transaction.</a:t>
            </a:r>
            <a:endParaRPr b="0" lang="en-US" sz="1000" spc="-1" strike="noStrike">
              <a:solidFill>
                <a:srgbClr val="000000"/>
              </a:solidFill>
              <a:latin typeface="Arial"/>
            </a:endParaRPr>
          </a:p>
        </p:txBody>
      </p:sp>
      <p:sp>
        <p:nvSpPr>
          <p:cNvPr id="39" name="Google Shape;82;p17"/>
          <p:cNvSpPr/>
          <p:nvPr/>
        </p:nvSpPr>
        <p:spPr>
          <a:xfrm>
            <a:off x="304200" y="591840"/>
            <a:ext cx="5152680" cy="506160"/>
          </a:xfrm>
          <a:prstGeom prst="rect">
            <a:avLst/>
          </a:prstGeom>
          <a:noFill/>
          <a:ln w="0">
            <a:noFill/>
          </a:ln>
        </p:spPr>
        <p:style>
          <a:lnRef idx="0"/>
          <a:fillRef idx="0"/>
          <a:effectRef idx="0"/>
          <a:fontRef idx="minor"/>
        </p:style>
        <p:txBody>
          <a:bodyPr lIns="90000" rIns="90000" tIns="91440" bIns="91440" anchor="t">
            <a:noAutofit/>
          </a:bodyPr>
          <a:p>
            <a:pPr>
              <a:lnSpc>
                <a:spcPct val="115000"/>
              </a:lnSpc>
              <a:spcBef>
                <a:spcPts val="2401"/>
              </a:spcBef>
              <a:spcAft>
                <a:spcPts val="601"/>
              </a:spcAft>
              <a:tabLst>
                <a:tab algn="l" pos="0"/>
              </a:tabLst>
            </a:pPr>
            <a:r>
              <a:rPr b="1" lang="en-GB" sz="2300" spc="-1" strike="noStrike">
                <a:solidFill>
                  <a:schemeClr val="dk1"/>
                </a:solidFill>
                <a:latin typeface="Arial"/>
                <a:ea typeface="Arial"/>
              </a:rPr>
              <a:t>Customer &amp; Opportunity</a:t>
            </a:r>
            <a:endParaRPr b="0" lang="en-US" sz="2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0" name="Google Shape;87;p18" descr=""/>
          <p:cNvPicPr/>
          <p:nvPr/>
        </p:nvPicPr>
        <p:blipFill>
          <a:blip r:embed="rId1"/>
          <a:stretch/>
        </p:blipFill>
        <p:spPr>
          <a:xfrm>
            <a:off x="0" y="0"/>
            <a:ext cx="9142920" cy="5142600"/>
          </a:xfrm>
          <a:prstGeom prst="rect">
            <a:avLst/>
          </a:prstGeom>
          <a:ln w="0">
            <a:noFill/>
          </a:ln>
        </p:spPr>
      </p:pic>
      <p:sp>
        <p:nvSpPr>
          <p:cNvPr id="41" name="Google Shape;88;p18"/>
          <p:cNvSpPr/>
          <p:nvPr/>
        </p:nvSpPr>
        <p:spPr>
          <a:xfrm>
            <a:off x="313560" y="1076760"/>
            <a:ext cx="8704440" cy="3148560"/>
          </a:xfrm>
          <a:prstGeom prst="rect">
            <a:avLst/>
          </a:prstGeom>
          <a:noFill/>
          <a:ln w="0">
            <a:noFill/>
          </a:ln>
        </p:spPr>
        <p:style>
          <a:lnRef idx="0"/>
          <a:fillRef idx="0"/>
          <a:effectRef idx="0"/>
          <a:fontRef idx="minor"/>
        </p:style>
        <p:txBody>
          <a:bodyPr lIns="90000" rIns="90000" tIns="91440" bIns="91440" anchor="t">
            <a:noAutofit/>
          </a:bodyPr>
          <a:p>
            <a:pPr marL="457200" indent="-298440" algn="just">
              <a:lnSpc>
                <a:spcPct val="115000"/>
              </a:lnSpc>
              <a:spcBef>
                <a:spcPts val="283"/>
              </a:spcBef>
              <a:spcAft>
                <a:spcPts val="283"/>
              </a:spcAft>
              <a:buClr>
                <a:srgbClr val="000000"/>
              </a:buClr>
              <a:buFont typeface="Arial"/>
              <a:buAutoNum type="arabicPeriod"/>
            </a:pPr>
            <a:r>
              <a:rPr b="1" lang="en-GB" sz="1100" spc="-1" strike="noStrike">
                <a:solidFill>
                  <a:schemeClr val="dk1"/>
                </a:solidFill>
                <a:latin typeface="Arial"/>
                <a:ea typeface="Arial"/>
              </a:rPr>
              <a:t>What is your proposed solution, and how does it address the identified problem?</a:t>
            </a:r>
            <a:endParaRPr b="0" lang="en-US" sz="1100" spc="-1" strike="noStrike">
              <a:solidFill>
                <a:srgbClr val="000000"/>
              </a:solidFill>
              <a:latin typeface="Arial"/>
              <a:ea typeface="Noto Sans CJK SC"/>
            </a:endParaRPr>
          </a:p>
          <a:p>
            <a:pPr marL="457200" indent="-298440" algn="just">
              <a:lnSpc>
                <a:spcPct val="115000"/>
              </a:lnSpc>
              <a:spcBef>
                <a:spcPts val="283"/>
              </a:spcBef>
              <a:spcAft>
                <a:spcPts val="283"/>
              </a:spcAft>
              <a:tabLst>
                <a:tab algn="l" pos="0"/>
              </a:tabLst>
            </a:pPr>
            <a:r>
              <a:rPr b="0" lang="en-US" sz="1000" spc="-1" strike="noStrike">
                <a:solidFill>
                  <a:srgbClr val="555555"/>
                </a:solidFill>
                <a:latin typeface="Arial"/>
                <a:ea typeface="Arial"/>
              </a:rPr>
              <a:t>	</a:t>
            </a:r>
            <a:r>
              <a:rPr b="1" lang="en-US" sz="1000" spc="-1" strike="noStrike">
                <a:solidFill>
                  <a:srgbClr val="555555"/>
                </a:solidFill>
                <a:latin typeface="Arial"/>
                <a:ea typeface="Arial"/>
              </a:rPr>
              <a:t>Greyin</a:t>
            </a:r>
            <a:r>
              <a:rPr b="0" lang="en-US" sz="1000" spc="-1" strike="noStrike">
                <a:solidFill>
                  <a:srgbClr val="555555"/>
                </a:solidFill>
                <a:latin typeface="Arial"/>
                <a:ea typeface="Arial"/>
              </a:rPr>
              <a:t> is one platform with 6 core features, not 7 separate products -- Greyin Hub is the shared identity layer that binds them, not a feature in itself. Of the 6, 3 are revenue lines billed straight to the corporate employer (one, Longlist, stands alone; two live inside existing features). The other 3 produce the quality profiles and verified interactions that feed the Greyin Score -- the actual signal being sold. See the breakdown below.</a:t>
            </a:r>
            <a:endParaRPr b="0" lang="en-US" sz="1000" spc="-1" strike="noStrike">
              <a:solidFill>
                <a:srgbClr val="000000"/>
              </a:solidFill>
              <a:latin typeface="Arial"/>
              <a:ea typeface="Noto Sans CJK SC"/>
            </a:endParaRPr>
          </a:p>
          <a:p>
            <a:pPr marL="457200" indent="-298440" algn="just">
              <a:lnSpc>
                <a:spcPct val="115000"/>
              </a:lnSpc>
              <a:tabLst>
                <a:tab algn="l" pos="0"/>
              </a:tabLst>
            </a:pPr>
            <a:endParaRPr b="0" lang="en-US" sz="1000" spc="-1" strike="noStrike">
              <a:solidFill>
                <a:srgbClr val="000000"/>
              </a:solidFill>
              <a:latin typeface="Arial"/>
              <a:ea typeface="Noto Sans CJK SC"/>
            </a:endParaRPr>
          </a:p>
          <a:p>
            <a:pPr marL="457200" indent="-298440" algn="just">
              <a:lnSpc>
                <a:spcPct val="115000"/>
              </a:lnSpc>
              <a:tabLst>
                <a:tab algn="l" pos="0"/>
              </a:tabLst>
            </a:pPr>
            <a:endParaRPr b="0" lang="en-US" sz="1000" spc="-1" strike="noStrike">
              <a:solidFill>
                <a:srgbClr val="000000"/>
              </a:solidFill>
              <a:latin typeface="Arial"/>
              <a:ea typeface="Noto Sans CJK SC"/>
            </a:endParaRPr>
          </a:p>
          <a:p>
            <a:pPr marL="457200" indent="-298440" algn="just">
              <a:lnSpc>
                <a:spcPct val="115000"/>
              </a:lnSpc>
              <a:tabLst>
                <a:tab algn="l" pos="0"/>
              </a:tabLst>
            </a:pPr>
            <a:endParaRPr b="0" lang="en-US" sz="1000" spc="-1" strike="noStrike">
              <a:solidFill>
                <a:srgbClr val="000000"/>
              </a:solidFill>
              <a:latin typeface="Arial"/>
              <a:ea typeface="Noto Sans CJK SC"/>
            </a:endParaRPr>
          </a:p>
          <a:p>
            <a:pPr marL="457200" indent="-298440" algn="just">
              <a:lnSpc>
                <a:spcPct val="115000"/>
              </a:lnSpc>
              <a:tabLst>
                <a:tab algn="l" pos="0"/>
              </a:tabLst>
            </a:pPr>
            <a:endParaRPr b="0" lang="en-US" sz="1000" spc="-1" strike="noStrike">
              <a:solidFill>
                <a:srgbClr val="000000"/>
              </a:solidFill>
              <a:latin typeface="Arial"/>
              <a:ea typeface="Noto Sans CJK SC"/>
            </a:endParaRPr>
          </a:p>
          <a:p>
            <a:pPr marL="457200" indent="-298440" algn="just">
              <a:lnSpc>
                <a:spcPct val="115000"/>
              </a:lnSpc>
              <a:tabLst>
                <a:tab algn="l" pos="0"/>
              </a:tabLst>
            </a:pPr>
            <a:endParaRPr b="0" lang="en-US" sz="1000" spc="-1" strike="noStrike">
              <a:solidFill>
                <a:srgbClr val="000000"/>
              </a:solidFill>
              <a:latin typeface="Arial"/>
              <a:ea typeface="Noto Sans CJK SC"/>
            </a:endParaRPr>
          </a:p>
          <a:p>
            <a:pPr marL="457200" indent="-298440" algn="just">
              <a:lnSpc>
                <a:spcPct val="115000"/>
              </a:lnSpc>
              <a:tabLst>
                <a:tab algn="l" pos="0"/>
              </a:tabLst>
            </a:pPr>
            <a:endParaRPr b="0" lang="en-US" sz="1000" spc="-1" strike="noStrike">
              <a:solidFill>
                <a:srgbClr val="000000"/>
              </a:solidFill>
              <a:latin typeface="Arial"/>
              <a:ea typeface="Noto Sans CJK SC"/>
            </a:endParaRPr>
          </a:p>
          <a:p>
            <a:pPr marL="457200" indent="-298440" algn="just">
              <a:lnSpc>
                <a:spcPct val="115000"/>
              </a:lnSpc>
              <a:tabLst>
                <a:tab algn="l" pos="0"/>
              </a:tabLst>
            </a:pPr>
            <a:endParaRPr b="0" lang="en-US" sz="1000" spc="-1" strike="noStrike">
              <a:solidFill>
                <a:srgbClr val="000000"/>
              </a:solidFill>
              <a:latin typeface="Arial"/>
              <a:ea typeface="Noto Sans CJK SC"/>
            </a:endParaRPr>
          </a:p>
          <a:p>
            <a:pPr marL="457200" indent="-298440" algn="just">
              <a:lnSpc>
                <a:spcPct val="115000"/>
              </a:lnSpc>
              <a:tabLst>
                <a:tab algn="l" pos="0"/>
              </a:tabLst>
            </a:pPr>
            <a:endParaRPr b="0" lang="en-US" sz="1000" spc="-1" strike="noStrike">
              <a:solidFill>
                <a:srgbClr val="000000"/>
              </a:solidFill>
              <a:latin typeface="Arial"/>
              <a:ea typeface="Noto Sans CJK SC"/>
            </a:endParaRPr>
          </a:p>
          <a:p>
            <a:pPr marL="457200" indent="-298440" algn="just">
              <a:lnSpc>
                <a:spcPct val="115000"/>
              </a:lnSpc>
              <a:tabLst>
                <a:tab algn="l" pos="0"/>
              </a:tabLst>
            </a:pPr>
            <a:endParaRPr b="0" lang="en-US" sz="1000" spc="-1" strike="noStrike">
              <a:solidFill>
                <a:srgbClr val="000000"/>
              </a:solidFill>
              <a:latin typeface="Arial"/>
              <a:ea typeface="Noto Sans CJK SC"/>
            </a:endParaRPr>
          </a:p>
          <a:p>
            <a:pPr marL="457200" indent="-298440" algn="just">
              <a:lnSpc>
                <a:spcPct val="115000"/>
              </a:lnSpc>
              <a:buClr>
                <a:srgbClr val="000000"/>
              </a:buClr>
              <a:buFont typeface="Arial"/>
              <a:buAutoNum type="arabicPeriod"/>
              <a:tabLst>
                <a:tab algn="l" pos="0"/>
              </a:tabLst>
            </a:pPr>
            <a:r>
              <a:rPr b="1" lang="en-GB" sz="1100" spc="-1" strike="noStrike">
                <a:solidFill>
                  <a:schemeClr val="dk1"/>
                </a:solidFill>
                <a:latin typeface="Arial"/>
                <a:ea typeface="Arial"/>
              </a:rPr>
              <a:t>What are the key capabilities you envision?</a:t>
            </a:r>
            <a:endParaRPr b="0" lang="en-US" sz="1100" spc="-1" strike="noStrike">
              <a:solidFill>
                <a:srgbClr val="000000"/>
              </a:solidFill>
              <a:latin typeface="Arial"/>
              <a:ea typeface="Noto Sans CJK SC"/>
            </a:endParaRPr>
          </a:p>
          <a:p>
            <a:pPr marL="457200" indent="-298440" algn="just">
              <a:lnSpc>
                <a:spcPct val="115000"/>
              </a:lnSpc>
              <a:spcBef>
                <a:spcPts val="283"/>
              </a:spcBef>
              <a:spcAft>
                <a:spcPts val="283"/>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A single AI-verified identity across all 6 core features via Greyin Hub; an AI-and-human-verified interaction gate on every social-proof signal; a Bayesian-shrunk Greyin Score counting only real work; and AI matching that turns feature activity directly into revenue-line accuracy. </a:t>
            </a:r>
            <a:endParaRPr b="0" lang="en-US" sz="1000" spc="-1" strike="noStrike">
              <a:solidFill>
                <a:srgbClr val="000000"/>
              </a:solidFill>
              <a:latin typeface="Arial"/>
              <a:ea typeface="Noto Sans CJK SC"/>
            </a:endParaRPr>
          </a:p>
          <a:p>
            <a:pPr marL="457200" indent="-298440" algn="just">
              <a:lnSpc>
                <a:spcPct val="115000"/>
              </a:lnSpc>
              <a:spcBef>
                <a:spcPts val="283"/>
              </a:spcBef>
              <a:spcAft>
                <a:spcPts val="283"/>
              </a:spcAft>
              <a:buClr>
                <a:srgbClr val="000000"/>
              </a:buClr>
              <a:buFont typeface="Arial"/>
              <a:buAutoNum type="arabicPeriod"/>
              <a:tabLst>
                <a:tab algn="l" pos="0"/>
              </a:tabLst>
            </a:pPr>
            <a:r>
              <a:rPr b="1" lang="en-GB" sz="1100" spc="-1" strike="noStrike">
                <a:solidFill>
                  <a:schemeClr val="dk1"/>
                </a:solidFill>
                <a:latin typeface="Arial"/>
                <a:ea typeface="Arial"/>
              </a:rPr>
              <a:t>What measurable value do you expect the solution to deliver?</a:t>
            </a:r>
            <a:endParaRPr b="0" lang="en-US" sz="1100" spc="-1" strike="noStrike">
              <a:solidFill>
                <a:srgbClr val="000000"/>
              </a:solidFill>
              <a:latin typeface="Arial"/>
              <a:ea typeface="Noto Sans CJK SC"/>
            </a:endParaRPr>
          </a:p>
          <a:p>
            <a:pPr marL="457200" indent="-298440" algn="just">
              <a:lnSpc>
                <a:spcPct val="115000"/>
              </a:lnSpc>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Three distinct paid budget lines for employers; one compounding score for individuals; a free Supporting tier whose real output -- score integrity -- is what the Primary tier actually monetizes. Every score is explainable to the person it’s about -- per-pillar inputs, evidence counts and weights are visible on their profile.</a:t>
            </a:r>
            <a:endParaRPr b="0" lang="en-US" sz="1000" spc="-1" strike="noStrike">
              <a:solidFill>
                <a:srgbClr val="000000"/>
              </a:solidFill>
              <a:latin typeface="Arial"/>
              <a:ea typeface="Noto Sans CJK SC"/>
            </a:endParaRPr>
          </a:p>
        </p:txBody>
      </p:sp>
      <p:sp>
        <p:nvSpPr>
          <p:cNvPr id="42" name="Google Shape;89;p18"/>
          <p:cNvSpPr/>
          <p:nvPr/>
        </p:nvSpPr>
        <p:spPr>
          <a:xfrm>
            <a:off x="304200" y="591840"/>
            <a:ext cx="5152680" cy="506160"/>
          </a:xfrm>
          <a:prstGeom prst="rect">
            <a:avLst/>
          </a:prstGeom>
          <a:noFill/>
          <a:ln w="0">
            <a:noFill/>
          </a:ln>
        </p:spPr>
        <p:style>
          <a:lnRef idx="0"/>
          <a:fillRef idx="0"/>
          <a:effectRef idx="0"/>
          <a:fontRef idx="minor"/>
        </p:style>
        <p:txBody>
          <a:bodyPr lIns="90000" rIns="90000" tIns="91440" bIns="91440" anchor="t">
            <a:noAutofit/>
          </a:bodyPr>
          <a:p>
            <a:pPr>
              <a:lnSpc>
                <a:spcPct val="115000"/>
              </a:lnSpc>
              <a:spcBef>
                <a:spcPts val="2401"/>
              </a:spcBef>
              <a:spcAft>
                <a:spcPts val="601"/>
              </a:spcAft>
              <a:tabLst>
                <a:tab algn="l" pos="0"/>
              </a:tabLst>
            </a:pPr>
            <a:r>
              <a:rPr b="1" lang="en-GB" sz="2300" spc="-1" strike="noStrike">
                <a:solidFill>
                  <a:schemeClr val="dk1"/>
                </a:solidFill>
                <a:latin typeface="Arial"/>
                <a:ea typeface="Arial"/>
              </a:rPr>
              <a:t>Proposed Solution</a:t>
            </a:r>
            <a:endParaRPr b="0" lang="en-US" sz="2300" spc="-1" strike="noStrike">
              <a:solidFill>
                <a:srgbClr val="000000"/>
              </a:solidFill>
              <a:latin typeface="Arial"/>
            </a:endParaRPr>
          </a:p>
        </p:txBody>
      </p:sp>
      <p:graphicFrame>
        <p:nvGraphicFramePr>
          <p:cNvPr id="43" name="Table 89"/>
          <p:cNvGraphicFramePr/>
          <p:nvPr/>
        </p:nvGraphicFramePr>
        <p:xfrm>
          <a:off x="866520" y="2019600"/>
          <a:ext cx="8031240" cy="1515960"/>
        </p:xfrm>
        <a:graphic>
          <a:graphicData uri="http://schemas.openxmlformats.org/drawingml/2006/table">
            <a:tbl>
              <a:tblPr/>
              <a:tblGrid>
                <a:gridCol w="1071720"/>
                <a:gridCol w="1817280"/>
                <a:gridCol w="1510200"/>
                <a:gridCol w="3632040"/>
              </a:tblGrid>
              <a:tr h="190800">
                <a:tc>
                  <a:txBody>
                    <a:bodyPr lIns="45720" rIns="45720" anchor="ctr">
                      <a:noAutofit/>
                    </a:bodyPr>
                    <a:p>
                      <a:pPr>
                        <a:lnSpc>
                          <a:spcPct val="100000"/>
                        </a:lnSpc>
                      </a:pPr>
                      <a:r>
                        <a:rPr b="1" lang="en-US" sz="700" spc="-1" strike="noStrike">
                          <a:solidFill>
                            <a:srgbClr val="ffffff"/>
                          </a:solidFill>
                          <a:latin typeface="Arial"/>
                          <a:ea typeface="Arial"/>
                        </a:rPr>
                        <a:t>Category</a:t>
                      </a:r>
                      <a:endParaRPr b="0" lang="en-US" sz="700" spc="-1" strike="noStrike">
                        <a:solidFill>
                          <a:srgbClr val="ffffff"/>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f2a44"/>
                    </a:solidFill>
                  </a:tcPr>
                </a:tc>
                <a:tc>
                  <a:txBody>
                    <a:bodyPr lIns="45720" rIns="45720" anchor="ctr">
                      <a:noAutofit/>
                    </a:bodyPr>
                    <a:p>
                      <a:pPr>
                        <a:lnSpc>
                          <a:spcPct val="100000"/>
                        </a:lnSpc>
                      </a:pPr>
                      <a:r>
                        <a:rPr b="1" lang="en-US" sz="700" spc="-1" strike="noStrike">
                          <a:solidFill>
                            <a:srgbClr val="ffffff"/>
                          </a:solidFill>
                          <a:latin typeface="Arial"/>
                          <a:ea typeface="Arial"/>
                        </a:rPr>
                        <a:t>Name</a:t>
                      </a:r>
                      <a:endParaRPr b="0" lang="en-US" sz="700" spc="-1" strike="noStrike">
                        <a:solidFill>
                          <a:srgbClr val="ffffff"/>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f2a44"/>
                    </a:solidFill>
                  </a:tcPr>
                </a:tc>
                <a:tc>
                  <a:txBody>
                    <a:bodyPr lIns="45720" rIns="45720" anchor="ctr">
                      <a:noAutofit/>
                    </a:bodyPr>
                    <a:p>
                      <a:pPr>
                        <a:lnSpc>
                          <a:spcPct val="100000"/>
                        </a:lnSpc>
                      </a:pPr>
                      <a:r>
                        <a:rPr b="1" lang="en-US" sz="700" spc="-1" strike="noStrike">
                          <a:solidFill>
                            <a:srgbClr val="ffffff"/>
                          </a:solidFill>
                          <a:latin typeface="Arial"/>
                          <a:ea typeface="Arial"/>
                        </a:rPr>
                        <a:t>Hosted In</a:t>
                      </a:r>
                      <a:endParaRPr b="0" lang="en-US" sz="700" spc="-1" strike="noStrike">
                        <a:solidFill>
                          <a:srgbClr val="ffffff"/>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f2a44"/>
                    </a:solidFill>
                  </a:tcPr>
                </a:tc>
                <a:tc>
                  <a:txBody>
                    <a:bodyPr lIns="45720" rIns="45720" anchor="ctr">
                      <a:noAutofit/>
                    </a:bodyPr>
                    <a:p>
                      <a:pPr>
                        <a:lnSpc>
                          <a:spcPct val="100000"/>
                        </a:lnSpc>
                      </a:pPr>
                      <a:r>
                        <a:rPr b="1" lang="en-US" sz="700" spc="-1" strike="noStrike">
                          <a:solidFill>
                            <a:srgbClr val="ffffff"/>
                          </a:solidFill>
                          <a:latin typeface="Arial"/>
                          <a:ea typeface="Arial"/>
                        </a:rPr>
                        <a:t>Role</a:t>
                      </a:r>
                      <a:endParaRPr b="0" lang="en-US" sz="700" spc="-1" strike="noStrike">
                        <a:solidFill>
                          <a:srgbClr val="ffffff"/>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f2a44"/>
                    </a:solidFill>
                  </a:tcPr>
                </a:tc>
              </a:tr>
              <a:tr h="132840">
                <a:tc>
                  <a:txBody>
                    <a:bodyPr lIns="45720" rIns="45720" anchor="ctr">
                      <a:noAutofit/>
                    </a:bodyPr>
                    <a:p>
                      <a:pPr>
                        <a:lnSpc>
                          <a:spcPct val="100000"/>
                        </a:lnSpc>
                      </a:pPr>
                      <a:r>
                        <a:rPr b="1" lang="en-US" sz="630" spc="-1" strike="noStrike">
                          <a:solidFill>
                            <a:srgbClr val="ec6b3d"/>
                          </a:solidFill>
                          <a:latin typeface="Arial"/>
                          <a:ea typeface="Arial"/>
                        </a:rPr>
                        <a:t>Revenue line</a:t>
                      </a:r>
                      <a:endParaRPr b="0" lang="en-US" sz="63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1" lang="en-US" sz="680" spc="-1" strike="noStrike">
                          <a:solidFill>
                            <a:srgbClr val="1f2a44"/>
                          </a:solidFill>
                          <a:latin typeface="Arial"/>
                          <a:ea typeface="Arial"/>
                        </a:rPr>
                        <a:t>Outplacement</a:t>
                      </a:r>
                      <a:endParaRPr b="0" lang="en-US" sz="68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0" lang="en-US" sz="630" spc="-1" strike="noStrike">
                          <a:solidFill>
                            <a:srgbClr val="555555"/>
                          </a:solidFill>
                          <a:latin typeface="Arial"/>
                          <a:ea typeface="Arial"/>
                        </a:rPr>
                        <a:t>DeepEdge</a:t>
                      </a:r>
                      <a:endParaRPr b="0" lang="en-US" sz="63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0" lang="en-US" sz="650" spc="-1" strike="noStrike">
                          <a:solidFill>
                            <a:srgbClr val="333333"/>
                          </a:solidFill>
                          <a:latin typeface="Arial"/>
                          <a:ea typeface="Arial"/>
                        </a:rPr>
                        <a:t>Enterprise pays per-headcount -- departing employees routed into the Verified Expert ecosystem</a:t>
                      </a:r>
                      <a:endParaRPr b="0" lang="en-US" sz="65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r>
              <a:tr h="132840">
                <a:tc>
                  <a:txBody>
                    <a:bodyPr lIns="45720" rIns="45720" anchor="ctr">
                      <a:noAutofit/>
                    </a:bodyPr>
                    <a:p>
                      <a:pPr>
                        <a:lnSpc>
                          <a:spcPct val="100000"/>
                        </a:lnSpc>
                      </a:pPr>
                      <a:r>
                        <a:rPr b="1" lang="en-US" sz="630" spc="-1" strike="noStrike">
                          <a:solidFill>
                            <a:srgbClr val="ec6b3d"/>
                          </a:solidFill>
                          <a:latin typeface="Arial"/>
                          <a:ea typeface="Arial"/>
                        </a:rPr>
                        <a:t>Revenue line</a:t>
                      </a:r>
                      <a:endParaRPr b="0" lang="en-US" sz="63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1" lang="en-US" sz="680" spc="-1" strike="noStrike">
                          <a:solidFill>
                            <a:srgbClr val="1f2a44"/>
                          </a:solidFill>
                          <a:latin typeface="Arial"/>
                          <a:ea typeface="Arial"/>
                        </a:rPr>
                        <a:t>Coaching (Mentorship)</a:t>
                      </a:r>
                      <a:endParaRPr b="0" lang="en-US" sz="68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0" lang="en-US" sz="630" spc="-1" strike="noStrike">
                          <a:solidFill>
                            <a:srgbClr val="555555"/>
                          </a:solidFill>
                          <a:latin typeface="Arial"/>
                          <a:ea typeface="Arial"/>
                        </a:rPr>
                        <a:t>FlexPro, surfaced platform-wide</a:t>
                      </a:r>
                      <a:endParaRPr b="0" lang="en-US" sz="63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0" lang="en-US" sz="650" spc="-1" strike="noStrike">
                          <a:solidFill>
                            <a:srgbClr val="333333"/>
                          </a:solidFill>
                          <a:latin typeface="Arial"/>
                          <a:ea typeface="Arial"/>
                        </a:rPr>
                        <a:t>Verified Experts monetize expertise directly -- sessions, cohorts, packages; platform take-rate</a:t>
                      </a:r>
                      <a:endParaRPr b="0" lang="en-US" sz="65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r>
              <a:tr h="132840">
                <a:tc>
                  <a:txBody>
                    <a:bodyPr lIns="45720" rIns="45720" anchor="ctr">
                      <a:noAutofit/>
                    </a:bodyPr>
                    <a:p>
                      <a:pPr>
                        <a:lnSpc>
                          <a:spcPct val="100000"/>
                        </a:lnSpc>
                      </a:pPr>
                      <a:r>
                        <a:rPr b="1" lang="en-US" sz="630" spc="-1" strike="noStrike">
                          <a:solidFill>
                            <a:srgbClr val="ec6b3d"/>
                          </a:solidFill>
                          <a:latin typeface="Arial"/>
                          <a:ea typeface="Arial"/>
                        </a:rPr>
                        <a:t>Feature -- Primary</a:t>
                      </a:r>
                      <a:endParaRPr b="0" lang="en-US" sz="63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1" lang="en-US" sz="680" spc="-1" strike="noStrike">
                          <a:solidFill>
                            <a:srgbClr val="1f2a44"/>
                          </a:solidFill>
                          <a:latin typeface="Arial"/>
                          <a:ea typeface="Arial"/>
                        </a:rPr>
                        <a:t>Longlist (Future Hiring Pipeline)</a:t>
                      </a:r>
                      <a:endParaRPr b="0" lang="en-US" sz="68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0" lang="en-US" sz="630" spc="-1" strike="noStrike">
                          <a:solidFill>
                            <a:srgbClr val="555555"/>
                          </a:solidFill>
                          <a:latin typeface="Arial"/>
                          <a:ea typeface="Arial"/>
                        </a:rPr>
                        <a:t>own app</a:t>
                      </a:r>
                      <a:endParaRPr b="0" lang="en-US" sz="63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0" lang="en-US" sz="650" spc="-1" strike="noStrike">
                          <a:solidFill>
                            <a:srgbClr val="333333"/>
                          </a:solidFill>
                          <a:latin typeface="Arial"/>
                          <a:ea typeface="Arial"/>
                        </a:rPr>
                        <a:t>Enterprise pays for AI-matched, anticipatory access 3-12 months before a role opens</a:t>
                      </a:r>
                      <a:endParaRPr b="0" lang="en-US" sz="65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r>
              <a:tr h="132840">
                <a:tc>
                  <a:txBody>
                    <a:bodyPr lIns="45720" rIns="45720" anchor="ctr">
                      <a:noAutofit/>
                    </a:bodyPr>
                    <a:p>
                      <a:pPr>
                        <a:lnSpc>
                          <a:spcPct val="100000"/>
                        </a:lnSpc>
                      </a:pPr>
                      <a:r>
                        <a:rPr b="1" lang="en-US" sz="630" spc="-1" strike="noStrike">
                          <a:solidFill>
                            <a:srgbClr val="555555"/>
                          </a:solidFill>
                          <a:latin typeface="Arial"/>
                          <a:ea typeface="Arial"/>
                        </a:rPr>
                        <a:t>Feature -- Supporting</a:t>
                      </a:r>
                      <a:endParaRPr b="0" lang="en-US" sz="63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c>
                  <a:txBody>
                    <a:bodyPr lIns="45720" rIns="45720" anchor="ctr">
                      <a:noAutofit/>
                    </a:bodyPr>
                    <a:p>
                      <a:pPr>
                        <a:lnSpc>
                          <a:spcPct val="100000"/>
                        </a:lnSpc>
                      </a:pPr>
                      <a:r>
                        <a:rPr b="1" lang="en-US" sz="680" spc="-1" strike="noStrike">
                          <a:solidFill>
                            <a:srgbClr val="1f2a44"/>
                          </a:solidFill>
                          <a:latin typeface="Arial"/>
                          <a:ea typeface="Arial"/>
                        </a:rPr>
                        <a:t>DeepEdge (core hiring)</a:t>
                      </a:r>
                      <a:endParaRPr b="0" lang="en-US" sz="68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c>
                  <a:txBody>
                    <a:bodyPr lIns="45720" rIns="45720" anchor="ctr">
                      <a:noAutofit/>
                    </a:bodyPr>
                    <a:p>
                      <a:pPr>
                        <a:lnSpc>
                          <a:spcPct val="100000"/>
                        </a:lnSpc>
                      </a:pPr>
                      <a:r>
                        <a:rPr b="0" lang="en-US" sz="630" spc="-1" strike="noStrike">
                          <a:solidFill>
                            <a:srgbClr val="555555"/>
                          </a:solidFill>
                          <a:latin typeface="Arial"/>
                          <a:ea typeface="Arial"/>
                        </a:rPr>
                        <a:t>own app</a:t>
                      </a:r>
                      <a:endParaRPr b="0" lang="en-US" sz="63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c>
                  <a:txBody>
                    <a:bodyPr lIns="45720" rIns="45720" anchor="ctr">
                      <a:noAutofit/>
                    </a:bodyPr>
                    <a:p>
                      <a:pPr>
                        <a:lnSpc>
                          <a:spcPct val="100000"/>
                        </a:lnSpc>
                      </a:pPr>
                      <a:r>
                        <a:rPr b="0" lang="en-US" sz="650" spc="-1" strike="noStrike">
                          <a:solidFill>
                            <a:srgbClr val="333333"/>
                          </a:solidFill>
                          <a:latin typeface="Arial"/>
                          <a:ea typeface="Arial"/>
                        </a:rPr>
                        <a:t>Verified job board + candidate database -- every real hire strengthens the Score</a:t>
                      </a:r>
                      <a:endParaRPr b="0" lang="en-US" sz="65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r>
              <a:tr h="132840">
                <a:tc>
                  <a:txBody>
                    <a:bodyPr lIns="45720" rIns="45720" anchor="ctr">
                      <a:noAutofit/>
                    </a:bodyPr>
                    <a:p>
                      <a:pPr>
                        <a:lnSpc>
                          <a:spcPct val="100000"/>
                        </a:lnSpc>
                      </a:pPr>
                      <a:r>
                        <a:rPr b="1" lang="en-US" sz="630" spc="-1" strike="noStrike">
                          <a:solidFill>
                            <a:srgbClr val="555555"/>
                          </a:solidFill>
                          <a:latin typeface="Arial"/>
                          <a:ea typeface="Arial"/>
                        </a:rPr>
                        <a:t>Feature -- Supporting</a:t>
                      </a:r>
                      <a:endParaRPr b="0" lang="en-US" sz="63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c>
                  <a:txBody>
                    <a:bodyPr lIns="45720" rIns="45720" anchor="ctr">
                      <a:noAutofit/>
                    </a:bodyPr>
                    <a:p>
                      <a:pPr>
                        <a:lnSpc>
                          <a:spcPct val="100000"/>
                        </a:lnSpc>
                      </a:pPr>
                      <a:r>
                        <a:rPr b="1" lang="en-US" sz="680" spc="-1" strike="noStrike">
                          <a:solidFill>
                            <a:srgbClr val="1f2a44"/>
                          </a:solidFill>
                          <a:latin typeface="Arial"/>
                          <a:ea typeface="Arial"/>
                        </a:rPr>
                        <a:t>FlexPro</a:t>
                      </a:r>
                      <a:endParaRPr b="0" lang="en-US" sz="68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c>
                  <a:txBody>
                    <a:bodyPr lIns="45720" rIns="45720" anchor="ctr">
                      <a:noAutofit/>
                    </a:bodyPr>
                    <a:p>
                      <a:pPr>
                        <a:lnSpc>
                          <a:spcPct val="100000"/>
                        </a:lnSpc>
                      </a:pPr>
                      <a:r>
                        <a:rPr b="0" lang="en-US" sz="630" spc="-1" strike="noStrike">
                          <a:solidFill>
                            <a:srgbClr val="555555"/>
                          </a:solidFill>
                          <a:latin typeface="Arial"/>
                          <a:ea typeface="Arial"/>
                        </a:rPr>
                        <a:t>own app</a:t>
                      </a:r>
                      <a:endParaRPr b="0" lang="en-US" sz="63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c>
                  <a:txBody>
                    <a:bodyPr lIns="45720" rIns="45720" anchor="ctr">
                      <a:noAutofit/>
                    </a:bodyPr>
                    <a:p>
                      <a:pPr>
                        <a:lnSpc>
                          <a:spcPct val="100000"/>
                        </a:lnSpc>
                      </a:pPr>
                      <a:r>
                        <a:rPr b="0" lang="en-US" sz="650" spc="-1" strike="noStrike">
                          <a:solidFill>
                            <a:srgbClr val="333333"/>
                          </a:solidFill>
                          <a:latin typeface="Arial"/>
                          <a:ea typeface="Arial"/>
                        </a:rPr>
                        <a:t>Subscription + low-fee gig delivery -- feeds verified-outcome reviews into the Score</a:t>
                      </a:r>
                      <a:endParaRPr b="0" lang="en-US" sz="65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r>
              <a:tr h="132840">
                <a:tc>
                  <a:txBody>
                    <a:bodyPr lIns="45720" rIns="45720" anchor="ctr">
                      <a:noAutofit/>
                    </a:bodyPr>
                    <a:p>
                      <a:pPr>
                        <a:lnSpc>
                          <a:spcPct val="100000"/>
                        </a:lnSpc>
                      </a:pPr>
                      <a:r>
                        <a:rPr b="1" lang="en-US" sz="630" spc="-1" strike="noStrike">
                          <a:solidFill>
                            <a:srgbClr val="555555"/>
                          </a:solidFill>
                          <a:latin typeface="Arial"/>
                          <a:ea typeface="Arial"/>
                        </a:rPr>
                        <a:t>Feature -- Supporting</a:t>
                      </a:r>
                      <a:endParaRPr b="0" lang="en-US" sz="63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c>
                  <a:txBody>
                    <a:bodyPr lIns="45720" rIns="45720" anchor="ctr">
                      <a:noAutofit/>
                    </a:bodyPr>
                    <a:p>
                      <a:pPr>
                        <a:lnSpc>
                          <a:spcPct val="100000"/>
                        </a:lnSpc>
                      </a:pPr>
                      <a:r>
                        <a:rPr b="1" lang="en-US" sz="680" spc="-1" strike="noStrike">
                          <a:solidFill>
                            <a:srgbClr val="1f2a44"/>
                          </a:solidFill>
                          <a:latin typeface="Arial"/>
                          <a:ea typeface="Arial"/>
                        </a:rPr>
                        <a:t>StackWorks</a:t>
                      </a:r>
                      <a:endParaRPr b="0" lang="en-US" sz="68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c>
                  <a:txBody>
                    <a:bodyPr lIns="45720" rIns="45720" anchor="ctr">
                      <a:noAutofit/>
                    </a:bodyPr>
                    <a:p>
                      <a:pPr>
                        <a:lnSpc>
                          <a:spcPct val="100000"/>
                        </a:lnSpc>
                      </a:pPr>
                      <a:r>
                        <a:rPr b="0" lang="en-US" sz="630" spc="-1" strike="noStrike">
                          <a:solidFill>
                            <a:srgbClr val="555555"/>
                          </a:solidFill>
                          <a:latin typeface="Arial"/>
                          <a:ea typeface="Arial"/>
                        </a:rPr>
                        <a:t>own app</a:t>
                      </a:r>
                      <a:endParaRPr b="0" lang="en-US" sz="63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c>
                  <a:txBody>
                    <a:bodyPr lIns="45720" rIns="45720" anchor="ctr">
                      <a:noAutofit/>
                    </a:bodyPr>
                    <a:p>
                      <a:pPr>
                        <a:lnSpc>
                          <a:spcPct val="100000"/>
                        </a:lnSpc>
                      </a:pPr>
                      <a:r>
                        <a:rPr b="0" lang="en-US" sz="650" spc="-1" strike="noStrike">
                          <a:solidFill>
                            <a:srgbClr val="333333"/>
                          </a:solidFill>
                          <a:latin typeface="Arial"/>
                          <a:ea typeface="Arial"/>
                        </a:rPr>
                        <a:t>Real project delivery, AI+human verified -- the single strongest Score input</a:t>
                      </a:r>
                      <a:endParaRPr b="0" lang="en-US" sz="65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r>
              <a:tr h="132840">
                <a:tc>
                  <a:txBody>
                    <a:bodyPr lIns="45720" rIns="45720" anchor="ctr">
                      <a:noAutofit/>
                    </a:bodyPr>
                    <a:p>
                      <a:pPr>
                        <a:lnSpc>
                          <a:spcPct val="100000"/>
                        </a:lnSpc>
                      </a:pPr>
                      <a:r>
                        <a:rPr b="1" lang="en-US" sz="630" spc="-1" strike="noStrike">
                          <a:solidFill>
                            <a:srgbClr val="555555"/>
                          </a:solidFill>
                          <a:latin typeface="Arial"/>
                          <a:ea typeface="Arial"/>
                        </a:rPr>
                        <a:t>Feature -- Supporting</a:t>
                      </a:r>
                      <a:endParaRPr b="0" lang="en-US" sz="63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c>
                  <a:txBody>
                    <a:bodyPr lIns="45720" rIns="45720" anchor="ctr">
                      <a:noAutofit/>
                    </a:bodyPr>
                    <a:p>
                      <a:pPr>
                        <a:lnSpc>
                          <a:spcPct val="100000"/>
                        </a:lnSpc>
                      </a:pPr>
                      <a:r>
                        <a:rPr b="1" lang="en-US" sz="680" spc="-1" strike="noStrike">
                          <a:solidFill>
                            <a:srgbClr val="1f2a44"/>
                          </a:solidFill>
                          <a:latin typeface="Arial"/>
                          <a:ea typeface="Arial"/>
                        </a:rPr>
                        <a:t>Salt &amp; Pepper + GreyMatters</a:t>
                      </a:r>
                      <a:endParaRPr b="0" lang="en-US" sz="68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c>
                  <a:txBody>
                    <a:bodyPr lIns="45720" rIns="45720" anchor="ctr">
                      <a:noAutofit/>
                    </a:bodyPr>
                    <a:p>
                      <a:pPr>
                        <a:lnSpc>
                          <a:spcPct val="100000"/>
                        </a:lnSpc>
                      </a:pPr>
                      <a:r>
                        <a:rPr b="0" lang="en-US" sz="630" spc="-1" strike="noStrike">
                          <a:solidFill>
                            <a:srgbClr val="555555"/>
                          </a:solidFill>
                          <a:latin typeface="Arial"/>
                          <a:ea typeface="Arial"/>
                        </a:rPr>
                        <a:t>own apps</a:t>
                      </a:r>
                      <a:endParaRPr b="0" lang="en-US" sz="63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c>
                  <a:txBody>
                    <a:bodyPr lIns="45720" rIns="45720" anchor="ctr">
                      <a:noAutofit/>
                    </a:bodyPr>
                    <a:p>
                      <a:pPr>
                        <a:lnSpc>
                          <a:spcPct val="100000"/>
                        </a:lnSpc>
                      </a:pPr>
                      <a:r>
                        <a:rPr b="0" lang="en-US" sz="650" spc="-1" strike="noStrike">
                          <a:solidFill>
                            <a:srgbClr val="333333"/>
                          </a:solidFill>
                          <a:latin typeface="Arial"/>
                          <a:ea typeface="Arial"/>
                        </a:rPr>
                        <a:t>Community engagement + published expertise -- reputation signal, organic reach</a:t>
                      </a:r>
                      <a:endParaRPr b="0" lang="en-US" sz="65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r>
            </a:tbl>
          </a:graphicData>
        </a:graphic>
      </p:graphicFrame>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4" name="Google Shape;94;p19" descr=""/>
          <p:cNvPicPr/>
          <p:nvPr/>
        </p:nvPicPr>
        <p:blipFill>
          <a:blip r:embed="rId1"/>
          <a:stretch/>
        </p:blipFill>
        <p:spPr>
          <a:xfrm>
            <a:off x="0" y="0"/>
            <a:ext cx="9142920" cy="5142600"/>
          </a:xfrm>
          <a:prstGeom prst="rect">
            <a:avLst/>
          </a:prstGeom>
          <a:ln w="0">
            <a:noFill/>
          </a:ln>
        </p:spPr>
      </p:pic>
      <p:sp>
        <p:nvSpPr>
          <p:cNvPr id="45" name="Google Shape;95;p19"/>
          <p:cNvSpPr/>
          <p:nvPr/>
        </p:nvSpPr>
        <p:spPr>
          <a:xfrm>
            <a:off x="313560" y="1040760"/>
            <a:ext cx="8704440" cy="3148560"/>
          </a:xfrm>
          <a:prstGeom prst="rect">
            <a:avLst/>
          </a:prstGeom>
          <a:noFill/>
          <a:ln w="0">
            <a:noFill/>
          </a:ln>
        </p:spPr>
        <p:style>
          <a:lnRef idx="0"/>
          <a:fillRef idx="0"/>
          <a:effectRef idx="0"/>
          <a:fontRef idx="minor"/>
        </p:style>
        <p:txBody>
          <a:bodyPr lIns="90000" rIns="90000" tIns="91440" bIns="91440" anchor="t">
            <a:noAutofit/>
          </a:bodyPr>
          <a:p>
            <a:pPr marL="457200" indent="-298440" algn="just">
              <a:lnSpc>
                <a:spcPct val="115000"/>
              </a:lnSpc>
              <a:spcBef>
                <a:spcPts val="916"/>
              </a:spcBef>
              <a:buClr>
                <a:srgbClr val="000000"/>
              </a:buClr>
              <a:buFont typeface="Arial"/>
              <a:buAutoNum type="arabicPeriod"/>
            </a:pPr>
            <a:r>
              <a:rPr b="1" lang="en-GB" sz="1100" spc="-1" strike="noStrike">
                <a:solidFill>
                  <a:schemeClr val="dk1"/>
                </a:solidFill>
                <a:latin typeface="Arial"/>
                <a:ea typeface="Arial"/>
              </a:rPr>
              <a:t>What role will AI play in your proposed solution, and why is it essential?</a:t>
            </a:r>
            <a:endParaRPr b="0" lang="en-US" sz="1100" spc="-1" strike="noStrike">
              <a:solidFill>
                <a:srgbClr val="000000"/>
              </a:solidFill>
              <a:latin typeface="Arial"/>
              <a:ea typeface="Noto Sans CJK SC"/>
            </a:endParaRPr>
          </a:p>
          <a:p>
            <a:pPr marL="457200" indent="-298440" algn="just">
              <a:lnSpc>
                <a:spcPct val="115000"/>
              </a:lnSpc>
              <a:spcBef>
                <a:spcPts val="116"/>
              </a:spcBef>
              <a:spcAft>
                <a:spcPts val="317"/>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The mechanism that makes “verified” scale past manual review -- what employers actually pay for. Six AI systems run in production today, plus four on the near-term roadmap (marked below):</a:t>
            </a:r>
            <a:endParaRPr b="0" lang="en-US" sz="1000" spc="-1" strike="noStrike">
              <a:solidFill>
                <a:srgbClr val="000000"/>
              </a:solidFill>
              <a:latin typeface="Arial"/>
              <a:ea typeface="Noto Sans CJK SC"/>
            </a:endParaRPr>
          </a:p>
          <a:p>
            <a:pPr marL="457200" indent="-298440" algn="just">
              <a:lnSpc>
                <a:spcPct val="115000"/>
              </a:lnSpc>
              <a:buClr>
                <a:srgbClr val="000000"/>
              </a:buClr>
              <a:buFont typeface="Arial"/>
              <a:buAutoNum type="arabicPeriod"/>
              <a:tabLst>
                <a:tab algn="l" pos="0"/>
              </a:tabLst>
            </a:pPr>
            <a:r>
              <a:rPr b="1" lang="en-GB" sz="1100" spc="-1" strike="noStrike">
                <a:solidFill>
                  <a:schemeClr val="dk1"/>
                </a:solidFill>
                <a:latin typeface="Arial"/>
                <a:ea typeface="Arial"/>
              </a:rPr>
              <a:t>What technologies, AI models, or frameworks do you plan to use, and why?</a:t>
            </a:r>
            <a:endParaRPr b="0" lang="en-US" sz="1100" spc="-1" strike="noStrike">
              <a:solidFill>
                <a:srgbClr val="000000"/>
              </a:solidFill>
              <a:latin typeface="Arial"/>
              <a:ea typeface="Noto Sans CJK SC"/>
            </a:endParaRPr>
          </a:p>
          <a:p>
            <a:pPr marL="457200" indent="-298440" algn="just">
              <a:lnSpc>
                <a:spcPct val="115000"/>
              </a:lnSpc>
              <a:spcBef>
                <a:spcPts val="116"/>
              </a:spcBef>
              <a:spcAft>
                <a:spcPts val="317"/>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A pluggable, admin-configurable LLM registry (Anthropic, OpenAI, self-hosted Ollama fallback) behind every feature -- never locked to one vendor; every call is timeout-bounded and fails over automatically instead of breaking a paying customer's workflow.</a:t>
            </a:r>
            <a:endParaRPr b="0" lang="en-US" sz="1000" spc="-1" strike="noStrike">
              <a:solidFill>
                <a:srgbClr val="000000"/>
              </a:solidFill>
              <a:latin typeface="Arial"/>
              <a:ea typeface="Noto Sans CJK SC"/>
            </a:endParaRPr>
          </a:p>
          <a:p>
            <a:pPr marL="457200" indent="-298440" algn="just">
              <a:lnSpc>
                <a:spcPct val="115000"/>
              </a:lnSpc>
              <a:spcBef>
                <a:spcPts val="116"/>
              </a:spcBef>
              <a:spcAft>
                <a:spcPts val="317"/>
              </a:spcAft>
              <a:tabLst>
                <a:tab algn="l" pos="0"/>
              </a:tabLst>
            </a:pPr>
            <a:endParaRPr b="0" lang="en-US" sz="1000" spc="-1" strike="noStrike">
              <a:solidFill>
                <a:srgbClr val="000000"/>
              </a:solidFill>
              <a:latin typeface="Arial"/>
              <a:ea typeface="Noto Sans CJK SC"/>
            </a:endParaRPr>
          </a:p>
          <a:p>
            <a:pPr marL="457200" indent="-298440" algn="just">
              <a:lnSpc>
                <a:spcPct val="115000"/>
              </a:lnSpc>
              <a:spcBef>
                <a:spcPts val="116"/>
              </a:spcBef>
              <a:spcAft>
                <a:spcPts val="317"/>
              </a:spcAft>
              <a:tabLst>
                <a:tab algn="l" pos="0"/>
              </a:tabLst>
            </a:pPr>
            <a:endParaRPr b="0" lang="en-US" sz="1000" spc="-1" strike="noStrike">
              <a:solidFill>
                <a:srgbClr val="000000"/>
              </a:solidFill>
              <a:latin typeface="Arial"/>
              <a:ea typeface="Noto Sans CJK SC"/>
            </a:endParaRPr>
          </a:p>
          <a:p>
            <a:pPr marL="457200" indent="-298440" algn="just">
              <a:lnSpc>
                <a:spcPct val="115000"/>
              </a:lnSpc>
              <a:spcBef>
                <a:spcPts val="116"/>
              </a:spcBef>
              <a:spcAft>
                <a:spcPts val="317"/>
              </a:spcAft>
              <a:tabLst>
                <a:tab algn="l" pos="0"/>
              </a:tabLst>
            </a:pPr>
            <a:endParaRPr b="0" lang="en-US" sz="1000" spc="-1" strike="noStrike">
              <a:solidFill>
                <a:srgbClr val="000000"/>
              </a:solidFill>
              <a:latin typeface="Arial"/>
              <a:ea typeface="Noto Sans CJK SC"/>
            </a:endParaRPr>
          </a:p>
          <a:p>
            <a:pPr marL="457200" indent="-298440" algn="just">
              <a:lnSpc>
                <a:spcPct val="115000"/>
              </a:lnSpc>
              <a:spcBef>
                <a:spcPts val="116"/>
              </a:spcBef>
              <a:spcAft>
                <a:spcPts val="317"/>
              </a:spcAft>
              <a:tabLst>
                <a:tab algn="l" pos="0"/>
              </a:tabLst>
            </a:pPr>
            <a:endParaRPr b="0" lang="en-US" sz="1000" spc="-1" strike="noStrike">
              <a:solidFill>
                <a:srgbClr val="000000"/>
              </a:solidFill>
              <a:latin typeface="Arial"/>
              <a:ea typeface="Noto Sans CJK SC"/>
            </a:endParaRPr>
          </a:p>
          <a:p>
            <a:pPr marL="457200" indent="-298440" algn="just">
              <a:lnSpc>
                <a:spcPct val="115000"/>
              </a:lnSpc>
              <a:spcBef>
                <a:spcPts val="116"/>
              </a:spcBef>
              <a:spcAft>
                <a:spcPts val="317"/>
              </a:spcAft>
              <a:tabLst>
                <a:tab algn="l" pos="0"/>
              </a:tabLst>
            </a:pPr>
            <a:endParaRPr b="0" lang="en-US" sz="1000" spc="-1" strike="noStrike">
              <a:solidFill>
                <a:srgbClr val="000000"/>
              </a:solidFill>
              <a:latin typeface="Arial"/>
              <a:ea typeface="Noto Sans CJK SC"/>
            </a:endParaRPr>
          </a:p>
          <a:p>
            <a:pPr marL="457200" indent="-298440" algn="just">
              <a:lnSpc>
                <a:spcPct val="115000"/>
              </a:lnSpc>
              <a:spcBef>
                <a:spcPts val="116"/>
              </a:spcBef>
              <a:spcAft>
                <a:spcPts val="317"/>
              </a:spcAft>
              <a:tabLst>
                <a:tab algn="l" pos="0"/>
              </a:tabLst>
            </a:pPr>
            <a:endParaRPr b="0" lang="en-US" sz="1000" spc="-1" strike="noStrike">
              <a:solidFill>
                <a:srgbClr val="000000"/>
              </a:solidFill>
              <a:latin typeface="Arial"/>
              <a:ea typeface="Noto Sans CJK SC"/>
            </a:endParaRPr>
          </a:p>
          <a:p>
            <a:pPr marL="457200" indent="-298440" algn="just">
              <a:lnSpc>
                <a:spcPct val="115000"/>
              </a:lnSpc>
              <a:spcBef>
                <a:spcPts val="116"/>
              </a:spcBef>
              <a:spcAft>
                <a:spcPts val="317"/>
              </a:spcAft>
              <a:tabLst>
                <a:tab algn="l" pos="0"/>
              </a:tabLst>
            </a:pPr>
            <a:endParaRPr b="0" lang="en-US" sz="1000" spc="-1" strike="noStrike">
              <a:solidFill>
                <a:srgbClr val="000000"/>
              </a:solidFill>
              <a:latin typeface="Arial"/>
              <a:ea typeface="Noto Sans CJK SC"/>
            </a:endParaRPr>
          </a:p>
          <a:p>
            <a:pPr marL="457200" indent="-298440" algn="just">
              <a:lnSpc>
                <a:spcPct val="115000"/>
              </a:lnSpc>
              <a:spcBef>
                <a:spcPts val="116"/>
              </a:spcBef>
              <a:spcAft>
                <a:spcPts val="317"/>
              </a:spcAft>
              <a:tabLst>
                <a:tab algn="l" pos="0"/>
              </a:tabLst>
            </a:pPr>
            <a:endParaRPr b="0" lang="en-US" sz="1000" spc="-1" strike="noStrike">
              <a:solidFill>
                <a:srgbClr val="000000"/>
              </a:solidFill>
              <a:latin typeface="Arial"/>
              <a:ea typeface="Noto Sans CJK SC"/>
            </a:endParaRPr>
          </a:p>
          <a:p>
            <a:pPr marL="457200" indent="-298440" algn="just">
              <a:lnSpc>
                <a:spcPct val="115000"/>
              </a:lnSpc>
              <a:spcBef>
                <a:spcPts val="116"/>
              </a:spcBef>
              <a:spcAft>
                <a:spcPts val="317"/>
              </a:spcAft>
              <a:tabLst>
                <a:tab algn="l" pos="0"/>
              </a:tabLst>
            </a:pPr>
            <a:endParaRPr b="0" lang="en-US" sz="1000" spc="-1" strike="noStrike">
              <a:solidFill>
                <a:srgbClr val="000000"/>
              </a:solidFill>
              <a:latin typeface="Arial"/>
              <a:ea typeface="Noto Sans CJK SC"/>
            </a:endParaRPr>
          </a:p>
          <a:p>
            <a:pPr marL="457200" indent="-298440" algn="just">
              <a:lnSpc>
                <a:spcPct val="115000"/>
              </a:lnSpc>
              <a:buClr>
                <a:srgbClr val="000000"/>
              </a:buClr>
              <a:buFont typeface="Arial"/>
              <a:buAutoNum type="arabicPeriod"/>
              <a:tabLst>
                <a:tab algn="l" pos="0"/>
              </a:tabLst>
            </a:pPr>
            <a:r>
              <a:rPr b="1" lang="en-GB" sz="1100" spc="-1" strike="noStrike">
                <a:solidFill>
                  <a:schemeClr val="dk1"/>
                </a:solidFill>
                <a:latin typeface="Arial"/>
                <a:ea typeface="Arial"/>
              </a:rPr>
              <a:t>What makes you feel your product is a genuine AI product, and not an AI wrapper?</a:t>
            </a:r>
            <a:endParaRPr b="0" lang="en-US" sz="1100" spc="-1" strike="noStrike">
              <a:solidFill>
                <a:srgbClr val="000000"/>
              </a:solidFill>
              <a:latin typeface="Arial"/>
              <a:ea typeface="Noto Sans CJK SC"/>
            </a:endParaRPr>
          </a:p>
          <a:p>
            <a:pPr marL="457200" indent="-298440" algn="just">
              <a:lnSpc>
                <a:spcPct val="115000"/>
              </a:lnSpc>
              <a:spcBef>
                <a:spcPts val="116"/>
              </a:spcBef>
              <a:spcAft>
                <a:spcPts val="317"/>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Every call changes what data exists afterward, feeding the next match -- not a chat layer wrapped around someone else's directory. Each verified interaction compounds into every future match's accuracy: a real data network effect.</a:t>
            </a:r>
            <a:endParaRPr b="0" lang="en-US" sz="1000" spc="-1" strike="noStrike">
              <a:solidFill>
                <a:srgbClr val="000000"/>
              </a:solidFill>
              <a:latin typeface="Arial"/>
              <a:ea typeface="Noto Sans CJK SC"/>
            </a:endParaRPr>
          </a:p>
        </p:txBody>
      </p:sp>
      <p:sp>
        <p:nvSpPr>
          <p:cNvPr id="46" name="Google Shape;96;p19"/>
          <p:cNvSpPr/>
          <p:nvPr/>
        </p:nvSpPr>
        <p:spPr>
          <a:xfrm>
            <a:off x="304200" y="591840"/>
            <a:ext cx="5152680" cy="506160"/>
          </a:xfrm>
          <a:prstGeom prst="rect">
            <a:avLst/>
          </a:prstGeom>
          <a:noFill/>
          <a:ln w="0">
            <a:noFill/>
          </a:ln>
        </p:spPr>
        <p:style>
          <a:lnRef idx="0"/>
          <a:fillRef idx="0"/>
          <a:effectRef idx="0"/>
          <a:fontRef idx="minor"/>
        </p:style>
        <p:txBody>
          <a:bodyPr lIns="90000" rIns="90000" tIns="91440" bIns="91440" anchor="t">
            <a:noAutofit/>
          </a:bodyPr>
          <a:p>
            <a:pPr algn="just">
              <a:lnSpc>
                <a:spcPct val="115000"/>
              </a:lnSpc>
              <a:spcBef>
                <a:spcPts val="2401"/>
              </a:spcBef>
              <a:spcAft>
                <a:spcPts val="601"/>
              </a:spcAft>
              <a:tabLst>
                <a:tab algn="l" pos="0"/>
              </a:tabLst>
            </a:pPr>
            <a:r>
              <a:rPr b="1" lang="en-GB" sz="2300" spc="-1" strike="noStrike">
                <a:solidFill>
                  <a:schemeClr val="dk1"/>
                </a:solidFill>
                <a:latin typeface="Arial"/>
                <a:ea typeface="Arial"/>
              </a:rPr>
              <a:t>Technology &amp; AI Approach</a:t>
            </a:r>
            <a:endParaRPr b="0" lang="en-US" sz="2300" spc="-1" strike="noStrike">
              <a:solidFill>
                <a:srgbClr val="000000"/>
              </a:solidFill>
              <a:latin typeface="Arial"/>
            </a:endParaRPr>
          </a:p>
        </p:txBody>
      </p:sp>
      <p:graphicFrame>
        <p:nvGraphicFramePr>
          <p:cNvPr id="47" name="Table 96"/>
          <p:cNvGraphicFramePr/>
          <p:nvPr/>
        </p:nvGraphicFramePr>
        <p:xfrm>
          <a:off x="978480" y="2351520"/>
          <a:ext cx="5618160" cy="2008800"/>
        </p:xfrm>
        <a:graphic>
          <a:graphicData uri="http://schemas.openxmlformats.org/drawingml/2006/table">
            <a:tbl>
              <a:tblPr/>
              <a:tblGrid>
                <a:gridCol w="1379880"/>
                <a:gridCol w="3301920"/>
                <a:gridCol w="936720"/>
              </a:tblGrid>
              <a:tr h="90000">
                <a:tc>
                  <a:txBody>
                    <a:bodyPr lIns="45720" rIns="45720" anchor="ctr">
                      <a:noAutofit/>
                    </a:bodyPr>
                    <a:p>
                      <a:pPr algn="just">
                        <a:lnSpc>
                          <a:spcPct val="100000"/>
                        </a:lnSpc>
                      </a:pPr>
                      <a:r>
                        <a:rPr b="1" lang="en-US" sz="700" spc="-1" strike="noStrike">
                          <a:solidFill>
                            <a:srgbClr val="ffffff"/>
                          </a:solidFill>
                          <a:latin typeface="Arial"/>
                          <a:ea typeface="Arial"/>
                        </a:rPr>
                        <a:t>AI Capability</a:t>
                      </a:r>
                      <a:endParaRPr b="0" lang="en-US" sz="700" spc="-1" strike="noStrike">
                        <a:solidFill>
                          <a:srgbClr val="ffffff"/>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f2a44"/>
                    </a:solidFill>
                  </a:tcPr>
                </a:tc>
                <a:tc>
                  <a:txBody>
                    <a:bodyPr lIns="45720" rIns="45720" anchor="ctr">
                      <a:noAutofit/>
                    </a:bodyPr>
                    <a:p>
                      <a:pPr algn="just">
                        <a:lnSpc>
                          <a:spcPct val="100000"/>
                        </a:lnSpc>
                      </a:pPr>
                      <a:r>
                        <a:rPr b="1" lang="en-US" sz="700" spc="-1" strike="noStrike">
                          <a:solidFill>
                            <a:srgbClr val="ffffff"/>
                          </a:solidFill>
                          <a:latin typeface="Arial"/>
                          <a:ea typeface="Arial"/>
                        </a:rPr>
                        <a:t>What It Does</a:t>
                      </a:r>
                      <a:endParaRPr b="0" lang="en-US" sz="700" spc="-1" strike="noStrike">
                        <a:solidFill>
                          <a:srgbClr val="ffffff"/>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f2a44"/>
                    </a:solidFill>
                  </a:tcPr>
                </a:tc>
                <a:tc>
                  <a:txBody>
                    <a:bodyPr lIns="45720" rIns="45720" anchor="ctr">
                      <a:noAutofit/>
                    </a:bodyPr>
                    <a:p>
                      <a:pPr algn="just">
                        <a:lnSpc>
                          <a:spcPct val="100000"/>
                        </a:lnSpc>
                      </a:pPr>
                      <a:r>
                        <a:rPr b="1" lang="en-US" sz="700" spc="-1" strike="noStrike">
                          <a:solidFill>
                            <a:srgbClr val="ffffff"/>
                          </a:solidFill>
                          <a:latin typeface="Arial"/>
                          <a:ea typeface="Arial"/>
                        </a:rPr>
                        <a:t>Status</a:t>
                      </a:r>
                      <a:endParaRPr b="0" lang="en-US" sz="700" spc="-1" strike="noStrike">
                        <a:solidFill>
                          <a:srgbClr val="ffffff"/>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f2a44"/>
                    </a:solidFill>
                  </a:tcPr>
                </a:tc>
              </a:tr>
              <a:tr h="119880">
                <a:tc>
                  <a:txBody>
                    <a:bodyPr lIns="45720" rIns="45720" anchor="ctr">
                      <a:noAutofit/>
                    </a:bodyPr>
                    <a:p>
                      <a:pPr algn="just">
                        <a:lnSpc>
                          <a:spcPct val="100000"/>
                        </a:lnSpc>
                      </a:pPr>
                      <a:r>
                        <a:rPr b="1" lang="en-US" sz="640" spc="-1" strike="noStrike">
                          <a:solidFill>
                            <a:srgbClr val="1f2a44"/>
                          </a:solidFill>
                          <a:latin typeface="Arial"/>
                          <a:ea typeface="Arial"/>
                        </a:rPr>
                        <a:t>AI-Verified Search</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gn="just">
                        <a:lnSpc>
                          <a:spcPct val="100000"/>
                        </a:lnSpc>
                      </a:pPr>
                      <a:r>
                        <a:rPr b="0" lang="en-US" sz="640" spc="-1" strike="noStrike">
                          <a:solidFill>
                            <a:srgbClr val="333333"/>
                          </a:solidFill>
                          <a:latin typeface="Arial"/>
                          <a:ea typeface="Arial"/>
                        </a:rPr>
                        <a:t>NL query → structured, ranked candidate filters</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gn="just">
                        <a:lnSpc>
                          <a:spcPct val="100000"/>
                        </a:lnSpc>
                      </a:pPr>
                      <a:r>
                        <a:rPr b="1" lang="en-US" sz="620" spc="-1" strike="noStrike">
                          <a:solidFill>
                            <a:srgbClr val="ec6b3d"/>
                          </a:solidFill>
                          <a:latin typeface="Arial"/>
                          <a:ea typeface="Arial"/>
                        </a:rPr>
                        <a:t>LIVE</a:t>
                      </a:r>
                      <a:endParaRPr b="0" lang="en-US" sz="62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r>
              <a:tr h="119880">
                <a:tc>
                  <a:txBody>
                    <a:bodyPr lIns="45720" rIns="45720" anchor="ctr">
                      <a:noAutofit/>
                    </a:bodyPr>
                    <a:p>
                      <a:pPr algn="just">
                        <a:lnSpc>
                          <a:spcPct val="100000"/>
                        </a:lnSpc>
                      </a:pPr>
                      <a:r>
                        <a:rPr b="1" lang="en-US" sz="640" spc="-1" strike="noStrike">
                          <a:solidFill>
                            <a:srgbClr val="1f2a44"/>
                          </a:solidFill>
                          <a:latin typeface="Arial"/>
                          <a:ea typeface="Arial"/>
                        </a:rPr>
                        <a:t>Verified-Outcome Scoring</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gn="just">
                        <a:lnSpc>
                          <a:spcPct val="100000"/>
                        </a:lnSpc>
                      </a:pPr>
                      <a:r>
                        <a:rPr b="0" lang="en-US" sz="640" spc="-1" strike="noStrike">
                          <a:solidFill>
                            <a:srgbClr val="333333"/>
                          </a:solidFill>
                          <a:latin typeface="Arial"/>
                          <a:ea typeface="Arial"/>
                        </a:rPr>
                        <a:t>AI+human review of real StackWorks deliverables</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gn="just">
                        <a:lnSpc>
                          <a:spcPct val="100000"/>
                        </a:lnSpc>
                      </a:pPr>
                      <a:r>
                        <a:rPr b="1" lang="en-US" sz="620" spc="-1" strike="noStrike">
                          <a:solidFill>
                            <a:srgbClr val="ec6b3d"/>
                          </a:solidFill>
                          <a:latin typeface="Arial"/>
                          <a:ea typeface="Arial"/>
                        </a:rPr>
                        <a:t>LIVE</a:t>
                      </a:r>
                      <a:endParaRPr b="0" lang="en-US" sz="62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r>
              <a:tr h="119880">
                <a:tc>
                  <a:txBody>
                    <a:bodyPr lIns="45720" rIns="45720" anchor="ctr">
                      <a:noAutofit/>
                    </a:bodyPr>
                    <a:p>
                      <a:pPr algn="just">
                        <a:lnSpc>
                          <a:spcPct val="100000"/>
                        </a:lnSpc>
                      </a:pPr>
                      <a:r>
                        <a:rPr b="1" lang="en-US" sz="640" spc="-1" strike="noStrike">
                          <a:solidFill>
                            <a:srgbClr val="1f2a44"/>
                          </a:solidFill>
                          <a:latin typeface="Arial"/>
                          <a:ea typeface="Arial"/>
                        </a:rPr>
                        <a:t>Longlist AI Matching</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gn="just">
                        <a:lnSpc>
                          <a:spcPct val="100000"/>
                        </a:lnSpc>
                      </a:pPr>
                      <a:r>
                        <a:rPr b="0" lang="en-US" sz="640" spc="-1" strike="noStrike">
                          <a:solidFill>
                            <a:srgbClr val="333333"/>
                          </a:solidFill>
                          <a:latin typeface="Arial"/>
                          <a:ea typeface="Arial"/>
                        </a:rPr>
                        <a:t>Surfaces future-role fits, no application needed</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gn="just">
                        <a:lnSpc>
                          <a:spcPct val="100000"/>
                        </a:lnSpc>
                      </a:pPr>
                      <a:r>
                        <a:rPr b="1" lang="en-US" sz="620" spc="-1" strike="noStrike">
                          <a:solidFill>
                            <a:srgbClr val="ec6b3d"/>
                          </a:solidFill>
                          <a:latin typeface="Arial"/>
                          <a:ea typeface="Arial"/>
                        </a:rPr>
                        <a:t>LIVE</a:t>
                      </a:r>
                      <a:endParaRPr b="0" lang="en-US" sz="62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r>
              <a:tr h="119880">
                <a:tc>
                  <a:txBody>
                    <a:bodyPr lIns="45720" rIns="45720" anchor="ctr">
                      <a:noAutofit/>
                    </a:bodyPr>
                    <a:p>
                      <a:pPr algn="just">
                        <a:lnSpc>
                          <a:spcPct val="100000"/>
                        </a:lnSpc>
                      </a:pPr>
                      <a:r>
                        <a:rPr b="1" lang="en-US" sz="640" spc="-1" strike="noStrike">
                          <a:solidFill>
                            <a:srgbClr val="1f2a44"/>
                          </a:solidFill>
                          <a:latin typeface="Arial"/>
                          <a:ea typeface="Arial"/>
                        </a:rPr>
                        <a:t>Quality &amp; Moderation Gates</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gn="just">
                        <a:lnSpc>
                          <a:spcPct val="100000"/>
                        </a:lnSpc>
                      </a:pPr>
                      <a:r>
                        <a:rPr b="0" lang="en-US" sz="640" spc="-1" strike="noStrike">
                          <a:solidFill>
                            <a:srgbClr val="333333"/>
                          </a:solidFill>
                          <a:latin typeface="Arial"/>
                          <a:ea typeface="Arial"/>
                        </a:rPr>
                        <a:t>Pre-publish safety gate (blocks before insert) + periodic quality sweep, across 3 features</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gn="just">
                        <a:lnSpc>
                          <a:spcPct val="100000"/>
                        </a:lnSpc>
                      </a:pPr>
                      <a:r>
                        <a:rPr b="1" lang="en-US" sz="620" spc="-1" strike="noStrike">
                          <a:solidFill>
                            <a:srgbClr val="ec6b3d"/>
                          </a:solidFill>
                          <a:latin typeface="Arial"/>
                          <a:ea typeface="Arial"/>
                        </a:rPr>
                        <a:t>LIVE</a:t>
                      </a:r>
                      <a:endParaRPr b="0" lang="en-US" sz="62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r>
              <a:tr h="119880">
                <a:tc>
                  <a:txBody>
                    <a:bodyPr lIns="45720" rIns="45720" anchor="ctr">
                      <a:noAutofit/>
                    </a:bodyPr>
                    <a:p>
                      <a:pPr algn="just">
                        <a:lnSpc>
                          <a:spcPct val="100000"/>
                        </a:lnSpc>
                      </a:pPr>
                      <a:r>
                        <a:rPr b="1" lang="en-US" sz="640" spc="-1" strike="noStrike">
                          <a:solidFill>
                            <a:srgbClr val="1f2a44"/>
                          </a:solidFill>
                          <a:latin typeface="Arial"/>
                          <a:ea typeface="Arial"/>
                        </a:rPr>
                        <a:t>Gig-Listing Quality Assist</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gn="just">
                        <a:lnSpc>
                          <a:spcPct val="100000"/>
                        </a:lnSpc>
                      </a:pPr>
                      <a:r>
                        <a:rPr b="0" lang="en-US" sz="640" spc="-1" strike="noStrike">
                          <a:solidFill>
                            <a:srgbClr val="333333"/>
                          </a:solidFill>
                          <a:latin typeface="Arial"/>
                          <a:ea typeface="Arial"/>
                        </a:rPr>
                        <a:t>On-demand AI rewrite tips at post time -- informational, never gates publish</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gn="just">
                        <a:lnSpc>
                          <a:spcPct val="100000"/>
                        </a:lnSpc>
                      </a:pPr>
                      <a:r>
                        <a:rPr b="1" lang="en-US" sz="620" spc="-1" strike="noStrike">
                          <a:solidFill>
                            <a:srgbClr val="ec6b3d"/>
                          </a:solidFill>
                          <a:latin typeface="Arial"/>
                          <a:ea typeface="Arial"/>
                        </a:rPr>
                        <a:t>LIVE</a:t>
                      </a:r>
                      <a:endParaRPr b="0" lang="en-US" sz="62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r>
              <a:tr h="119880">
                <a:tc>
                  <a:txBody>
                    <a:bodyPr lIns="45720" rIns="45720" anchor="ctr">
                      <a:noAutofit/>
                    </a:bodyPr>
                    <a:p>
                      <a:pPr algn="just">
                        <a:lnSpc>
                          <a:spcPct val="100000"/>
                        </a:lnSpc>
                      </a:pPr>
                      <a:r>
                        <a:rPr b="1" lang="en-US" sz="640" spc="-1" strike="noStrike">
                          <a:solidFill>
                            <a:srgbClr val="1f2a44"/>
                          </a:solidFill>
                          <a:latin typeface="Arial"/>
                          <a:ea typeface="Arial"/>
                        </a:rPr>
                        <a:t>Multi-Provider Core</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gn="just">
                        <a:lnSpc>
                          <a:spcPct val="100000"/>
                        </a:lnSpc>
                      </a:pPr>
                      <a:r>
                        <a:rPr b="0" lang="en-US" sz="640" spc="-1" strike="noStrike">
                          <a:solidFill>
                            <a:srgbClr val="333333"/>
                          </a:solidFill>
                          <a:latin typeface="Arial"/>
                          <a:ea typeface="Arial"/>
                        </a:rPr>
                        <a:t>Anthropic / OpenAI / Ollama, no vendor lock-in</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gn="just">
                        <a:lnSpc>
                          <a:spcPct val="100000"/>
                        </a:lnSpc>
                      </a:pPr>
                      <a:r>
                        <a:rPr b="1" lang="en-US" sz="620" spc="-1" strike="noStrike">
                          <a:solidFill>
                            <a:srgbClr val="ec6b3d"/>
                          </a:solidFill>
                          <a:latin typeface="Arial"/>
                          <a:ea typeface="Arial"/>
                        </a:rPr>
                        <a:t>LIVE</a:t>
                      </a:r>
                      <a:endParaRPr b="0" lang="en-US" sz="62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r>
              <a:tr h="119880">
                <a:tc>
                  <a:txBody>
                    <a:bodyPr lIns="45720" rIns="45720" anchor="ctr">
                      <a:noAutofit/>
                    </a:bodyPr>
                    <a:p>
                      <a:pPr algn="just">
                        <a:lnSpc>
                          <a:spcPct val="100000"/>
                        </a:lnSpc>
                      </a:pPr>
                      <a:r>
                        <a:rPr b="1" lang="en-US" sz="640" spc="-1" strike="noStrike">
                          <a:solidFill>
                            <a:srgbClr val="1f2a44"/>
                          </a:solidFill>
                          <a:latin typeface="Arial"/>
                          <a:ea typeface="Arial"/>
                        </a:rPr>
                        <a:t>Explainable Match Rationale</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aeef3"/>
                    </a:solidFill>
                  </a:tcPr>
                </a:tc>
                <a:tc>
                  <a:txBody>
                    <a:bodyPr lIns="45720" rIns="45720" anchor="ctr">
                      <a:noAutofit/>
                    </a:bodyPr>
                    <a:p>
                      <a:pPr algn="just">
                        <a:lnSpc>
                          <a:spcPct val="100000"/>
                        </a:lnSpc>
                      </a:pPr>
                      <a:r>
                        <a:rPr b="0" lang="en-US" sz="640" spc="-1" strike="noStrike">
                          <a:solidFill>
                            <a:srgbClr val="333333"/>
                          </a:solidFill>
                          <a:latin typeface="Arial"/>
                          <a:ea typeface="Arial"/>
                        </a:rPr>
                        <a:t>Plain-language “why this match” per result</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aeef3"/>
                    </a:solidFill>
                  </a:tcPr>
                </a:tc>
                <a:tc>
                  <a:txBody>
                    <a:bodyPr lIns="45720" rIns="45720" anchor="ctr">
                      <a:noAutofit/>
                    </a:bodyPr>
                    <a:p>
                      <a:pPr algn="just">
                        <a:lnSpc>
                          <a:spcPct val="100000"/>
                        </a:lnSpc>
                      </a:pPr>
                      <a:r>
                        <a:rPr b="1" lang="en-US" sz="620" spc="-1" strike="noStrike">
                          <a:solidFill>
                            <a:srgbClr val="4a6b8a"/>
                          </a:solidFill>
                          <a:latin typeface="Arial"/>
                          <a:ea typeface="Arial"/>
                        </a:rPr>
                        <a:t>ROADMAP</a:t>
                      </a:r>
                      <a:endParaRPr b="0" lang="en-US" sz="62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aeef3"/>
                    </a:solidFill>
                  </a:tcPr>
                </a:tc>
              </a:tr>
              <a:tr h="119880">
                <a:tc>
                  <a:txBody>
                    <a:bodyPr lIns="45720" rIns="45720" anchor="ctr">
                      <a:noAutofit/>
                    </a:bodyPr>
                    <a:p>
                      <a:pPr algn="just">
                        <a:lnSpc>
                          <a:spcPct val="100000"/>
                        </a:lnSpc>
                      </a:pPr>
                      <a:r>
                        <a:rPr b="1" lang="en-US" sz="640" spc="-1" strike="noStrike">
                          <a:solidFill>
                            <a:srgbClr val="1f2a44"/>
                          </a:solidFill>
                          <a:latin typeface="Arial"/>
                          <a:ea typeface="Arial"/>
                        </a:rPr>
                        <a:t>Bias / Fairness Auditing</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aeef3"/>
                    </a:solidFill>
                  </a:tcPr>
                </a:tc>
                <a:tc>
                  <a:txBody>
                    <a:bodyPr lIns="45720" rIns="45720" anchor="ctr">
                      <a:noAutofit/>
                    </a:bodyPr>
                    <a:p>
                      <a:pPr algn="just">
                        <a:lnSpc>
                          <a:spcPct val="100000"/>
                        </a:lnSpc>
                      </a:pPr>
                      <a:r>
                        <a:rPr b="0" lang="en-US" sz="640" spc="-1" strike="noStrike">
                          <a:solidFill>
                            <a:srgbClr val="333333"/>
                          </a:solidFill>
                          <a:latin typeface="Arial"/>
                          <a:ea typeface="Arial"/>
                        </a:rPr>
                        <a:t>Active skew monitoring on AI match output</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aeef3"/>
                    </a:solidFill>
                  </a:tcPr>
                </a:tc>
                <a:tc>
                  <a:txBody>
                    <a:bodyPr lIns="45720" rIns="45720" anchor="ctr">
                      <a:noAutofit/>
                    </a:bodyPr>
                    <a:p>
                      <a:pPr algn="just">
                        <a:lnSpc>
                          <a:spcPct val="100000"/>
                        </a:lnSpc>
                      </a:pPr>
                      <a:r>
                        <a:rPr b="1" lang="en-US" sz="620" spc="-1" strike="noStrike">
                          <a:solidFill>
                            <a:srgbClr val="4a6b8a"/>
                          </a:solidFill>
                          <a:latin typeface="Arial"/>
                          <a:ea typeface="Arial"/>
                        </a:rPr>
                        <a:t>ROADMAP</a:t>
                      </a:r>
                      <a:endParaRPr b="0" lang="en-US" sz="62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aeef3"/>
                    </a:solidFill>
                  </a:tcPr>
                </a:tc>
              </a:tr>
              <a:tr h="119880">
                <a:tc>
                  <a:txBody>
                    <a:bodyPr lIns="45720" rIns="45720" anchor="ctr">
                      <a:noAutofit/>
                    </a:bodyPr>
                    <a:p>
                      <a:pPr algn="just">
                        <a:lnSpc>
                          <a:spcPct val="100000"/>
                        </a:lnSpc>
                      </a:pPr>
                      <a:r>
                        <a:rPr b="1" lang="en-US" sz="640" spc="-1" strike="noStrike">
                          <a:solidFill>
                            <a:srgbClr val="1f2a44"/>
                          </a:solidFill>
                          <a:latin typeface="Arial"/>
                          <a:ea typeface="Arial"/>
                        </a:rPr>
                        <a:t>AI Mentor Matching</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aeef3"/>
                    </a:solidFill>
                  </a:tcPr>
                </a:tc>
                <a:tc>
                  <a:txBody>
                    <a:bodyPr lIns="45720" rIns="45720" anchor="ctr">
                      <a:noAutofit/>
                    </a:bodyPr>
                    <a:p>
                      <a:pPr algn="just">
                        <a:lnSpc>
                          <a:spcPct val="100000"/>
                        </a:lnSpc>
                      </a:pPr>
                      <a:r>
                        <a:rPr b="0" lang="en-US" sz="640" spc="-1" strike="noStrike">
                          <a:solidFill>
                            <a:srgbClr val="333333"/>
                          </a:solidFill>
                          <a:latin typeface="Arial"/>
                          <a:ea typeface="Arial"/>
                        </a:rPr>
                        <a:t>Best-fit coach suggestions -- Score + goals</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aeef3"/>
                    </a:solidFill>
                  </a:tcPr>
                </a:tc>
                <a:tc>
                  <a:txBody>
                    <a:bodyPr lIns="45720" rIns="45720" anchor="ctr">
                      <a:noAutofit/>
                    </a:bodyPr>
                    <a:p>
                      <a:pPr algn="just">
                        <a:lnSpc>
                          <a:spcPct val="100000"/>
                        </a:lnSpc>
                      </a:pPr>
                      <a:r>
                        <a:rPr b="1" lang="en-US" sz="620" spc="-1" strike="noStrike">
                          <a:solidFill>
                            <a:srgbClr val="4a6b8a"/>
                          </a:solidFill>
                          <a:latin typeface="Arial"/>
                          <a:ea typeface="Arial"/>
                        </a:rPr>
                        <a:t>ROADMAP</a:t>
                      </a:r>
                      <a:endParaRPr b="0" lang="en-US" sz="62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aeef3"/>
                    </a:solidFill>
                  </a:tcPr>
                </a:tc>
              </a:tr>
              <a:tr h="119880">
                <a:tc>
                  <a:txBody>
                    <a:bodyPr lIns="45720" rIns="45720" anchor="ctr">
                      <a:noAutofit/>
                    </a:bodyPr>
                    <a:p>
                      <a:pPr algn="just">
                        <a:lnSpc>
                          <a:spcPct val="100000"/>
                        </a:lnSpc>
                      </a:pPr>
                      <a:r>
                        <a:rPr b="1" lang="en-US" sz="640" spc="-1" strike="noStrike">
                          <a:solidFill>
                            <a:srgbClr val="1f2a44"/>
                          </a:solidFill>
                          <a:latin typeface="Arial"/>
                          <a:ea typeface="Arial"/>
                        </a:rPr>
                        <a:t>AI Reference Synthesis</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aeef3"/>
                    </a:solidFill>
                  </a:tcPr>
                </a:tc>
                <a:tc>
                  <a:txBody>
                    <a:bodyPr lIns="45720" rIns="45720" anchor="ctr">
                      <a:noAutofit/>
                    </a:bodyPr>
                    <a:p>
                      <a:pPr algn="just">
                        <a:lnSpc>
                          <a:spcPct val="100000"/>
                        </a:lnSpc>
                      </a:pPr>
                      <a:r>
                        <a:rPr b="0" lang="en-US" sz="640" spc="-1" strike="noStrike">
                          <a:solidFill>
                            <a:srgbClr val="333333"/>
                          </a:solidFill>
                          <a:latin typeface="Arial"/>
                          <a:ea typeface="Arial"/>
                        </a:rPr>
                        <a:t>Multi-response consistency reports for employers</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aeef3"/>
                    </a:solidFill>
                  </a:tcPr>
                </a:tc>
                <a:tc>
                  <a:txBody>
                    <a:bodyPr lIns="45720" rIns="45720" anchor="ctr">
                      <a:noAutofit/>
                    </a:bodyPr>
                    <a:p>
                      <a:pPr algn="just">
                        <a:lnSpc>
                          <a:spcPct val="100000"/>
                        </a:lnSpc>
                      </a:pPr>
                      <a:r>
                        <a:rPr b="1" lang="en-US" sz="620" spc="-1" strike="noStrike">
                          <a:solidFill>
                            <a:srgbClr val="4a6b8a"/>
                          </a:solidFill>
                          <a:latin typeface="Arial"/>
                          <a:ea typeface="Arial"/>
                        </a:rPr>
                        <a:t>ROADMAP</a:t>
                      </a:r>
                      <a:endParaRPr b="0" lang="en-US" sz="62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aeef3"/>
                    </a:solidFill>
                  </a:tcPr>
                </a:tc>
              </a:tr>
            </a:tbl>
          </a:graphicData>
        </a:graphic>
      </p:graphicFrame>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 name="Google Shape;101;p20" descr=""/>
          <p:cNvPicPr/>
          <p:nvPr/>
        </p:nvPicPr>
        <p:blipFill>
          <a:blip r:embed="rId1"/>
          <a:stretch/>
        </p:blipFill>
        <p:spPr>
          <a:xfrm>
            <a:off x="0" y="0"/>
            <a:ext cx="9142920" cy="5142600"/>
          </a:xfrm>
          <a:prstGeom prst="rect">
            <a:avLst/>
          </a:prstGeom>
          <a:ln w="0">
            <a:noFill/>
          </a:ln>
        </p:spPr>
      </p:pic>
      <p:sp>
        <p:nvSpPr>
          <p:cNvPr id="49" name="Google Shape;102;p20"/>
          <p:cNvSpPr/>
          <p:nvPr/>
        </p:nvSpPr>
        <p:spPr>
          <a:xfrm>
            <a:off x="313560" y="1148760"/>
            <a:ext cx="8704440" cy="3148560"/>
          </a:xfrm>
          <a:prstGeom prst="rect">
            <a:avLst/>
          </a:prstGeom>
          <a:noFill/>
          <a:ln w="0">
            <a:noFill/>
          </a:ln>
        </p:spPr>
        <p:style>
          <a:lnRef idx="0"/>
          <a:fillRef idx="0"/>
          <a:effectRef idx="0"/>
          <a:fontRef idx="minor"/>
        </p:style>
        <p:txBody>
          <a:bodyPr lIns="90000" rIns="90000" tIns="91440" bIns="91440" anchor="t">
            <a:noAutofit/>
          </a:bodyPr>
          <a:p>
            <a:pPr marL="457200" indent="-298440" algn="just">
              <a:lnSpc>
                <a:spcPct val="115000"/>
              </a:lnSpc>
              <a:spcBef>
                <a:spcPts val="1199"/>
              </a:spcBef>
              <a:buClr>
                <a:srgbClr val="000000"/>
              </a:buClr>
              <a:buFont typeface="Arial"/>
              <a:buAutoNum type="arabicPeriod"/>
            </a:pPr>
            <a:r>
              <a:rPr b="1" lang="en-GB" sz="1100" spc="-1" strike="noStrike">
                <a:solidFill>
                  <a:schemeClr val="dk1"/>
                </a:solidFill>
                <a:latin typeface="Arial"/>
                <a:ea typeface="Arial"/>
              </a:rPr>
              <a:t>What alternatives currently exist?</a:t>
            </a:r>
            <a:endParaRPr b="0" lang="en-US" sz="1100" spc="-1" strike="noStrike">
              <a:solidFill>
                <a:srgbClr val="000000"/>
              </a:solidFill>
              <a:latin typeface="Arial"/>
            </a:endParaRPr>
          </a:p>
          <a:p>
            <a:pPr marL="457200" indent="-298440" algn="just">
              <a:lnSpc>
                <a:spcPct val="115000"/>
              </a:lnSpc>
              <a:spcBef>
                <a:spcPts val="400"/>
              </a:spcBef>
              <a:spcAft>
                <a:spcPts val="601"/>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LinkedIn and Naukri/Indeed for hiring; Upwork and Toptal for freelance work; Blind and niche communities for peer discussion; ADPList and informal referral networks for mentorship. Each solves one slice in isolation, and every one of them treats “trust” as a self-reported field an AI can't meaningfully verify because there's no real interaction underneath it to check.</a:t>
            </a:r>
            <a:endParaRPr b="0" lang="en-US" sz="1000" spc="-1" strike="noStrike">
              <a:solidFill>
                <a:srgbClr val="000000"/>
              </a:solidFill>
              <a:latin typeface="Arial"/>
            </a:endParaRPr>
          </a:p>
          <a:p>
            <a:pPr marL="457200" indent="-298440" algn="just">
              <a:lnSpc>
                <a:spcPct val="115000"/>
              </a:lnSpc>
              <a:spcBef>
                <a:spcPts val="283"/>
              </a:spcBef>
              <a:spcAft>
                <a:spcPts val="283"/>
              </a:spcAft>
              <a:buClr>
                <a:srgbClr val="000000"/>
              </a:buClr>
              <a:buFont typeface="Arial"/>
              <a:buAutoNum type="arabicPeriod"/>
              <a:tabLst>
                <a:tab algn="l" pos="0"/>
              </a:tabLst>
            </a:pPr>
            <a:r>
              <a:rPr b="1" lang="en-GB" sz="1100" spc="-1" strike="noStrike">
                <a:solidFill>
                  <a:schemeClr val="dk1"/>
                </a:solidFill>
                <a:latin typeface="Arial"/>
                <a:ea typeface="Arial"/>
              </a:rPr>
              <a:t>Why do you believe your approach is better suited to solving this problem?</a:t>
            </a:r>
            <a:endParaRPr b="0" lang="en-US" sz="1100" spc="-1" strike="noStrike">
              <a:solidFill>
                <a:srgbClr val="000000"/>
              </a:solidFill>
              <a:latin typeface="Arial"/>
              <a:ea typeface="Noto Sans CJK SC"/>
            </a:endParaRPr>
          </a:p>
          <a:p>
            <a:pPr marL="457200" indent="-298440" algn="just">
              <a:lnSpc>
                <a:spcPct val="115000"/>
              </a:lnSpc>
              <a:spcBef>
                <a:spcPts val="283"/>
              </a:spcBef>
              <a:spcAft>
                <a:spcPts val="317"/>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Three things a generic AI wrapper can't touch. The test: remove the AI -- does the product still work?</a:t>
            </a:r>
            <a:endParaRPr b="0" lang="en-US" sz="1000" spc="-1" strike="noStrike">
              <a:solidFill>
                <a:srgbClr val="000000"/>
              </a:solidFill>
              <a:latin typeface="Arial"/>
              <a:ea typeface="Noto Sans CJK SC"/>
            </a:endParaRPr>
          </a:p>
          <a:p>
            <a:pPr marL="457200" indent="-298440" algn="just">
              <a:lnSpc>
                <a:spcPct val="115000"/>
              </a:lnSpc>
              <a:spcAft>
                <a:spcPts val="34"/>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(1) Compounding data: the graph underneath our AI is real and gated against self-report -- a competitor can copy a search UI in a quarter, not manufacture years of verified interaction history.</a:t>
            </a:r>
            <a:endParaRPr b="0" lang="en-US" sz="1000" spc="-1" strike="noStrike">
              <a:solidFill>
                <a:srgbClr val="000000"/>
              </a:solidFill>
              <a:latin typeface="Arial"/>
            </a:endParaRPr>
          </a:p>
          <a:p>
            <a:pPr marL="457200" indent="-298440" algn="just">
              <a:lnSpc>
                <a:spcPct val="115000"/>
              </a:lnSpc>
              <a:spcAft>
                <a:spcPts val="34"/>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(2) A new category: Longlist matches people against roles that don't exist publicly yet -- delete the AI and this feature is not degraded, it's impossible; there is no manual version of anticipatory matching at scale.</a:t>
            </a:r>
            <a:endParaRPr b="0" lang="en-US" sz="1000" spc="-1" strike="noStrike">
              <a:solidFill>
                <a:srgbClr val="000000"/>
              </a:solidFill>
              <a:latin typeface="Arial"/>
            </a:endParaRPr>
          </a:p>
          <a:p>
            <a:pPr marL="457200" indent="-298440" algn="just">
              <a:lnSpc>
                <a:spcPct val="115000"/>
              </a:lnSpc>
              <a:spcAft>
                <a:spcPts val="34"/>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(3) Trustable output: every signal feeding the AI requires a real interaction gate, unlike endorsements an AI can rank but never verify -- fewer bad hires from AI-assisted screening, a compliance argument for the enterprise buyer, not a UX one.</a:t>
            </a:r>
            <a:endParaRPr b="0" lang="en-US" sz="1000" spc="-1" strike="noStrike">
              <a:solidFill>
                <a:srgbClr val="000000"/>
              </a:solidFill>
              <a:latin typeface="Arial"/>
            </a:endParaRPr>
          </a:p>
        </p:txBody>
      </p:sp>
      <p:sp>
        <p:nvSpPr>
          <p:cNvPr id="50" name="Google Shape;103;p20"/>
          <p:cNvSpPr/>
          <p:nvPr/>
        </p:nvSpPr>
        <p:spPr>
          <a:xfrm>
            <a:off x="304200" y="591840"/>
            <a:ext cx="5152680" cy="506160"/>
          </a:xfrm>
          <a:prstGeom prst="rect">
            <a:avLst/>
          </a:prstGeom>
          <a:noFill/>
          <a:ln w="0">
            <a:noFill/>
          </a:ln>
        </p:spPr>
        <p:style>
          <a:lnRef idx="0"/>
          <a:fillRef idx="0"/>
          <a:effectRef idx="0"/>
          <a:fontRef idx="minor"/>
        </p:style>
        <p:txBody>
          <a:bodyPr lIns="90000" rIns="90000" tIns="91440" bIns="91440" anchor="t">
            <a:noAutofit/>
          </a:bodyPr>
          <a:p>
            <a:pPr>
              <a:lnSpc>
                <a:spcPct val="115000"/>
              </a:lnSpc>
              <a:spcBef>
                <a:spcPts val="2401"/>
              </a:spcBef>
              <a:spcAft>
                <a:spcPts val="601"/>
              </a:spcAft>
              <a:tabLst>
                <a:tab algn="l" pos="0"/>
              </a:tabLst>
            </a:pPr>
            <a:r>
              <a:rPr b="1" lang="en-GB" sz="2300" spc="-1" strike="noStrike">
                <a:solidFill>
                  <a:schemeClr val="dk1"/>
                </a:solidFill>
                <a:latin typeface="Arial"/>
                <a:ea typeface="Arial"/>
              </a:rPr>
              <a:t>Competitive Landscape</a:t>
            </a:r>
            <a:endParaRPr b="0" lang="en-US" sz="2300" spc="-1" strike="noStrike">
              <a:solidFill>
                <a:srgbClr val="000000"/>
              </a:solidFill>
              <a:latin typeface="Arial"/>
            </a:endParaRPr>
          </a:p>
        </p:txBody>
      </p:sp>
      <p:graphicFrame>
        <p:nvGraphicFramePr>
          <p:cNvPr id="51" name="Table 103"/>
          <p:cNvGraphicFramePr/>
          <p:nvPr/>
        </p:nvGraphicFramePr>
        <p:xfrm>
          <a:off x="903960" y="3854520"/>
          <a:ext cx="5408280" cy="1037160"/>
        </p:xfrm>
        <a:graphic>
          <a:graphicData uri="http://schemas.openxmlformats.org/drawingml/2006/table">
            <a:tbl>
              <a:tblPr/>
              <a:tblGrid>
                <a:gridCol w="1040040"/>
                <a:gridCol w="1851480"/>
                <a:gridCol w="2517120"/>
              </a:tblGrid>
              <a:tr h="291600">
                <a:tc>
                  <a:txBody>
                    <a:bodyPr lIns="45720" rIns="45720" anchor="ctr">
                      <a:noAutofit/>
                    </a:bodyPr>
                    <a:p>
                      <a:endParaRPr b="0" lang="en-US" sz="1400" spc="-1" strike="noStrike">
                        <a:solidFill>
                          <a:srgbClr val="000000"/>
                        </a:solidFill>
                        <a:latin typeface="Arial"/>
                        <a:ea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f2a44"/>
                    </a:solidFill>
                  </a:tcPr>
                </a:tc>
                <a:tc>
                  <a:txBody>
                    <a:bodyPr lIns="45720" rIns="45720" anchor="ctr">
                      <a:noAutofit/>
                    </a:bodyPr>
                    <a:p>
                      <a:pPr>
                        <a:lnSpc>
                          <a:spcPct val="100000"/>
                        </a:lnSpc>
                      </a:pPr>
                      <a:r>
                        <a:rPr b="1" lang="en-US" sz="700" spc="-1" strike="noStrike">
                          <a:solidFill>
                            <a:srgbClr val="ffffff"/>
                          </a:solidFill>
                          <a:latin typeface="Arial"/>
                          <a:ea typeface="Arial"/>
                        </a:rPr>
                        <a:t>Typical Social Network</a:t>
                      </a:r>
                      <a:endParaRPr b="0" lang="en-US" sz="700" spc="-1" strike="noStrike">
                        <a:solidFill>
                          <a:srgbClr val="ffffff"/>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f2a44"/>
                    </a:solidFill>
                  </a:tcPr>
                </a:tc>
                <a:tc>
                  <a:txBody>
                    <a:bodyPr lIns="45720" rIns="45720" anchor="ctr">
                      <a:noAutofit/>
                    </a:bodyPr>
                    <a:p>
                      <a:pPr>
                        <a:lnSpc>
                          <a:spcPct val="100000"/>
                        </a:lnSpc>
                      </a:pPr>
                      <a:r>
                        <a:rPr b="1" lang="en-US" sz="700" spc="-1" strike="noStrike">
                          <a:solidFill>
                            <a:srgbClr val="ffffff"/>
                          </a:solidFill>
                          <a:latin typeface="Arial"/>
                          <a:ea typeface="Arial"/>
                        </a:rPr>
                        <a:t>Greyin</a:t>
                      </a:r>
                      <a:endParaRPr b="0" lang="en-US" sz="700" spc="-1" strike="noStrike">
                        <a:solidFill>
                          <a:srgbClr val="ffffff"/>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f2a44"/>
                    </a:solidFill>
                  </a:tcPr>
                </a:tc>
              </a:tr>
              <a:tr h="186480">
                <a:tc>
                  <a:txBody>
                    <a:bodyPr lIns="45720" rIns="45720" anchor="ctr">
                      <a:noAutofit/>
                    </a:bodyPr>
                    <a:p>
                      <a:pPr>
                        <a:lnSpc>
                          <a:spcPct val="100000"/>
                        </a:lnSpc>
                      </a:pPr>
                      <a:r>
                        <a:rPr b="1" lang="en-US" sz="660" spc="-1" strike="noStrike">
                          <a:solidFill>
                            <a:srgbClr val="555555"/>
                          </a:solidFill>
                          <a:latin typeface="Arial"/>
                          <a:ea typeface="Arial"/>
                        </a:rPr>
                        <a:t>Core loop</a:t>
                      </a:r>
                      <a:endParaRPr b="0" lang="en-US" sz="66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45720" rIns="45720" anchor="ctr">
                      <a:noAutofit/>
                    </a:bodyPr>
                    <a:p>
                      <a:pPr>
                        <a:lnSpc>
                          <a:spcPct val="100000"/>
                        </a:lnSpc>
                      </a:pPr>
                      <a:r>
                        <a:rPr b="0" lang="en-US" sz="660" spc="-1" strike="noStrike">
                          <a:solidFill>
                            <a:srgbClr val="555555"/>
                          </a:solidFill>
                          <a:latin typeface="Arial"/>
                          <a:ea typeface="Arial"/>
                        </a:rPr>
                        <a:t>Connections, attention, engagement</a:t>
                      </a:r>
                      <a:endParaRPr b="0" lang="en-US" sz="66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45720" rIns="45720" anchor="ctr">
                      <a:noAutofit/>
                    </a:bodyPr>
                    <a:p>
                      <a:pPr>
                        <a:lnSpc>
                          <a:spcPct val="100000"/>
                        </a:lnSpc>
                      </a:pPr>
                      <a:r>
                        <a:rPr b="1" lang="en-US" sz="660" spc="-1" strike="noStrike">
                          <a:solidFill>
                            <a:srgbClr val="ec6b3d"/>
                          </a:solidFill>
                          <a:latin typeface="Arial"/>
                          <a:ea typeface="Arial"/>
                        </a:rPr>
                        <a:t>Verified work -&gt; AI-scored trust -&gt; AI-matched revenue</a:t>
                      </a:r>
                      <a:endParaRPr b="0" lang="en-US" sz="66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r>
              <a:tr h="186480">
                <a:tc>
                  <a:txBody>
                    <a:bodyPr lIns="45720" rIns="45720" anchor="ctr">
                      <a:noAutofit/>
                    </a:bodyPr>
                    <a:p>
                      <a:pPr>
                        <a:lnSpc>
                          <a:spcPct val="100000"/>
                        </a:lnSpc>
                      </a:pPr>
                      <a:r>
                        <a:rPr b="1" lang="en-US" sz="660" spc="-1" strike="noStrike">
                          <a:solidFill>
                            <a:srgbClr val="555555"/>
                          </a:solidFill>
                          <a:latin typeface="Arial"/>
                          <a:ea typeface="Arial"/>
                        </a:rPr>
                        <a:t>What the AI does</a:t>
                      </a:r>
                      <a:endParaRPr b="0" lang="en-US" sz="66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c>
                  <a:txBody>
                    <a:bodyPr lIns="45720" rIns="45720" anchor="ctr">
                      <a:noAutofit/>
                    </a:bodyPr>
                    <a:p>
                      <a:pPr>
                        <a:lnSpc>
                          <a:spcPct val="100000"/>
                        </a:lnSpc>
                      </a:pPr>
                      <a:r>
                        <a:rPr b="0" lang="en-US" sz="660" spc="-1" strike="noStrike">
                          <a:solidFill>
                            <a:srgbClr val="555555"/>
                          </a:solidFill>
                          <a:latin typeface="Arial"/>
                          <a:ea typeface="Arial"/>
                        </a:rPr>
                        <a:t>Feed ranking, engagement optimization</a:t>
                      </a:r>
                      <a:endParaRPr b="0" lang="en-US" sz="66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c>
                  <a:txBody>
                    <a:bodyPr lIns="45720" rIns="45720" anchor="ctr">
                      <a:noAutofit/>
                    </a:bodyPr>
                    <a:p>
                      <a:pPr>
                        <a:lnSpc>
                          <a:spcPct val="100000"/>
                        </a:lnSpc>
                      </a:pPr>
                      <a:r>
                        <a:rPr b="1" lang="en-US" sz="660" spc="-1" strike="noStrike">
                          <a:solidFill>
                            <a:srgbClr val="ec6b3d"/>
                          </a:solidFill>
                          <a:latin typeface="Arial"/>
                          <a:ea typeface="Arial"/>
                        </a:rPr>
                        <a:t>Verification scoring + anticipatory matching</a:t>
                      </a:r>
                      <a:endParaRPr b="0" lang="en-US" sz="66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r>
              <a:tr h="186480">
                <a:tc>
                  <a:txBody>
                    <a:bodyPr lIns="45720" rIns="45720" anchor="ctr">
                      <a:noAutofit/>
                    </a:bodyPr>
                    <a:p>
                      <a:pPr>
                        <a:lnSpc>
                          <a:spcPct val="100000"/>
                        </a:lnSpc>
                      </a:pPr>
                      <a:r>
                        <a:rPr b="1" lang="en-US" sz="660" spc="-1" strike="noStrike">
                          <a:solidFill>
                            <a:srgbClr val="555555"/>
                          </a:solidFill>
                          <a:latin typeface="Arial"/>
                          <a:ea typeface="Arial"/>
                        </a:rPr>
                        <a:t>What's monetized</a:t>
                      </a:r>
                      <a:endParaRPr b="0" lang="en-US" sz="66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45720" rIns="45720" anchor="ctr">
                      <a:noAutofit/>
                    </a:bodyPr>
                    <a:p>
                      <a:pPr>
                        <a:lnSpc>
                          <a:spcPct val="100000"/>
                        </a:lnSpc>
                      </a:pPr>
                      <a:r>
                        <a:rPr b="0" lang="en-US" sz="660" spc="-1" strike="noStrike">
                          <a:solidFill>
                            <a:srgbClr val="555555"/>
                          </a:solidFill>
                          <a:latin typeface="Arial"/>
                          <a:ea typeface="Arial"/>
                        </a:rPr>
                        <a:t>Attention/ads, access to a network</a:t>
                      </a:r>
                      <a:endParaRPr b="0" lang="en-US" sz="66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45720" rIns="45720" anchor="ctr">
                      <a:noAutofit/>
                    </a:bodyPr>
                    <a:p>
                      <a:pPr>
                        <a:lnSpc>
                          <a:spcPct val="100000"/>
                        </a:lnSpc>
                      </a:pPr>
                      <a:r>
                        <a:rPr b="1" lang="en-US" sz="660" spc="-1" strike="noStrike">
                          <a:solidFill>
                            <a:srgbClr val="ec6b3d"/>
                          </a:solidFill>
                          <a:latin typeface="Arial"/>
                          <a:ea typeface="Arial"/>
                        </a:rPr>
                        <a:t>AI-verified matches and AI-synthesized trust</a:t>
                      </a:r>
                      <a:endParaRPr b="0" lang="en-US" sz="66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r>
              <a:tr h="186480">
                <a:tc>
                  <a:txBody>
                    <a:bodyPr lIns="45720" rIns="45720" anchor="ctr">
                      <a:noAutofit/>
                    </a:bodyPr>
                    <a:p>
                      <a:pPr>
                        <a:lnSpc>
                          <a:spcPct val="100000"/>
                        </a:lnSpc>
                      </a:pPr>
                      <a:r>
                        <a:rPr b="1" lang="en-US" sz="660" spc="-1" strike="noStrike">
                          <a:solidFill>
                            <a:srgbClr val="555555"/>
                          </a:solidFill>
                          <a:latin typeface="Arial"/>
                          <a:ea typeface="Arial"/>
                        </a:rPr>
                        <a:t>Remove the AI</a:t>
                      </a:r>
                      <a:endParaRPr b="0" lang="en-US" sz="66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c>
                  <a:txBody>
                    <a:bodyPr lIns="45720" rIns="45720" anchor="ctr">
                      <a:noAutofit/>
                    </a:bodyPr>
                    <a:p>
                      <a:pPr>
                        <a:lnSpc>
                          <a:spcPct val="100000"/>
                        </a:lnSpc>
                      </a:pPr>
                      <a:r>
                        <a:rPr b="0" lang="en-US" sz="660" spc="-1" strike="noStrike">
                          <a:solidFill>
                            <a:srgbClr val="555555"/>
                          </a:solidFill>
                          <a:latin typeface="Arial"/>
                          <a:ea typeface="Arial"/>
                        </a:rPr>
                        <a:t>Network still works -- AI is decorative</a:t>
                      </a:r>
                      <a:endParaRPr b="0" lang="en-US" sz="66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c>
                  <a:txBody>
                    <a:bodyPr lIns="45720" rIns="45720" anchor="ctr">
                      <a:noAutofit/>
                    </a:bodyPr>
                    <a:p>
                      <a:pPr>
                        <a:lnSpc>
                          <a:spcPct val="100000"/>
                        </a:lnSpc>
                      </a:pPr>
                      <a:r>
                        <a:rPr b="1" lang="en-US" sz="660" spc="-1" strike="noStrike">
                          <a:solidFill>
                            <a:srgbClr val="ec6b3d"/>
                          </a:solidFill>
                          <a:latin typeface="Arial"/>
                          <a:ea typeface="Arial"/>
                        </a:rPr>
                        <a:t>Longlist and AI-Verified Search cannot function</a:t>
                      </a:r>
                      <a:endParaRPr b="0" lang="en-US" sz="66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8ddd0"/>
                    </a:solidFill>
                  </a:tcPr>
                </a:tc>
              </a:tr>
            </a:tbl>
          </a:graphicData>
        </a:graphic>
      </p:graphicFrame>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2" name="Google Shape;108;p21" descr=""/>
          <p:cNvPicPr/>
          <p:nvPr/>
        </p:nvPicPr>
        <p:blipFill>
          <a:blip r:embed="rId1"/>
          <a:stretch/>
        </p:blipFill>
        <p:spPr>
          <a:xfrm>
            <a:off x="0" y="0"/>
            <a:ext cx="9142920" cy="5142600"/>
          </a:xfrm>
          <a:prstGeom prst="rect">
            <a:avLst/>
          </a:prstGeom>
          <a:ln w="0">
            <a:noFill/>
          </a:ln>
        </p:spPr>
      </p:pic>
      <p:sp>
        <p:nvSpPr>
          <p:cNvPr id="53" name="Google Shape;109;p21"/>
          <p:cNvSpPr/>
          <p:nvPr/>
        </p:nvSpPr>
        <p:spPr>
          <a:xfrm>
            <a:off x="313560" y="1256760"/>
            <a:ext cx="8704440" cy="3148560"/>
          </a:xfrm>
          <a:prstGeom prst="rect">
            <a:avLst/>
          </a:prstGeom>
          <a:noFill/>
          <a:ln w="0">
            <a:noFill/>
          </a:ln>
        </p:spPr>
        <p:style>
          <a:lnRef idx="0"/>
          <a:fillRef idx="0"/>
          <a:effectRef idx="0"/>
          <a:fontRef idx="minor"/>
        </p:style>
        <p:txBody>
          <a:bodyPr lIns="90000" rIns="90000" tIns="91440" bIns="91440" anchor="t">
            <a:noAutofit/>
          </a:bodyPr>
          <a:p>
            <a:pPr marL="457200" indent="-298440">
              <a:lnSpc>
                <a:spcPct val="115000"/>
              </a:lnSpc>
              <a:spcBef>
                <a:spcPts val="1483"/>
              </a:spcBef>
              <a:spcAft>
                <a:spcPts val="283"/>
              </a:spcAft>
              <a:buClr>
                <a:srgbClr val="000000"/>
              </a:buClr>
              <a:buFont typeface="Arial"/>
              <a:buAutoNum type="arabicPeriod"/>
            </a:pPr>
            <a:r>
              <a:rPr b="1" lang="en-GB" sz="1100" spc="-1" strike="noStrike">
                <a:solidFill>
                  <a:schemeClr val="dk1"/>
                </a:solidFill>
                <a:latin typeface="Arial"/>
                <a:ea typeface="Arial"/>
              </a:rPr>
              <a:t>Who do you expect will pay for your solution?</a:t>
            </a:r>
            <a:endParaRPr b="0" lang="en-US" sz="1100" spc="-1" strike="noStrike">
              <a:solidFill>
                <a:srgbClr val="000000"/>
              </a:solidFill>
              <a:latin typeface="Arial"/>
              <a:ea typeface="Noto Sans CJK SC"/>
            </a:endParaRPr>
          </a:p>
          <a:p>
            <a:pPr marL="457200" indent="-298440" algn="just">
              <a:lnSpc>
                <a:spcPct val="115000"/>
              </a:lnSpc>
              <a:spcBef>
                <a:spcPts val="400"/>
              </a:spcBef>
              <a:spcAft>
                <a:spcPts val="601"/>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The corporate employer pays across three Primary tiers, each a distinct budget line, not one subscription trying to cover everything. </a:t>
            </a:r>
            <a:endParaRPr b="0" lang="en-US" sz="1000" spc="-1" strike="noStrike">
              <a:solidFill>
                <a:srgbClr val="000000"/>
              </a:solidFill>
              <a:latin typeface="Arial"/>
              <a:ea typeface="Noto Sans CJK SC"/>
            </a:endParaRPr>
          </a:p>
          <a:p>
            <a:pPr marL="457200" indent="-298440" algn="just">
              <a:lnSpc>
                <a:spcPct val="115000"/>
              </a:lnSpc>
              <a:spcBef>
                <a:spcPts val="116"/>
              </a:spcBef>
              <a:spcAft>
                <a:spcPts val="317"/>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(1) Outplacement: sales-led, invoiced per headcount -- already live intake + admin triage (enterprise_leads pipeline), tapping restructuring/HR-transition budget. </a:t>
            </a:r>
            <a:endParaRPr b="0" lang="en-US" sz="1000" spc="-1" strike="noStrike">
              <a:solidFill>
                <a:srgbClr val="000000"/>
              </a:solidFill>
              <a:latin typeface="Arial"/>
              <a:ea typeface="Noto Sans CJK SC"/>
            </a:endParaRPr>
          </a:p>
          <a:p>
            <a:pPr marL="457200" indent="-298440" algn="just">
              <a:lnSpc>
                <a:spcPct val="115000"/>
              </a:lnSpc>
              <a:spcBef>
                <a:spcPts val="116"/>
              </a:spcBef>
              <a:spcAft>
                <a:spcPts val="317"/>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(2) Coaching: Verified Experts sell mentor sessions, cohorts, packages and recordings directly -- already live with real Razorpay checkout -- tapping L&amp;D budget, Greyin takes a platform commission. </a:t>
            </a:r>
            <a:endParaRPr b="0" lang="en-US" sz="1000" spc="-1" strike="noStrike">
              <a:solidFill>
                <a:srgbClr val="000000"/>
              </a:solidFill>
              <a:latin typeface="Arial"/>
              <a:ea typeface="Noto Sans CJK SC"/>
            </a:endParaRPr>
          </a:p>
          <a:p>
            <a:pPr marL="457200" indent="-298440" algn="just">
              <a:lnSpc>
                <a:spcPct val="115000"/>
              </a:lnSpc>
              <a:spcBef>
                <a:spcPts val="116"/>
              </a:spcBef>
              <a:spcAft>
                <a:spcPts val="317"/>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(3) Future Hiring Pipeline (Longlist): AI-matched, anticipatory access to talent 3-12 months out -- an Enterprise-tier add-on to DeepEdge's existing live subscription for regular hiring (server-side price-validated) -- tapping workforce-planning budget, a category with no real incumbent today. </a:t>
            </a:r>
            <a:endParaRPr b="0" lang="en-US" sz="1000" spc="-1" strike="noStrike">
              <a:solidFill>
                <a:srgbClr val="000000"/>
              </a:solidFill>
              <a:latin typeface="Arial"/>
              <a:ea typeface="Noto Sans CJK SC"/>
            </a:endParaRPr>
          </a:p>
          <a:p>
            <a:pPr marL="457200" indent="-298440" algn="just">
              <a:lnSpc>
                <a:spcPct val="115000"/>
              </a:lnSpc>
              <a:spcBef>
                <a:spcPts val="116"/>
              </a:spcBef>
              <a:spcAft>
                <a:spcPts val="317"/>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AI capability is the explicit upsell lever across all three. </a:t>
            </a:r>
            <a:endParaRPr b="0" lang="en-US" sz="1000" spc="-1" strike="noStrike">
              <a:solidFill>
                <a:srgbClr val="000000"/>
              </a:solidFill>
              <a:latin typeface="Arial"/>
              <a:ea typeface="Noto Sans CJK SC"/>
            </a:endParaRPr>
          </a:p>
          <a:p>
            <a:pPr marL="457200" indent="-298440" algn="just">
              <a:lnSpc>
                <a:spcPct val="115000"/>
              </a:lnSpc>
              <a:spcBef>
                <a:spcPts val="116"/>
              </a:spcBef>
              <a:spcAft>
                <a:spcPts val="317"/>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Individual membership stays free: the Supporting tier only compounds the Score these three sell if supply-side adoption is unrestricted.</a:t>
            </a:r>
            <a:endParaRPr b="0" lang="en-US" sz="1000" spc="-1" strike="noStrike">
              <a:solidFill>
                <a:srgbClr val="000000"/>
              </a:solidFill>
              <a:latin typeface="Arial"/>
              <a:ea typeface="Noto Sans CJK SC"/>
            </a:endParaRPr>
          </a:p>
          <a:p>
            <a:pPr marL="457200" indent="-298440">
              <a:lnSpc>
                <a:spcPct val="115000"/>
              </a:lnSpc>
              <a:buClr>
                <a:srgbClr val="000000"/>
              </a:buClr>
              <a:buFont typeface="Arial"/>
              <a:buAutoNum type="arabicPeriod"/>
              <a:tabLst>
                <a:tab algn="l" pos="0"/>
              </a:tabLst>
            </a:pPr>
            <a:r>
              <a:rPr b="1" lang="en-GB" sz="1100" spc="-1" strike="noStrike">
                <a:solidFill>
                  <a:schemeClr val="dk1"/>
                </a:solidFill>
                <a:latin typeface="Arial"/>
                <a:ea typeface="Arial"/>
              </a:rPr>
              <a:t>How do you plan to acquire your first customers?</a:t>
            </a:r>
            <a:endParaRPr b="0" lang="en-US" sz="1100" spc="-1" strike="noStrike">
              <a:solidFill>
                <a:srgbClr val="000000"/>
              </a:solidFill>
              <a:latin typeface="Arial"/>
            </a:endParaRPr>
          </a:p>
          <a:p>
            <a:pPr marL="457200" indent="-298440" algn="just">
              <a:lnSpc>
                <a:spcPct val="115000"/>
              </a:lnSpc>
              <a:spcBef>
                <a:spcPts val="400"/>
              </a:spcBef>
              <a:spcAft>
                <a:spcPts val="601"/>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Direct enterprise outreach for Outplacement and Coaching (HR/L&amp;D buyers, sales-led by design); Longlist as the wedge into a full Enterprise contract -- a company testing the AI-matched pipeline for one future role is a warm path to all three tiers; and Supporting-tier community growth (Salt &amp; Pepper, GreyMatters, the built-in +25-score referral program) as the free acquisition engine that keeps the Score -- and therefore all three Primary tiers -- credible.</a:t>
            </a:r>
            <a:endParaRPr b="0" lang="en-US" sz="1000" spc="-1" strike="noStrike">
              <a:solidFill>
                <a:srgbClr val="000000"/>
              </a:solidFill>
              <a:latin typeface="Arial"/>
            </a:endParaRPr>
          </a:p>
        </p:txBody>
      </p:sp>
      <p:sp>
        <p:nvSpPr>
          <p:cNvPr id="54" name="Google Shape;110;p21"/>
          <p:cNvSpPr/>
          <p:nvPr/>
        </p:nvSpPr>
        <p:spPr>
          <a:xfrm>
            <a:off x="304200" y="591840"/>
            <a:ext cx="5152680" cy="506160"/>
          </a:xfrm>
          <a:prstGeom prst="rect">
            <a:avLst/>
          </a:prstGeom>
          <a:noFill/>
          <a:ln w="0">
            <a:noFill/>
          </a:ln>
        </p:spPr>
        <p:style>
          <a:lnRef idx="0"/>
          <a:fillRef idx="0"/>
          <a:effectRef idx="0"/>
          <a:fontRef idx="minor"/>
        </p:style>
        <p:txBody>
          <a:bodyPr lIns="90000" rIns="90000" tIns="91440" bIns="91440" anchor="t">
            <a:noAutofit/>
          </a:bodyPr>
          <a:p>
            <a:pPr>
              <a:lnSpc>
                <a:spcPct val="115000"/>
              </a:lnSpc>
              <a:spcBef>
                <a:spcPts val="2401"/>
              </a:spcBef>
              <a:spcAft>
                <a:spcPts val="601"/>
              </a:spcAft>
              <a:tabLst>
                <a:tab algn="l" pos="0"/>
              </a:tabLst>
            </a:pPr>
            <a:r>
              <a:rPr b="1" lang="en-GB" sz="2300" spc="-1" strike="noStrike">
                <a:solidFill>
                  <a:schemeClr val="dk1"/>
                </a:solidFill>
                <a:latin typeface="Arial"/>
                <a:ea typeface="Arial"/>
              </a:rPr>
              <a:t>Business Model &amp; Go-To-Market</a:t>
            </a:r>
            <a:endParaRPr b="0" lang="en-US" sz="2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 name="Google Shape;115;p22" descr=""/>
          <p:cNvPicPr/>
          <p:nvPr/>
        </p:nvPicPr>
        <p:blipFill>
          <a:blip r:embed="rId1"/>
          <a:stretch/>
        </p:blipFill>
        <p:spPr>
          <a:xfrm>
            <a:off x="0" y="0"/>
            <a:ext cx="9142920" cy="5142600"/>
          </a:xfrm>
          <a:prstGeom prst="rect">
            <a:avLst/>
          </a:prstGeom>
          <a:ln w="0">
            <a:noFill/>
          </a:ln>
        </p:spPr>
      </p:pic>
      <p:sp>
        <p:nvSpPr>
          <p:cNvPr id="56" name="Google Shape;116;p22"/>
          <p:cNvSpPr/>
          <p:nvPr/>
        </p:nvSpPr>
        <p:spPr>
          <a:xfrm>
            <a:off x="313560" y="1256760"/>
            <a:ext cx="8704440" cy="3148560"/>
          </a:xfrm>
          <a:prstGeom prst="rect">
            <a:avLst/>
          </a:prstGeom>
          <a:noFill/>
          <a:ln w="0">
            <a:noFill/>
          </a:ln>
        </p:spPr>
        <p:style>
          <a:lnRef idx="0"/>
          <a:fillRef idx="0"/>
          <a:effectRef idx="0"/>
          <a:fontRef idx="minor"/>
        </p:style>
        <p:txBody>
          <a:bodyPr lIns="90000" rIns="90000" tIns="91440" bIns="91440" anchor="t">
            <a:noAutofit/>
          </a:bodyPr>
          <a:p>
            <a:pPr marL="457200" indent="-298440">
              <a:lnSpc>
                <a:spcPct val="115000"/>
              </a:lnSpc>
              <a:spcBef>
                <a:spcPts val="1199"/>
              </a:spcBef>
              <a:buClr>
                <a:srgbClr val="000000"/>
              </a:buClr>
              <a:buFont typeface="Arial"/>
              <a:buAutoNum type="arabicPeriod"/>
            </a:pPr>
            <a:r>
              <a:rPr b="1" lang="en-GB" sz="1100" spc="-1" strike="noStrike">
                <a:solidFill>
                  <a:schemeClr val="dk1"/>
                </a:solidFill>
                <a:latin typeface="Arial"/>
                <a:ea typeface="Arial"/>
              </a:rPr>
              <a:t>What are the next major milestones toward building your MVP?</a:t>
            </a:r>
            <a:endParaRPr b="0" lang="en-US" sz="1100" spc="-1" strike="noStrike">
              <a:solidFill>
                <a:srgbClr val="000000"/>
              </a:solidFill>
              <a:latin typeface="Arial"/>
            </a:endParaRPr>
          </a:p>
          <a:p>
            <a:pPr marL="457200" indent="-298440" algn="just">
              <a:lnSpc>
                <a:spcPct val="115000"/>
              </a:lnSpc>
              <a:spcBef>
                <a:spcPts val="400"/>
              </a:spcBef>
              <a:spcAft>
                <a:spcPts val="601"/>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All 6 core features (plus Greyin Hub, the shared identity layer) are already built and live, pre-launch on purpose while the trust/security layer was hardened first (38-finding audit, fully closed). The monetization path from here is a phased pilot-to-scale roadmap, not one launch date:</a:t>
            </a:r>
            <a:endParaRPr b="0" lang="en-US" sz="1000" spc="-1" strike="noStrike">
              <a:solidFill>
                <a:srgbClr val="000000"/>
              </a:solidFill>
              <a:latin typeface="Arial"/>
            </a:endParaRPr>
          </a:p>
          <a:p>
            <a:pPr marL="457200" indent="-298440">
              <a:lnSpc>
                <a:spcPct val="115000"/>
              </a:lnSpc>
              <a:buClr>
                <a:srgbClr val="000000"/>
              </a:buClr>
              <a:buFont typeface="Arial"/>
              <a:buAutoNum type="arabicPeriod"/>
              <a:tabLst>
                <a:tab algn="l" pos="0"/>
              </a:tabLst>
            </a:pPr>
            <a:r>
              <a:rPr b="1" lang="en-GB" sz="1100" spc="-1" strike="noStrike">
                <a:solidFill>
                  <a:schemeClr val="dk1"/>
                </a:solidFill>
                <a:latin typeface="Arial"/>
                <a:ea typeface="Arial"/>
              </a:rPr>
              <a:t>What resources or support will be most critical during this journey?</a:t>
            </a:r>
            <a:endParaRPr b="0" lang="en-US" sz="1100" spc="-1" strike="noStrike">
              <a:solidFill>
                <a:srgbClr val="000000"/>
              </a:solidFill>
              <a:latin typeface="Arial"/>
            </a:endParaRPr>
          </a:p>
          <a:p>
            <a:pPr marL="457200" indent="-298440">
              <a:lnSpc>
                <a:spcPct val="115000"/>
              </a:lnSpc>
              <a:spcBef>
                <a:spcPts val="400"/>
              </a:spcBef>
              <a:spcAft>
                <a:spcPts val="601"/>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Design-partner employers, enterprise-sales expertise, and infrastructure support scaled only once real load justifies it.</a:t>
            </a:r>
            <a:endParaRPr b="0" lang="en-US" sz="1000" spc="-1" strike="noStrike">
              <a:solidFill>
                <a:srgbClr val="000000"/>
              </a:solidFill>
              <a:latin typeface="Arial"/>
            </a:endParaRPr>
          </a:p>
        </p:txBody>
      </p:sp>
      <p:sp>
        <p:nvSpPr>
          <p:cNvPr id="57" name="Google Shape;117;p22"/>
          <p:cNvSpPr/>
          <p:nvPr/>
        </p:nvSpPr>
        <p:spPr>
          <a:xfrm>
            <a:off x="304200" y="591840"/>
            <a:ext cx="5152680" cy="506160"/>
          </a:xfrm>
          <a:prstGeom prst="rect">
            <a:avLst/>
          </a:prstGeom>
          <a:noFill/>
          <a:ln w="0">
            <a:noFill/>
          </a:ln>
        </p:spPr>
        <p:style>
          <a:lnRef idx="0"/>
          <a:fillRef idx="0"/>
          <a:effectRef idx="0"/>
          <a:fontRef idx="minor"/>
        </p:style>
        <p:txBody>
          <a:bodyPr lIns="90000" rIns="90000" tIns="91440" bIns="91440" anchor="t">
            <a:noAutofit/>
          </a:bodyPr>
          <a:p>
            <a:pPr>
              <a:lnSpc>
                <a:spcPct val="115000"/>
              </a:lnSpc>
              <a:spcBef>
                <a:spcPts val="2401"/>
              </a:spcBef>
              <a:spcAft>
                <a:spcPts val="601"/>
              </a:spcAft>
              <a:tabLst>
                <a:tab algn="l" pos="0"/>
              </a:tabLst>
            </a:pPr>
            <a:r>
              <a:rPr b="1" lang="en-GB" sz="2300" spc="-1" strike="noStrike">
                <a:solidFill>
                  <a:schemeClr val="dk1"/>
                </a:solidFill>
                <a:latin typeface="Arial"/>
                <a:ea typeface="Arial"/>
              </a:rPr>
              <a:t>Development Roadmap</a:t>
            </a:r>
            <a:endParaRPr b="0" lang="en-US" sz="2300" spc="-1" strike="noStrike">
              <a:solidFill>
                <a:srgbClr val="000000"/>
              </a:solidFill>
              <a:latin typeface="Arial"/>
            </a:endParaRPr>
          </a:p>
        </p:txBody>
      </p:sp>
      <p:graphicFrame>
        <p:nvGraphicFramePr>
          <p:cNvPr id="58" name="Table 117"/>
          <p:cNvGraphicFramePr/>
          <p:nvPr/>
        </p:nvGraphicFramePr>
        <p:xfrm>
          <a:off x="914400" y="2571840"/>
          <a:ext cx="8018640" cy="2017440"/>
        </p:xfrm>
        <a:graphic>
          <a:graphicData uri="http://schemas.openxmlformats.org/drawingml/2006/table">
            <a:tbl>
              <a:tblPr/>
              <a:tblGrid>
                <a:gridCol w="907920"/>
                <a:gridCol w="816480"/>
                <a:gridCol w="4155120"/>
                <a:gridCol w="2139480"/>
              </a:tblGrid>
              <a:tr h="129960">
                <a:tc>
                  <a:txBody>
                    <a:bodyPr lIns="45720" rIns="45720" anchor="ctr">
                      <a:noAutofit/>
                    </a:bodyPr>
                    <a:p>
                      <a:pPr>
                        <a:lnSpc>
                          <a:spcPct val="100000"/>
                        </a:lnSpc>
                      </a:pPr>
                      <a:r>
                        <a:rPr b="1" lang="en-US" sz="750" spc="-1" strike="noStrike">
                          <a:solidFill>
                            <a:srgbClr val="ffffff"/>
                          </a:solidFill>
                          <a:latin typeface="Arial"/>
                          <a:ea typeface="Arial"/>
                        </a:rPr>
                        <a:t>Phase</a:t>
                      </a:r>
                      <a:endParaRPr b="0" lang="en-US" sz="750" spc="-1" strike="noStrike">
                        <a:solidFill>
                          <a:srgbClr val="ffffff"/>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f2a44"/>
                    </a:solidFill>
                  </a:tcPr>
                </a:tc>
                <a:tc>
                  <a:txBody>
                    <a:bodyPr lIns="45720" rIns="45720" anchor="ctr">
                      <a:noAutofit/>
                    </a:bodyPr>
                    <a:p>
                      <a:pPr>
                        <a:lnSpc>
                          <a:spcPct val="100000"/>
                        </a:lnSpc>
                      </a:pPr>
                      <a:r>
                        <a:rPr b="1" lang="en-US" sz="750" spc="-1" strike="noStrike">
                          <a:solidFill>
                            <a:srgbClr val="ffffff"/>
                          </a:solidFill>
                          <a:latin typeface="Arial"/>
                          <a:ea typeface="Arial"/>
                        </a:rPr>
                        <a:t>Timeframe</a:t>
                      </a:r>
                      <a:endParaRPr b="0" lang="en-US" sz="750" spc="-1" strike="noStrike">
                        <a:solidFill>
                          <a:srgbClr val="ffffff"/>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f2a44"/>
                    </a:solidFill>
                  </a:tcPr>
                </a:tc>
                <a:tc>
                  <a:txBody>
                    <a:bodyPr lIns="45720" rIns="45720" anchor="ctr">
                      <a:noAutofit/>
                    </a:bodyPr>
                    <a:p>
                      <a:pPr>
                        <a:lnSpc>
                          <a:spcPct val="100000"/>
                        </a:lnSpc>
                      </a:pPr>
                      <a:r>
                        <a:rPr b="1" lang="en-US" sz="750" spc="-1" strike="noStrike">
                          <a:solidFill>
                            <a:srgbClr val="ffffff"/>
                          </a:solidFill>
                          <a:latin typeface="Arial"/>
                          <a:ea typeface="Arial"/>
                        </a:rPr>
                        <a:t>Focus &amp; Expert Supply</a:t>
                      </a:r>
                      <a:endParaRPr b="0" lang="en-US" sz="750" spc="-1" strike="noStrike">
                        <a:solidFill>
                          <a:srgbClr val="ffffff"/>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f2a44"/>
                    </a:solidFill>
                  </a:tcPr>
                </a:tc>
                <a:tc>
                  <a:txBody>
                    <a:bodyPr lIns="45720" rIns="45720" anchor="ctr">
                      <a:noAutofit/>
                    </a:bodyPr>
                    <a:p>
                      <a:pPr>
                        <a:lnSpc>
                          <a:spcPct val="100000"/>
                        </a:lnSpc>
                      </a:pPr>
                      <a:r>
                        <a:rPr b="1" lang="en-US" sz="750" spc="-1" strike="noStrike">
                          <a:solidFill>
                            <a:srgbClr val="ffffff"/>
                          </a:solidFill>
                          <a:latin typeface="Arial"/>
                          <a:ea typeface="Arial"/>
                        </a:rPr>
                        <a:t>Revenue Milestone (Target)</a:t>
                      </a:r>
                      <a:endParaRPr b="0" lang="en-US" sz="750" spc="-1" strike="noStrike">
                        <a:solidFill>
                          <a:srgbClr val="ffffff"/>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f2a44"/>
                    </a:solidFill>
                  </a:tcPr>
                </a:tc>
              </a:tr>
              <a:tr h="270000">
                <a:tc>
                  <a:txBody>
                    <a:bodyPr lIns="45720" rIns="45720" anchor="ctr">
                      <a:noAutofit/>
                    </a:bodyPr>
                    <a:p>
                      <a:pPr>
                        <a:lnSpc>
                          <a:spcPct val="100000"/>
                        </a:lnSpc>
                      </a:pPr>
                      <a:r>
                        <a:rPr b="1" lang="en-US" sz="800" spc="-1" strike="noStrike">
                          <a:solidFill>
                            <a:srgbClr val="1f2a44"/>
                          </a:solidFill>
                          <a:latin typeface="Arial"/>
                          <a:ea typeface="Arial"/>
                        </a:rPr>
                        <a:t>Pre-Launch Hardening</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45720" rIns="45720" anchor="ctr">
                      <a:noAutofit/>
                    </a:bodyPr>
                    <a:p>
                      <a:pPr>
                        <a:lnSpc>
                          <a:spcPct val="100000"/>
                        </a:lnSpc>
                      </a:pPr>
                      <a:r>
                        <a:rPr b="1" lang="en-US" sz="800" spc="-1" strike="noStrike">
                          <a:solidFill>
                            <a:srgbClr val="1f2a44"/>
                          </a:solidFill>
                          <a:latin typeface="Arial"/>
                          <a:ea typeface="Arial"/>
                        </a:rPr>
                        <a:t>Mo. -6 to -3</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45720" rIns="45720" anchor="ctr">
                      <a:noAutofit/>
                    </a:bodyPr>
                    <a:p>
                      <a:pPr>
                        <a:lnSpc>
                          <a:spcPct val="100000"/>
                        </a:lnSpc>
                      </a:pPr>
                      <a:r>
                        <a:rPr b="0" lang="en-US" sz="800" spc="-1" strike="noStrike">
                          <a:solidFill>
                            <a:srgbClr val="333333"/>
                          </a:solidFill>
                          <a:latin typeface="Arial"/>
                          <a:ea typeface="Arial"/>
                        </a:rPr>
                        <a:t>Security/trust-layer audit (done, 38 findings closed); competitive-parity pass (done -- employer self-service, community events, feedback + wishlist loops, unified brand across all 6 apps, cold-start seed content); design-partner outreach; invite-only expert cohort</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45720" rIns="45720" anchor="ctr">
                      <a:noAutofit/>
                    </a:bodyPr>
                    <a:p>
                      <a:pPr>
                        <a:lnSpc>
                          <a:spcPct val="100000"/>
                        </a:lnSpc>
                      </a:pPr>
                      <a:r>
                        <a:rPr b="0" lang="en-US" sz="800" spc="-1" strike="noStrike">
                          <a:solidFill>
                            <a:srgbClr val="333333"/>
                          </a:solidFill>
                          <a:latin typeface="Arial"/>
                          <a:ea typeface="Arial"/>
                        </a:rPr>
                        <a:t>$0 by design — no live transactions yet</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270000">
                <a:tc>
                  <a:txBody>
                    <a:bodyPr lIns="45720" rIns="45720" anchor="ctr">
                      <a:noAutofit/>
                    </a:bodyPr>
                    <a:p>
                      <a:pPr>
                        <a:lnSpc>
                          <a:spcPct val="100000"/>
                        </a:lnSpc>
                      </a:pPr>
                      <a:r>
                        <a:rPr b="1" lang="en-US" sz="800" spc="-1" strike="noStrike">
                          <a:solidFill>
                            <a:srgbClr val="1f2a44"/>
                          </a:solidFill>
                          <a:latin typeface="Arial"/>
                          <a:ea typeface="Arial"/>
                        </a:rPr>
                        <a:t>Closed Pilot</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1" lang="en-US" sz="800" spc="-1" strike="noStrike">
                          <a:solidFill>
                            <a:srgbClr val="1f2a44"/>
                          </a:solidFill>
                          <a:latin typeface="Arial"/>
                          <a:ea typeface="Arial"/>
                        </a:rPr>
                        <a:t>Mo. -3 to 0</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0" lang="en-US" sz="800" spc="-1" strike="noStrike">
                          <a:solidFill>
                            <a:srgbClr val="333333"/>
                          </a:solidFill>
                          <a:latin typeface="Arial"/>
                          <a:ea typeface="Arial"/>
                        </a:rPr>
                        <a:t>3-5 design-partner employers on DeepEdge + Longlist; curated 50-100 expert cohort; validate AI-match quality</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0" lang="en-US" sz="800" spc="-1" strike="noStrike">
                          <a:solidFill>
                            <a:srgbClr val="333333"/>
                          </a:solidFill>
                          <a:latin typeface="Arial"/>
                          <a:ea typeface="Arial"/>
                        </a:rPr>
                        <a:t>First LOIs signed; pricing validated with pilots</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r>
              <a:tr h="270000">
                <a:tc>
                  <a:txBody>
                    <a:bodyPr lIns="45720" rIns="45720" anchor="ctr">
                      <a:noAutofit/>
                    </a:bodyPr>
                    <a:p>
                      <a:pPr>
                        <a:lnSpc>
                          <a:spcPct val="100000"/>
                        </a:lnSpc>
                      </a:pPr>
                      <a:r>
                        <a:rPr b="1" lang="en-US" sz="800" spc="-1" strike="noStrike">
                          <a:solidFill>
                            <a:srgbClr val="1f2a44"/>
                          </a:solidFill>
                          <a:latin typeface="Arial"/>
                          <a:ea typeface="Arial"/>
                        </a:rPr>
                        <a:t>Public Launch</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45720" rIns="45720" anchor="ctr">
                      <a:noAutofit/>
                    </a:bodyPr>
                    <a:p>
                      <a:pPr>
                        <a:lnSpc>
                          <a:spcPct val="100000"/>
                        </a:lnSpc>
                      </a:pPr>
                      <a:r>
                        <a:rPr b="1" lang="en-US" sz="800" spc="-1" strike="noStrike">
                          <a:solidFill>
                            <a:srgbClr val="1f2a44"/>
                          </a:solidFill>
                          <a:latin typeface="Arial"/>
                          <a:ea typeface="Arial"/>
                        </a:rPr>
                        <a:t>Mo. 0-1</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45720" rIns="45720" anchor="ctr">
                      <a:noAutofit/>
                    </a:bodyPr>
                    <a:p>
                      <a:pPr>
                        <a:lnSpc>
                          <a:spcPct val="100000"/>
                        </a:lnSpc>
                      </a:pPr>
                      <a:r>
                        <a:rPr b="0" lang="en-US" sz="800" spc="-1" strike="noStrike">
                          <a:solidFill>
                            <a:srgbClr val="333333"/>
                          </a:solidFill>
                          <a:latin typeface="Arial"/>
                          <a:ea typeface="Arial"/>
                        </a:rPr>
                        <a:t>Open signup, all 6 core features; referral-driven expert acquisition (+25 score/conversion); GreyMatters content marketing</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45720" rIns="45720" anchor="ctr">
                      <a:noAutofit/>
                    </a:bodyPr>
                    <a:p>
                      <a:pPr>
                        <a:lnSpc>
                          <a:spcPct val="100000"/>
                        </a:lnSpc>
                      </a:pPr>
                      <a:r>
                        <a:rPr b="0" lang="en-US" sz="800" spc="-1" strike="noStrike">
                          <a:solidFill>
                            <a:srgbClr val="333333"/>
                          </a:solidFill>
                          <a:latin typeface="Arial"/>
                          <a:ea typeface="Arial"/>
                        </a:rPr>
                        <a:t>First paying cohort converts from pilot</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270000">
                <a:tc>
                  <a:txBody>
                    <a:bodyPr lIns="45720" rIns="45720" anchor="ctr">
                      <a:noAutofit/>
                    </a:bodyPr>
                    <a:p>
                      <a:pPr>
                        <a:lnSpc>
                          <a:spcPct val="100000"/>
                        </a:lnSpc>
                      </a:pPr>
                      <a:r>
                        <a:rPr b="1" lang="en-US" sz="800" spc="-1" strike="noStrike">
                          <a:solidFill>
                            <a:srgbClr val="1f2a44"/>
                          </a:solidFill>
                          <a:latin typeface="Arial"/>
                          <a:ea typeface="Arial"/>
                        </a:rPr>
                        <a:t>Year 1</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1" lang="en-US" sz="800" spc="-1" strike="noStrike">
                          <a:solidFill>
                            <a:srgbClr val="1f2a44"/>
                          </a:solidFill>
                          <a:latin typeface="Arial"/>
                          <a:ea typeface="Arial"/>
                        </a:rPr>
                        <a:t>Mo. 1-12</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0" lang="en-US" sz="800" spc="-1" strike="noStrike">
                          <a:solidFill>
                            <a:srgbClr val="333333"/>
                          </a:solidFill>
                          <a:latin typeface="Arial"/>
                          <a:ea typeface="Arial"/>
                        </a:rPr>
                        <a:t>Scale employer accounts; AI-Verified Search + Longlist AI-matching activated broadly; mentor commission live</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0" lang="en-US" sz="800" spc="-1" strike="noStrike">
                          <a:solidFill>
                            <a:srgbClr val="333333"/>
                          </a:solidFill>
                          <a:latin typeface="Arial"/>
                          <a:ea typeface="Arial"/>
                        </a:rPr>
                        <a:t>Target: first ~50 paying employer accounts</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r>
              <a:tr h="270000">
                <a:tc>
                  <a:txBody>
                    <a:bodyPr lIns="45720" rIns="45720" anchor="ctr">
                      <a:noAutofit/>
                    </a:bodyPr>
                    <a:p>
                      <a:pPr>
                        <a:lnSpc>
                          <a:spcPct val="100000"/>
                        </a:lnSpc>
                      </a:pPr>
                      <a:r>
                        <a:rPr b="1" lang="en-US" sz="800" spc="-1" strike="noStrike">
                          <a:solidFill>
                            <a:srgbClr val="1f2a44"/>
                          </a:solidFill>
                          <a:latin typeface="Arial"/>
                          <a:ea typeface="Arial"/>
                        </a:rPr>
                        <a:t>Year 2</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45720" rIns="45720" anchor="ctr">
                      <a:noAutofit/>
                    </a:bodyPr>
                    <a:p>
                      <a:pPr>
                        <a:lnSpc>
                          <a:spcPct val="100000"/>
                        </a:lnSpc>
                      </a:pPr>
                      <a:r>
                        <a:rPr b="1" lang="en-US" sz="800" spc="-1" strike="noStrike">
                          <a:solidFill>
                            <a:srgbClr val="1f2a44"/>
                          </a:solidFill>
                          <a:latin typeface="Arial"/>
                          <a:ea typeface="Arial"/>
                        </a:rPr>
                        <a:t>Year 2</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45720" rIns="45720" anchor="ctr">
                      <a:noAutofit/>
                    </a:bodyPr>
                    <a:p>
                      <a:pPr>
                        <a:lnSpc>
                          <a:spcPct val="100000"/>
                        </a:lnSpc>
                      </a:pPr>
                      <a:r>
                        <a:rPr b="0" lang="en-US" sz="800" spc="-1" strike="noStrike">
                          <a:solidFill>
                            <a:srgbClr val="333333"/>
                          </a:solidFill>
                          <a:latin typeface="Arial"/>
                          <a:ea typeface="Arial"/>
                        </a:rPr>
                        <a:t>Enterprise-tier accounts for high-volume teams; StackWorks verified-outcome premium tooling; geo expansion</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45720" rIns="45720" anchor="ctr">
                      <a:noAutofit/>
                    </a:bodyPr>
                    <a:p>
                      <a:pPr>
                        <a:lnSpc>
                          <a:spcPct val="100000"/>
                        </a:lnSpc>
                      </a:pPr>
                      <a:r>
                        <a:rPr b="0" lang="en-US" sz="800" spc="-1" strike="noStrike">
                          <a:solidFill>
                            <a:srgbClr val="333333"/>
                          </a:solidFill>
                          <a:latin typeface="Arial"/>
                          <a:ea typeface="Arial"/>
                        </a:rPr>
                        <a:t>Target: 3-5x employer base; first Enterprise contracts</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270000">
                <a:tc>
                  <a:txBody>
                    <a:bodyPr lIns="45720" rIns="45720" anchor="ctr">
                      <a:noAutofit/>
                    </a:bodyPr>
                    <a:p>
                      <a:pPr>
                        <a:lnSpc>
                          <a:spcPct val="100000"/>
                        </a:lnSpc>
                      </a:pPr>
                      <a:r>
                        <a:rPr b="1" lang="en-US" sz="800" spc="-1" strike="noStrike">
                          <a:solidFill>
                            <a:srgbClr val="1f2a44"/>
                          </a:solidFill>
                          <a:latin typeface="Arial"/>
                          <a:ea typeface="Arial"/>
                        </a:rPr>
                        <a:t>Year 3</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1" lang="en-US" sz="800" spc="-1" strike="noStrike">
                          <a:solidFill>
                            <a:srgbClr val="1f2a44"/>
                          </a:solidFill>
                          <a:latin typeface="Arial"/>
                          <a:ea typeface="Arial"/>
                        </a:rPr>
                        <a:t>Year 3</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0" lang="en-US" sz="800" spc="-1" strike="noStrike">
                          <a:solidFill>
                            <a:srgbClr val="333333"/>
                          </a:solidFill>
                          <a:latin typeface="Arial"/>
                          <a:ea typeface="Arial"/>
                        </a:rPr>
                        <a:t>Vertical expansion; reference-check API for enterprise HR systems; verified-interaction data moat compounds</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0" lang="en-US" sz="800" spc="-1" strike="noStrike">
                          <a:solidFill>
                            <a:srgbClr val="333333"/>
                          </a:solidFill>
                          <a:latin typeface="Arial"/>
                          <a:ea typeface="Arial"/>
                        </a:rPr>
                        <a:t>Target: sustainable unit economics; Series A readiness</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r>
            </a:tbl>
          </a:graphicData>
        </a:graphic>
      </p:graphicFrame>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9" name="Google Shape;122;p23" descr=""/>
          <p:cNvPicPr/>
          <p:nvPr/>
        </p:nvPicPr>
        <p:blipFill>
          <a:blip r:embed="rId1"/>
          <a:stretch/>
        </p:blipFill>
        <p:spPr>
          <a:xfrm>
            <a:off x="0" y="0"/>
            <a:ext cx="9142920" cy="5142600"/>
          </a:xfrm>
          <a:prstGeom prst="rect">
            <a:avLst/>
          </a:prstGeom>
          <a:ln w="0">
            <a:noFill/>
          </a:ln>
        </p:spPr>
      </p:pic>
      <p:sp>
        <p:nvSpPr>
          <p:cNvPr id="60" name="Google Shape;123;p23"/>
          <p:cNvSpPr/>
          <p:nvPr/>
        </p:nvSpPr>
        <p:spPr>
          <a:xfrm>
            <a:off x="313560" y="1256760"/>
            <a:ext cx="8704440" cy="3148560"/>
          </a:xfrm>
          <a:prstGeom prst="rect">
            <a:avLst/>
          </a:prstGeom>
          <a:noFill/>
          <a:ln w="0">
            <a:noFill/>
          </a:ln>
        </p:spPr>
        <p:style>
          <a:lnRef idx="0"/>
          <a:fillRef idx="0"/>
          <a:effectRef idx="0"/>
          <a:fontRef idx="minor"/>
        </p:style>
        <p:txBody>
          <a:bodyPr lIns="90000" rIns="90000" tIns="91440" bIns="91440" anchor="t">
            <a:noAutofit/>
          </a:bodyPr>
          <a:p>
            <a:pPr marL="457200" indent="-298440" algn="just">
              <a:lnSpc>
                <a:spcPct val="115000"/>
              </a:lnSpc>
              <a:spcBef>
                <a:spcPts val="1199"/>
              </a:spcBef>
              <a:buClr>
                <a:srgbClr val="000000"/>
              </a:buClr>
              <a:buFont typeface="Arial"/>
              <a:buAutoNum type="arabicPeriod"/>
            </a:pPr>
            <a:r>
              <a:rPr b="1" lang="en-GB" sz="1100" spc="-1" strike="noStrike">
                <a:solidFill>
                  <a:schemeClr val="dk1"/>
                </a:solidFill>
                <a:latin typeface="Arial"/>
                <a:ea typeface="Arial"/>
              </a:rPr>
              <a:t>Why is your team uniquely positioned to solve this problem?</a:t>
            </a:r>
            <a:endParaRPr b="0" lang="en-US" sz="1100" spc="-1" strike="noStrike">
              <a:solidFill>
                <a:srgbClr val="000000"/>
              </a:solidFill>
              <a:latin typeface="Arial"/>
            </a:endParaRPr>
          </a:p>
          <a:p>
            <a:pPr marL="457200" indent="-298440" algn="just">
              <a:lnSpc>
                <a:spcPct val="115000"/>
              </a:lnSpc>
              <a:spcBef>
                <a:spcPts val="400"/>
              </a:spcBef>
              <a:spcAft>
                <a:spcPts val="601"/>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Solo founder. 13+ years in automotive embedded systems -- most of it in verification and validation: professionally proving that safety-critical software does what its spec claims, and scaling V&amp;V teams 3-4x for Stellantis followed by 2+ years of freelancing after a pivot into Full-stack/AI Engineering.</a:t>
            </a:r>
            <a:endParaRPr b="0" lang="en-US" sz="1000" spc="-1" strike="noStrike">
              <a:solidFill>
                <a:srgbClr val="000000"/>
              </a:solidFill>
              <a:latin typeface="Arial"/>
            </a:endParaRPr>
          </a:p>
          <a:p>
            <a:pPr marL="457200" indent="-298440" algn="just">
              <a:lnSpc>
                <a:spcPct val="115000"/>
              </a:lnSpc>
              <a:spcBef>
                <a:spcPts val="400"/>
              </a:spcBef>
              <a:spcAft>
                <a:spcPts val="601"/>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Greyin turns that same discipline on professional trust -- don't take the claim, verify the interaction underneath it. I'm also the user: after a deliberate pivot into AI and two years shipping full-stack and AI software solo, I re-entered the hiring market as a senior candidate and hit the exact wall this platform removes -- a resume upload is the only proof a decade of real work gets, and keyword filters do the rest. One of those solo builds was itself a hiring portal; watching “verified” mean nothing on it is what turned six separate products into one platform built around a verification layer.</a:t>
            </a:r>
            <a:endParaRPr b="0" lang="en-US" sz="1000" spc="-1" strike="noStrike">
              <a:solidFill>
                <a:srgbClr val="000000"/>
              </a:solidFill>
              <a:latin typeface="Arial"/>
            </a:endParaRPr>
          </a:p>
          <a:p>
            <a:pPr marL="457200" indent="-298440" algn="just">
              <a:lnSpc>
                <a:spcPct val="115000"/>
              </a:lnSpc>
              <a:buClr>
                <a:srgbClr val="000000"/>
              </a:buClr>
              <a:buFont typeface="Arial"/>
              <a:buAutoNum type="arabicPeriod"/>
              <a:tabLst>
                <a:tab algn="l" pos="0"/>
              </a:tabLst>
            </a:pPr>
            <a:r>
              <a:rPr b="1" lang="en-GB" sz="1100" spc="-1" strike="noStrike">
                <a:solidFill>
                  <a:schemeClr val="dk1"/>
                </a:solidFill>
                <a:latin typeface="Arial"/>
                <a:ea typeface="Arial"/>
              </a:rPr>
              <a:t>What relevant domain or technical expertise does the team possess?</a:t>
            </a:r>
            <a:endParaRPr b="0" lang="en-US" sz="1100" spc="-1" strike="noStrike">
              <a:solidFill>
                <a:srgbClr val="000000"/>
              </a:solidFill>
              <a:latin typeface="Arial"/>
            </a:endParaRPr>
          </a:p>
          <a:p>
            <a:pPr marL="457200" indent="-298440" algn="just">
              <a:lnSpc>
                <a:spcPct val="115000"/>
              </a:lnSpc>
              <a:spcBef>
                <a:spcPts val="400"/>
              </a:spcBef>
              <a:spcAft>
                <a:spcPts val="601"/>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Full-stack ownership of the entire platform as built: schema design and row-level-security-first data architecture, 7 independently-deployable Next.js applications, a pluggable multi-provider LLM/AI integration layer powering 6 live AI systems, and a self-run production deployment -- plus a genuinely rigorous engineering practice: a real 38-finding security audit closed and individually verified end to end, and a feature-by-feature teardown against a parallel AI-generated build of the same concept.</a:t>
            </a:r>
            <a:endParaRPr b="0" lang="en-US" sz="1000" spc="-1" strike="noStrike">
              <a:solidFill>
                <a:srgbClr val="000000"/>
              </a:solidFill>
              <a:latin typeface="Arial"/>
            </a:endParaRPr>
          </a:p>
        </p:txBody>
      </p:sp>
      <p:sp>
        <p:nvSpPr>
          <p:cNvPr id="61" name="Google Shape;124;p23"/>
          <p:cNvSpPr/>
          <p:nvPr/>
        </p:nvSpPr>
        <p:spPr>
          <a:xfrm>
            <a:off x="304200" y="591840"/>
            <a:ext cx="5152680" cy="506160"/>
          </a:xfrm>
          <a:prstGeom prst="rect">
            <a:avLst/>
          </a:prstGeom>
          <a:noFill/>
          <a:ln w="0">
            <a:noFill/>
          </a:ln>
        </p:spPr>
        <p:style>
          <a:lnRef idx="0"/>
          <a:fillRef idx="0"/>
          <a:effectRef idx="0"/>
          <a:fontRef idx="minor"/>
        </p:style>
        <p:txBody>
          <a:bodyPr lIns="90000" rIns="90000" tIns="91440" bIns="91440" anchor="t">
            <a:noAutofit/>
          </a:bodyPr>
          <a:p>
            <a:pPr>
              <a:lnSpc>
                <a:spcPct val="115000"/>
              </a:lnSpc>
              <a:spcBef>
                <a:spcPts val="2401"/>
              </a:spcBef>
              <a:spcAft>
                <a:spcPts val="601"/>
              </a:spcAft>
              <a:tabLst>
                <a:tab algn="l" pos="0"/>
              </a:tabLst>
            </a:pPr>
            <a:r>
              <a:rPr b="1" lang="en-GB" sz="2300" spc="-1" strike="noStrike">
                <a:solidFill>
                  <a:schemeClr val="dk1"/>
                </a:solidFill>
                <a:latin typeface="Arial"/>
                <a:ea typeface="Arial"/>
              </a:rPr>
              <a:t>Team</a:t>
            </a:r>
            <a:endParaRPr b="0" lang="en-US" sz="2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2" name="Google Shape;129;p24" descr=""/>
          <p:cNvPicPr/>
          <p:nvPr/>
        </p:nvPicPr>
        <p:blipFill>
          <a:blip r:embed="rId1"/>
          <a:stretch/>
        </p:blipFill>
        <p:spPr>
          <a:xfrm>
            <a:off x="0" y="0"/>
            <a:ext cx="9142920" cy="5142600"/>
          </a:xfrm>
          <a:prstGeom prst="rect">
            <a:avLst/>
          </a:prstGeom>
          <a:ln w="0">
            <a:noFill/>
          </a:ln>
        </p:spPr>
      </p:pic>
      <p:sp>
        <p:nvSpPr>
          <p:cNvPr id="63" name="Google Shape;130;p24"/>
          <p:cNvSpPr/>
          <p:nvPr/>
        </p:nvSpPr>
        <p:spPr>
          <a:xfrm>
            <a:off x="313560" y="1256760"/>
            <a:ext cx="8704440" cy="3148560"/>
          </a:xfrm>
          <a:prstGeom prst="rect">
            <a:avLst/>
          </a:prstGeom>
          <a:noFill/>
          <a:ln w="0">
            <a:noFill/>
          </a:ln>
        </p:spPr>
        <p:style>
          <a:lnRef idx="0"/>
          <a:fillRef idx="0"/>
          <a:effectRef idx="0"/>
          <a:fontRef idx="minor"/>
        </p:style>
        <p:txBody>
          <a:bodyPr lIns="90000" rIns="90000" tIns="91440" bIns="91440" anchor="t">
            <a:noAutofit/>
          </a:bodyPr>
          <a:p>
            <a:pPr marL="457200" indent="-298440" algn="just">
              <a:lnSpc>
                <a:spcPct val="115000"/>
              </a:lnSpc>
              <a:spcBef>
                <a:spcPts val="1199"/>
              </a:spcBef>
              <a:buClr>
                <a:srgbClr val="000000"/>
              </a:buClr>
              <a:buFont typeface="Arial"/>
              <a:buAutoNum type="arabicPeriod"/>
            </a:pPr>
            <a:r>
              <a:rPr b="1" lang="en-GB" sz="1100" spc="-1" strike="noStrike">
                <a:solidFill>
                  <a:schemeClr val="dk1"/>
                </a:solidFill>
                <a:latin typeface="Arial"/>
                <a:ea typeface="Arial"/>
              </a:rPr>
              <a:t>Why have you applied to the BITSoM Vertex programme?</a:t>
            </a:r>
            <a:endParaRPr b="0" lang="en-US" sz="1100" spc="-1" strike="noStrike">
              <a:solidFill>
                <a:srgbClr val="000000"/>
              </a:solidFill>
              <a:latin typeface="Arial"/>
            </a:endParaRPr>
          </a:p>
          <a:p>
            <a:pPr marL="457200" indent="-298440" algn="just">
              <a:lnSpc>
                <a:spcPct val="115000"/>
              </a:lnSpc>
              <a:spcBef>
                <a:spcPts val="400"/>
              </a:spcBef>
              <a:spcAft>
                <a:spcPts val="601"/>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BITSoM Vertex's combination of Silicon Valley AI venture-building expertise, enterprise pilot pathways, and investor access is exactly the missing piece: the AI infrastructure and the product are built and live, but converting that into a funded, enterprise-validated company needs precisely the venture-building rigor and warm enterprise introductions this programme provides.</a:t>
            </a:r>
            <a:endParaRPr b="0" lang="en-US" sz="1000" spc="-1" strike="noStrike">
              <a:solidFill>
                <a:srgbClr val="000000"/>
              </a:solidFill>
              <a:latin typeface="Arial"/>
            </a:endParaRPr>
          </a:p>
          <a:p>
            <a:pPr marL="457200" indent="-298440" algn="just">
              <a:lnSpc>
                <a:spcPct val="115000"/>
              </a:lnSpc>
              <a:buClr>
                <a:srgbClr val="000000"/>
              </a:buClr>
              <a:buFont typeface="Arial"/>
              <a:buAutoNum type="arabicPeriod"/>
              <a:tabLst>
                <a:tab algn="l" pos="0"/>
              </a:tabLst>
            </a:pPr>
            <a:r>
              <a:rPr b="1" lang="en-GB" sz="1100" spc="-1" strike="noStrike">
                <a:solidFill>
                  <a:schemeClr val="dk1"/>
                </a:solidFill>
                <a:latin typeface="Arial"/>
                <a:ea typeface="Arial"/>
              </a:rPr>
              <a:t>What is the biggest challenge preventing you from building your MVP?</a:t>
            </a:r>
            <a:endParaRPr b="0" lang="en-US" sz="1100" spc="-1" strike="noStrike">
              <a:solidFill>
                <a:srgbClr val="000000"/>
              </a:solidFill>
              <a:latin typeface="Arial"/>
            </a:endParaRPr>
          </a:p>
          <a:p>
            <a:pPr marL="457200" indent="-298440" algn="just">
              <a:lnSpc>
                <a:spcPct val="115000"/>
              </a:lnSpc>
              <a:spcBef>
                <a:spcPts val="400"/>
              </a:spcBef>
              <a:spcAft>
                <a:spcPts val="601"/>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Not technical execution -- the platform, its 6 live AI systems, and its security posture are already real. The gap is deliberately commercial: converting a solid, pre-launch AI product into signed design-partner pilots and a first paying enterprise cohort, exactly the enterprise-pathway support this programme offers.</a:t>
            </a:r>
            <a:endParaRPr b="0" lang="en-US" sz="1000" spc="-1" strike="noStrike">
              <a:solidFill>
                <a:srgbClr val="000000"/>
              </a:solidFill>
              <a:latin typeface="Arial"/>
            </a:endParaRPr>
          </a:p>
        </p:txBody>
      </p:sp>
      <p:sp>
        <p:nvSpPr>
          <p:cNvPr id="64" name="Google Shape;131;p24"/>
          <p:cNvSpPr/>
          <p:nvPr/>
        </p:nvSpPr>
        <p:spPr>
          <a:xfrm>
            <a:off x="304200" y="591840"/>
            <a:ext cx="5152680" cy="506160"/>
          </a:xfrm>
          <a:prstGeom prst="rect">
            <a:avLst/>
          </a:prstGeom>
          <a:noFill/>
          <a:ln w="0">
            <a:noFill/>
          </a:ln>
        </p:spPr>
        <p:style>
          <a:lnRef idx="0"/>
          <a:fillRef idx="0"/>
          <a:effectRef idx="0"/>
          <a:fontRef idx="minor"/>
        </p:style>
        <p:txBody>
          <a:bodyPr lIns="90000" rIns="90000" tIns="91440" bIns="91440" anchor="t">
            <a:noAutofit/>
          </a:bodyPr>
          <a:p>
            <a:pPr>
              <a:lnSpc>
                <a:spcPct val="115000"/>
              </a:lnSpc>
              <a:spcBef>
                <a:spcPts val="2401"/>
              </a:spcBef>
              <a:spcAft>
                <a:spcPts val="601"/>
              </a:spcAft>
              <a:tabLst>
                <a:tab algn="l" pos="0"/>
              </a:tabLst>
            </a:pPr>
            <a:r>
              <a:rPr b="1" lang="en-GB" sz="2300" spc="-1" strike="noStrike">
                <a:solidFill>
                  <a:schemeClr val="dk1"/>
                </a:solidFill>
                <a:latin typeface="Arial"/>
                <a:ea typeface="Arial"/>
              </a:rPr>
              <a:t>Why BITSoM Vertex?</a:t>
            </a:r>
            <a:endParaRPr b="0" lang="en-US" sz="2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5" name="Google Shape;136;p25" descr=""/>
          <p:cNvPicPr/>
          <p:nvPr/>
        </p:nvPicPr>
        <p:blipFill>
          <a:blip r:embed="rId1"/>
          <a:stretch/>
        </p:blipFill>
        <p:spPr>
          <a:xfrm>
            <a:off x="0" y="0"/>
            <a:ext cx="9142920" cy="5142600"/>
          </a:xfrm>
          <a:prstGeom prst="rect">
            <a:avLst/>
          </a:prstGeom>
          <a:ln w="0">
            <a:noFill/>
          </a:ln>
        </p:spPr>
      </p:pic>
      <p:sp>
        <p:nvSpPr>
          <p:cNvPr id="66" name="Google Shape;137;p25"/>
          <p:cNvSpPr/>
          <p:nvPr/>
        </p:nvSpPr>
        <p:spPr>
          <a:xfrm>
            <a:off x="313560" y="1364760"/>
            <a:ext cx="8704440" cy="3664080"/>
          </a:xfrm>
          <a:prstGeom prst="rect">
            <a:avLst/>
          </a:prstGeom>
          <a:noFill/>
          <a:ln w="0">
            <a:noFill/>
          </a:ln>
        </p:spPr>
        <p:style>
          <a:lnRef idx="0"/>
          <a:fillRef idx="0"/>
          <a:effectRef idx="0"/>
          <a:fontRef idx="minor"/>
        </p:style>
        <p:txBody>
          <a:bodyPr lIns="90000" rIns="90000" tIns="91440" bIns="91440" anchor="t">
            <a:noAutofit/>
          </a:bodyPr>
          <a:p>
            <a:pPr>
              <a:lnSpc>
                <a:spcPct val="115000"/>
              </a:lnSpc>
              <a:spcBef>
                <a:spcPts val="1199"/>
              </a:spcBef>
              <a:tabLst>
                <a:tab algn="l" pos="0"/>
              </a:tabLst>
            </a:pPr>
            <a:r>
              <a:rPr b="0" lang="en-GB" sz="1100" spc="-1" strike="noStrike">
                <a:solidFill>
                  <a:schemeClr val="dk1"/>
                </a:solidFill>
                <a:latin typeface="Arial"/>
                <a:ea typeface="Arial"/>
              </a:rPr>
              <a:t>Provide links to your:</a:t>
            </a:r>
            <a:endParaRPr b="0" lang="en-US" sz="1100" spc="-1" strike="noStrike">
              <a:solidFill>
                <a:srgbClr val="000000"/>
              </a:solidFill>
              <a:latin typeface="Arial"/>
            </a:endParaRPr>
          </a:p>
          <a:p>
            <a:pPr marL="457200" indent="-298440">
              <a:lnSpc>
                <a:spcPct val="115000"/>
              </a:lnSpc>
              <a:spcBef>
                <a:spcPts val="1199"/>
              </a:spcBef>
              <a:buClr>
                <a:srgbClr val="000000"/>
              </a:buClr>
              <a:buFont typeface="Arial"/>
              <a:buChar char="●"/>
              <a:tabLst>
                <a:tab algn="l" pos="0"/>
              </a:tabLst>
            </a:pPr>
            <a:r>
              <a:rPr b="0" lang="en-GB" sz="1100" spc="-1" strike="noStrike">
                <a:solidFill>
                  <a:schemeClr val="dk1"/>
                </a:solidFill>
                <a:latin typeface="Arial"/>
                <a:ea typeface="Arial"/>
              </a:rPr>
              <a:t>Prototype (if available)</a:t>
            </a:r>
            <a:endParaRPr b="0" lang="en-US" sz="1100" spc="-1" strike="noStrike">
              <a:solidFill>
                <a:srgbClr val="000000"/>
              </a:solidFill>
              <a:latin typeface="Arial"/>
            </a:endParaRPr>
          </a:p>
          <a:p>
            <a:pPr marL="457200" indent="-298440">
              <a:lnSpc>
                <a:spcPct val="115000"/>
              </a:lnSpc>
              <a:spcBef>
                <a:spcPts val="400"/>
              </a:spcBef>
              <a:spcAft>
                <a:spcPts val="601"/>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Live production platform -- all 6 core features plus Greyin Hub deployed and reachable today.</a:t>
            </a:r>
            <a:endParaRPr b="0" lang="en-US" sz="1000" spc="-1" strike="noStrike">
              <a:solidFill>
                <a:srgbClr val="000000"/>
              </a:solidFill>
              <a:latin typeface="Arial"/>
            </a:endParaRPr>
          </a:p>
          <a:p>
            <a:pPr marL="457200" indent="-298440">
              <a:lnSpc>
                <a:spcPct val="115000"/>
              </a:lnSpc>
              <a:buClr>
                <a:srgbClr val="000000"/>
              </a:buClr>
              <a:buFont typeface="Arial"/>
              <a:buChar char="●"/>
              <a:tabLst>
                <a:tab algn="l" pos="0"/>
              </a:tabLst>
            </a:pPr>
            <a:r>
              <a:rPr b="0" lang="en-GB" sz="1100" spc="-1" strike="noStrike">
                <a:solidFill>
                  <a:schemeClr val="dk1"/>
                </a:solidFill>
                <a:latin typeface="Arial"/>
                <a:ea typeface="Arial"/>
              </a:rPr>
              <a:t>Demo Video (if available)</a:t>
            </a:r>
            <a:endParaRPr b="0" lang="en-US" sz="1100" spc="-1" strike="noStrike">
              <a:solidFill>
                <a:srgbClr val="000000"/>
              </a:solidFill>
              <a:latin typeface="Arial"/>
            </a:endParaRPr>
          </a:p>
          <a:p>
            <a:pPr marL="457200" indent="-298440">
              <a:lnSpc>
                <a:spcPct val="115000"/>
              </a:lnSpc>
              <a:spcBef>
                <a:spcPts val="400"/>
              </a:spcBef>
              <a:spcAft>
                <a:spcPts val="601"/>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Not yet recorded -- available on request ahead of the Mumbai Pitch Fest.</a:t>
            </a:r>
            <a:endParaRPr b="0" lang="en-US" sz="1000" spc="-1" strike="noStrike">
              <a:solidFill>
                <a:srgbClr val="000000"/>
              </a:solidFill>
              <a:latin typeface="Arial"/>
            </a:endParaRPr>
          </a:p>
          <a:p>
            <a:pPr marL="457200" indent="-298440">
              <a:lnSpc>
                <a:spcPct val="115000"/>
              </a:lnSpc>
              <a:buClr>
                <a:srgbClr val="000000"/>
              </a:buClr>
              <a:buFont typeface="Arial"/>
              <a:buChar char="●"/>
              <a:tabLst>
                <a:tab algn="l" pos="0"/>
              </a:tabLst>
            </a:pPr>
            <a:r>
              <a:rPr b="0" lang="en-GB" sz="1100" spc="-1" strike="noStrike">
                <a:solidFill>
                  <a:schemeClr val="dk1"/>
                </a:solidFill>
                <a:latin typeface="Arial"/>
                <a:ea typeface="Arial"/>
              </a:rPr>
              <a:t>GitHub Repository (if available)</a:t>
            </a:r>
            <a:endParaRPr b="0" lang="en-US" sz="1100" spc="-1" strike="noStrike">
              <a:solidFill>
                <a:srgbClr val="000000"/>
              </a:solidFill>
              <a:latin typeface="Arial"/>
            </a:endParaRPr>
          </a:p>
          <a:p>
            <a:pPr marL="457200" indent="-298440">
              <a:lnSpc>
                <a:spcPct val="115000"/>
              </a:lnSpc>
              <a:spcBef>
                <a:spcPts val="400"/>
              </a:spcBef>
              <a:spcAft>
                <a:spcPts val="601"/>
              </a:spcAft>
              <a:tabLst>
                <a:tab algn="l" pos="0"/>
              </a:tabLst>
            </a:pPr>
            <a:r>
              <a:rPr b="0" lang="en-US" sz="1000" spc="-1" strike="noStrike">
                <a:solidFill>
                  <a:srgbClr val="555555"/>
                </a:solidFill>
                <a:latin typeface="Arial"/>
                <a:ea typeface="Arial"/>
              </a:rPr>
              <a:t>	</a:t>
            </a:r>
            <a:r>
              <a:rPr b="0" lang="en-US" sz="1000" spc="-1" strike="noStrike" u="sng">
                <a:solidFill>
                  <a:srgbClr val="0097a7"/>
                </a:solidFill>
                <a:uFillTx/>
                <a:latin typeface="Arial"/>
                <a:ea typeface="Arial"/>
                <a:hlinkClick r:id="rId2"/>
              </a:rPr>
              <a:t>https://github.com/zollyzeus/greyin</a:t>
            </a:r>
            <a:r>
              <a:rPr b="0" lang="en-US" sz="1000" spc="-1" strike="noStrike">
                <a:solidFill>
                  <a:srgbClr val="555555"/>
                </a:solidFill>
                <a:latin typeface="Arial"/>
                <a:ea typeface="Arial"/>
              </a:rPr>
              <a:t> (private repo); access + architecture walkthrough on request.</a:t>
            </a:r>
            <a:endParaRPr b="0" lang="en-US" sz="1000" spc="-1" strike="noStrike">
              <a:solidFill>
                <a:srgbClr val="000000"/>
              </a:solidFill>
              <a:latin typeface="Arial"/>
            </a:endParaRPr>
          </a:p>
          <a:p>
            <a:pPr marL="457200" indent="-298440">
              <a:lnSpc>
                <a:spcPct val="115000"/>
              </a:lnSpc>
              <a:buClr>
                <a:srgbClr val="000000"/>
              </a:buClr>
              <a:buFont typeface="Arial"/>
              <a:buChar char="●"/>
              <a:tabLst>
                <a:tab algn="l" pos="0"/>
              </a:tabLst>
            </a:pPr>
            <a:r>
              <a:rPr b="0" lang="en-GB" sz="1100" spc="-1" strike="noStrike">
                <a:solidFill>
                  <a:schemeClr val="dk1"/>
                </a:solidFill>
                <a:latin typeface="Arial"/>
                <a:ea typeface="Arial"/>
              </a:rPr>
              <a:t>Website / Landing Page (if available)</a:t>
            </a:r>
            <a:endParaRPr b="0" lang="en-US" sz="1100" spc="-1" strike="noStrike">
              <a:solidFill>
                <a:srgbClr val="000000"/>
              </a:solidFill>
              <a:latin typeface="Arial"/>
            </a:endParaRPr>
          </a:p>
          <a:p>
            <a:pPr marL="457200" indent="-298440">
              <a:lnSpc>
                <a:spcPct val="115000"/>
              </a:lnSpc>
              <a:spcBef>
                <a:spcPts val="116"/>
              </a:spcBef>
              <a:spcAft>
                <a:spcPts val="317"/>
              </a:spcAft>
              <a:tabLst>
                <a:tab algn="l" pos="0"/>
              </a:tabLst>
            </a:pPr>
            <a:r>
              <a:rPr b="0" lang="en-US" sz="1000" spc="-1" strike="noStrike">
                <a:solidFill>
                  <a:srgbClr val="555555"/>
                </a:solidFill>
                <a:latin typeface="Arial"/>
                <a:ea typeface="Arial"/>
              </a:rPr>
              <a:t>	</a:t>
            </a:r>
            <a:r>
              <a:rPr b="0" lang="en-US" sz="1000" spc="-1" strike="noStrike" u="sng">
                <a:solidFill>
                  <a:srgbClr val="0097a7"/>
                </a:solidFill>
                <a:uFillTx/>
                <a:latin typeface="Arial"/>
                <a:ea typeface="Arial"/>
                <a:hlinkClick r:id="rId3"/>
              </a:rPr>
              <a:t>https://greyin.net</a:t>
            </a:r>
            <a:r>
              <a:rPr b="0" lang="en-US" sz="1000" spc="-1" strike="noStrike">
                <a:solidFill>
                  <a:srgbClr val="555555"/>
                </a:solidFill>
                <a:latin typeface="Arial"/>
                <a:ea typeface="Arial"/>
              </a:rPr>
              <a:t> (ecosystem hub / landing page)</a:t>
            </a:r>
            <a:endParaRPr b="0" lang="en-US" sz="1000" spc="-1" strike="noStrike">
              <a:solidFill>
                <a:srgbClr val="000000"/>
              </a:solidFill>
              <a:latin typeface="Arial"/>
            </a:endParaRPr>
          </a:p>
          <a:p>
            <a:pPr marL="457200" indent="-298440">
              <a:lnSpc>
                <a:spcPct val="115000"/>
              </a:lnSpc>
              <a:spcBef>
                <a:spcPts val="116"/>
              </a:spcBef>
              <a:spcAft>
                <a:spcPts val="317"/>
              </a:spcAft>
              <a:tabLst>
                <a:tab algn="l" pos="0"/>
              </a:tabLst>
            </a:pPr>
            <a:r>
              <a:rPr b="0" lang="en-US" sz="1000" spc="-1" strike="noStrike">
                <a:solidFill>
                  <a:srgbClr val="555555"/>
                </a:solidFill>
                <a:latin typeface="Arial"/>
                <a:ea typeface="Arial"/>
              </a:rPr>
              <a:t>	</a:t>
            </a:r>
            <a:r>
              <a:rPr b="0" lang="en-US" sz="1000" spc="-1" strike="noStrike" u="sng">
                <a:solidFill>
                  <a:srgbClr val="0097a7"/>
                </a:solidFill>
                <a:uFillTx/>
                <a:latin typeface="Arial"/>
                <a:ea typeface="Arial"/>
                <a:hlinkClick r:id="rId4"/>
              </a:rPr>
              <a:t>https://deepedge.greyin.net</a:t>
            </a:r>
            <a:r>
              <a:rPr b="0" lang="en-US" sz="1000" spc="-1" strike="noStrike">
                <a:solidFill>
                  <a:srgbClr val="555555"/>
                </a:solidFill>
                <a:latin typeface="Arial"/>
                <a:ea typeface="Arial"/>
              </a:rPr>
              <a:t> | </a:t>
            </a:r>
            <a:r>
              <a:rPr b="0" lang="en-US" sz="1000" spc="-1" strike="noStrike" u="sng">
                <a:solidFill>
                  <a:srgbClr val="0097a7"/>
                </a:solidFill>
                <a:uFillTx/>
                <a:latin typeface="Arial"/>
                <a:ea typeface="Arial"/>
                <a:hlinkClick r:id="rId5"/>
              </a:rPr>
              <a:t>https://flexpro.greyin.net</a:t>
            </a:r>
            <a:r>
              <a:rPr b="0" lang="en-US" sz="1000" spc="-1" strike="noStrike">
                <a:solidFill>
                  <a:srgbClr val="555555"/>
                </a:solidFill>
                <a:latin typeface="Arial"/>
                <a:ea typeface="Arial"/>
              </a:rPr>
              <a:t> | </a:t>
            </a:r>
            <a:r>
              <a:rPr b="0" lang="en-US" sz="1000" spc="-1" strike="noStrike" u="sng">
                <a:solidFill>
                  <a:srgbClr val="0097a7"/>
                </a:solidFill>
                <a:uFillTx/>
                <a:latin typeface="Arial"/>
                <a:ea typeface="Arial"/>
                <a:hlinkClick r:id="rId6"/>
              </a:rPr>
              <a:t>https://longlist.greyin.net</a:t>
            </a:r>
            <a:endParaRPr b="0" lang="en-US" sz="1000" spc="-1" strike="noStrike">
              <a:solidFill>
                <a:srgbClr val="000000"/>
              </a:solidFill>
              <a:latin typeface="Arial"/>
            </a:endParaRPr>
          </a:p>
          <a:p>
            <a:pPr marL="457200" indent="-298440">
              <a:lnSpc>
                <a:spcPct val="115000"/>
              </a:lnSpc>
              <a:spcBef>
                <a:spcPts val="116"/>
              </a:spcBef>
              <a:spcAft>
                <a:spcPts val="317"/>
              </a:spcAft>
              <a:tabLst>
                <a:tab algn="l" pos="0"/>
              </a:tabLst>
            </a:pPr>
            <a:r>
              <a:rPr b="0" lang="en-US" sz="1000" spc="-1" strike="noStrike">
                <a:solidFill>
                  <a:srgbClr val="555555"/>
                </a:solidFill>
                <a:latin typeface="Arial"/>
                <a:ea typeface="Arial"/>
              </a:rPr>
              <a:t>	</a:t>
            </a:r>
            <a:r>
              <a:rPr b="0" lang="en-US" sz="1000" spc="-1" strike="noStrike" u="sng">
                <a:solidFill>
                  <a:srgbClr val="0097a7"/>
                </a:solidFill>
                <a:uFillTx/>
                <a:latin typeface="Arial"/>
                <a:ea typeface="Arial"/>
                <a:hlinkClick r:id="rId7"/>
              </a:rPr>
              <a:t>https://saltnpepper.greyin.net</a:t>
            </a:r>
            <a:r>
              <a:rPr b="0" lang="en-US" sz="1000" spc="-1" strike="noStrike">
                <a:solidFill>
                  <a:srgbClr val="555555"/>
                </a:solidFill>
                <a:latin typeface="Arial"/>
                <a:ea typeface="Arial"/>
              </a:rPr>
              <a:t> | </a:t>
            </a:r>
            <a:r>
              <a:rPr b="0" lang="en-US" sz="1000" spc="-1" strike="noStrike" u="sng">
                <a:solidFill>
                  <a:srgbClr val="0097a7"/>
                </a:solidFill>
                <a:uFillTx/>
                <a:latin typeface="Arial"/>
                <a:ea typeface="Arial"/>
                <a:hlinkClick r:id="rId8"/>
              </a:rPr>
              <a:t>https://stackworks.greyin.net</a:t>
            </a:r>
            <a:r>
              <a:rPr b="0" lang="en-US" sz="1000" spc="-1" strike="noStrike">
                <a:solidFill>
                  <a:srgbClr val="555555"/>
                </a:solidFill>
                <a:latin typeface="Arial"/>
                <a:ea typeface="Arial"/>
              </a:rPr>
              <a:t> | </a:t>
            </a:r>
            <a:r>
              <a:rPr b="0" lang="en-US" sz="1000" spc="-1" strike="noStrike" u="sng">
                <a:solidFill>
                  <a:srgbClr val="0097a7"/>
                </a:solidFill>
                <a:uFillTx/>
                <a:latin typeface="Arial"/>
                <a:ea typeface="Arial"/>
                <a:hlinkClick r:id="rId9"/>
              </a:rPr>
              <a:t>https://greymatters.greyin.net</a:t>
            </a:r>
            <a:endParaRPr b="0" lang="en-US" sz="1000" spc="-1" strike="noStrike">
              <a:solidFill>
                <a:srgbClr val="000000"/>
              </a:solidFill>
              <a:latin typeface="Arial"/>
            </a:endParaRPr>
          </a:p>
          <a:p>
            <a:pPr marL="457200" indent="-298440">
              <a:lnSpc>
                <a:spcPct val="115000"/>
              </a:lnSpc>
              <a:spcAft>
                <a:spcPts val="632"/>
              </a:spcAft>
              <a:buClr>
                <a:srgbClr val="000000"/>
              </a:buClr>
              <a:buFont typeface="Arial"/>
              <a:buChar char="●"/>
              <a:tabLst>
                <a:tab algn="l" pos="0"/>
              </a:tabLst>
            </a:pPr>
            <a:r>
              <a:rPr b="0" lang="en-GB" sz="1100" spc="-1" strike="noStrike">
                <a:solidFill>
                  <a:schemeClr val="dk1"/>
                </a:solidFill>
                <a:latin typeface="Arial"/>
                <a:ea typeface="Arial"/>
              </a:rPr>
              <a:t>Contact Details</a:t>
            </a:r>
            <a:endParaRPr b="0" lang="en-US" sz="1100" spc="-1" strike="noStrike">
              <a:solidFill>
                <a:srgbClr val="000000"/>
              </a:solidFill>
              <a:latin typeface="Arial"/>
            </a:endParaRPr>
          </a:p>
          <a:p>
            <a:pPr marL="457200" indent="-298440">
              <a:lnSpc>
                <a:spcPct val="115000"/>
              </a:lnSpc>
              <a:spcAft>
                <a:spcPts val="34"/>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Anand Rajendran, Founder</a:t>
            </a:r>
            <a:endParaRPr b="0" lang="en-US" sz="1000" spc="-1" strike="noStrike">
              <a:solidFill>
                <a:srgbClr val="000000"/>
              </a:solidFill>
              <a:latin typeface="Arial"/>
            </a:endParaRPr>
          </a:p>
          <a:p>
            <a:pPr marL="457200" indent="-298440">
              <a:lnSpc>
                <a:spcPct val="115000"/>
              </a:lnSpc>
              <a:spcBef>
                <a:spcPts val="116"/>
              </a:spcBef>
              <a:spcAft>
                <a:spcPts val="317"/>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+91 98843 99915 | </a:t>
            </a:r>
            <a:r>
              <a:rPr b="0" lang="en-US" sz="1000" spc="-1" strike="noStrike" u="sng">
                <a:solidFill>
                  <a:srgbClr val="0097a7"/>
                </a:solidFill>
                <a:uFillTx/>
                <a:latin typeface="Arial"/>
                <a:ea typeface="Arial"/>
                <a:hlinkClick r:id="rId10"/>
              </a:rPr>
              <a:t>rajendran.anand@live.com</a:t>
            </a:r>
            <a:r>
              <a:rPr b="0" lang="en-US" sz="1000" spc="-1" strike="noStrike">
                <a:solidFill>
                  <a:srgbClr val="555555"/>
                </a:solidFill>
                <a:latin typeface="Arial"/>
                <a:ea typeface="Arial"/>
              </a:rPr>
              <a:t> | </a:t>
            </a:r>
            <a:r>
              <a:rPr b="0" lang="en-US" sz="1000" spc="-1" strike="noStrike" u="sng">
                <a:solidFill>
                  <a:srgbClr val="0097a7"/>
                </a:solidFill>
                <a:uFillTx/>
                <a:latin typeface="Arial"/>
                <a:ea typeface="Arial"/>
                <a:hlinkClick r:id="rId11"/>
              </a:rPr>
              <a:t>https://www.linkedin.com/in/anand4585</a:t>
            </a:r>
            <a:r>
              <a:rPr b="0" lang="en-US" sz="1000" spc="-1" strike="noStrike">
                <a:solidFill>
                  <a:srgbClr val="555555"/>
                </a:solidFill>
                <a:latin typeface="Arial"/>
                <a:ea typeface="Arial"/>
              </a:rPr>
              <a:t> | </a:t>
            </a:r>
            <a:r>
              <a:rPr b="0" lang="en-US" sz="1000" spc="-1" strike="noStrike" u="sng">
                <a:solidFill>
                  <a:srgbClr val="0097a7"/>
                </a:solidFill>
                <a:uFillTx/>
                <a:latin typeface="Arial"/>
                <a:ea typeface="Arial"/>
                <a:hlinkClick r:id="rId12"/>
              </a:rPr>
              <a:t>https://anandrajendran.dev</a:t>
            </a:r>
            <a:endParaRPr b="0" lang="en-US" sz="1000" spc="-1" strike="noStrike">
              <a:solidFill>
                <a:srgbClr val="000000"/>
              </a:solidFill>
              <a:latin typeface="Arial"/>
            </a:endParaRPr>
          </a:p>
        </p:txBody>
      </p:sp>
      <p:sp>
        <p:nvSpPr>
          <p:cNvPr id="67" name="Google Shape;138;p25"/>
          <p:cNvSpPr/>
          <p:nvPr/>
        </p:nvSpPr>
        <p:spPr>
          <a:xfrm>
            <a:off x="304200" y="699840"/>
            <a:ext cx="5152680" cy="506160"/>
          </a:xfrm>
          <a:prstGeom prst="rect">
            <a:avLst/>
          </a:prstGeom>
          <a:noFill/>
          <a:ln w="0">
            <a:noFill/>
          </a:ln>
        </p:spPr>
        <p:style>
          <a:lnRef idx="0"/>
          <a:fillRef idx="0"/>
          <a:effectRef idx="0"/>
          <a:fontRef idx="minor"/>
        </p:style>
        <p:txBody>
          <a:bodyPr lIns="90000" rIns="90000" tIns="91440" bIns="91440" anchor="t">
            <a:noAutofit/>
          </a:bodyPr>
          <a:p>
            <a:pPr>
              <a:lnSpc>
                <a:spcPct val="115000"/>
              </a:lnSpc>
              <a:spcBef>
                <a:spcPts val="2401"/>
              </a:spcBef>
              <a:spcAft>
                <a:spcPts val="601"/>
              </a:spcAft>
              <a:tabLst>
                <a:tab algn="l" pos="0"/>
              </a:tabLst>
            </a:pPr>
            <a:r>
              <a:rPr b="1" lang="en-GB" sz="2300" spc="-1" strike="noStrike">
                <a:solidFill>
                  <a:schemeClr val="dk1"/>
                </a:solidFill>
                <a:latin typeface="Arial"/>
                <a:ea typeface="Arial"/>
              </a:rPr>
              <a:t>Supporting Material</a:t>
            </a:r>
            <a:endParaRPr b="0" lang="en-US" sz="2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8" name="Google Shape;143;p26" descr=""/>
          <p:cNvPicPr/>
          <p:nvPr/>
        </p:nvPicPr>
        <p:blipFill>
          <a:blip r:embed="rId1"/>
          <a:stretch/>
        </p:blipFill>
        <p:spPr>
          <a:xfrm>
            <a:off x="0" y="0"/>
            <a:ext cx="9142920" cy="514260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784</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2026-09-03T12:12:24Z</dcterms:modified>
  <cp:revision>32</cp:revision>
  <dc:subject/>
  <dc:title/>
</cp:coreProperties>
</file>

<file path=docProps/custom.xml><?xml version="1.0" encoding="utf-8"?>
<Properties xmlns="http://schemas.openxmlformats.org/officeDocument/2006/custom-properties" xmlns:vt="http://schemas.openxmlformats.org/officeDocument/2006/docPropsVTypes"/>
</file>