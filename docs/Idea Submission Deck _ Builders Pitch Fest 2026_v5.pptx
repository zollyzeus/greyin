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Manrope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font" Target="fonts/Manrope-regular.fntdata"/><Relationship Id="rId21" Type="http://schemas.openxmlformats.org/officeDocument/2006/relationships/font" Target="fonts/Manrope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6634a190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f6634a190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6634a1906_1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6634a1906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6634a1906_1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f6634a1906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6634a1906_1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f6634a1906_1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6634a1906_1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f6634a1906_1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6634a1906_1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f6634a1906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6634a1906_1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f6634a1906_1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6634a1906_1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6634a1906_1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6634a1906_1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f6634a1906_1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6634a1906_1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f6634a1906_1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6634a1906_1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f6634a1906_1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6634a1906_1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f6634a1906_1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6634a190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f6634a190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Frame 16188756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TextBox 54"/>
          <p:cNvSpPr txBox="1"/>
          <p:nvPr/>
        </p:nvSpPr>
        <p:spPr>
          <a:xfrm>
            <a:off x="700000" y="3300000"/>
            <a:ext cx="7700000" cy="1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2A44"/>
                </a:solidFill>
                <a:latin typeface="Arial"/>
              </a:rPr>
              <a:t>Greyin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EC6B3D"/>
                </a:solidFill>
                <a:latin typeface="Arial"/>
              </a:rPr>
              <a:t>The AI-native trust and verification layer for hiring experienced talent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555555"/>
                </a:solidFill>
                <a:latin typeface="Arial"/>
              </a:rPr>
              <a:t>6 pillars. 3 revenue lines. One shared Hub identity. greyin.net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This submission deck is designed to help you present your startup in a structured and consistent manner. It enables reviewers to evaluate your solution across product, technology, AI innovation, business viability, customer validation, and enterprise readiness.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Strong submissions will demonstrate:</a:t>
            </a:r>
            <a:endParaRPr b="1"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A clearly validated customer problem and market opportunity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Meaningful and responsible application of AI to solve the problem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Technical depth through a scalable and well-designed architecture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Product maturity supported by customer validation and measurable traction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A sustainable business model with a clear go-to-market strategy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A compelling vision for growth through the BITSoM Vertex incubation programme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Guidelines</a:t>
            </a:r>
            <a:br>
              <a:rPr b="1"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</a:br>
            <a:endParaRPr b="1"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This is not a traditional fundraising pitch deck.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Focus on demonstrating the reasoning behind your decisions rather than making marketing claims.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Wherever applicable, support your responses with evidence, metrics, customer insights, product screenshots, architecture diagrams, user journeys, and other relevant visuals.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Not every question may be applicable to every startup. Answer the questions that are most relevant to your solution and provide sufficient context to help reviewers understand your approach.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</a:rPr>
              <a:t>IMPORTANT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problem are you trying to solve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Senior, experienced professionals (12+ years) are filtered out by keyword-matching ATS software and made redundant by restructuring -- not because they stopped being good at the work, but because nothing proves it at scale. Greyin is a single-identity ecosystem of 7 connected platforms where an AI-driven verification and matching layer turns real work -- a completed project, a real review, a real deliverable -- into a portable, audited trust score employers can actually search against.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inspired you to work on this problem?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The gap became obvious building each pillar as its own product first: a hiring platform where “verified” meant nothing beyond a resume upload, a freelance marketplace with no real proof of delivery. Manual review doesn't scale past a handful of profiles -- AI is what makes verifying thousands of real interactions, and matching against them accurately, actually possible.</a:t>
            </a:r>
          </a:p>
        </p:txBody>
      </p:sp>
      <p:sp>
        <p:nvSpPr>
          <p:cNvPr id="68" name="Google Shape;68;p15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</a:rPr>
              <a:t>Startup Snapshot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6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6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problem are you solving, and who experiences it most acutely?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Professionals with 12-30+ years of experience feel it most acutely: overqualified for junior ATS filters, with no structured way to prove a real track record short of a reference call. Employers feel the inverse -- unable to tell a genuinely Verified Expert from a well-formatted resume until well into an expensive interview process, and with no visibility into who's a fit for a role that doesn't exist yet.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research, observations, or evidence validate this opportunity?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Built directly from this platform's own construction: every pillar that launched with a self-reported trust signal (an unverified “connection,” a self-picked seniority flag) had to be re-audited and re-gated to a real, AI-and-human-verified interaction once real usage began. That re-audit is the direct evidence: unverified social proof is the default failure mode of every adjacent product, and only a verification layer with AI doing the heavy lifting can close it at any real scale.</a:t>
            </a:r>
          </a:p>
        </p:txBody>
      </p:sp>
      <p:sp>
        <p:nvSpPr>
          <p:cNvPr id="75" name="Google Shape;75;p16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300">
                <a:solidFill>
                  <a:schemeClr val="dk1"/>
                </a:solidFill>
              </a:rPr>
              <a:t>Problem Understanding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Who is your ideal customer, and who would make the buying decision?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The paying customer is the corporate employer: a hiring manager, talent-acquisition lead, or Head of Talent at a company that regularly hires senior/fractional talent and is tired of paying recruiter fees or burning interview cycles on unverifiable resumes. Individual professionals (12+ years -- senior ICs, directors, fractional executives) are the free, identity-led supply side; the enterprise buyer is who Greyin is built to monetize, budget-line by budget-line: recruiting spend, workforce-planning spend, and L&amp;D/mentorship spend.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How large is the opportunity if your assumptions prove correct?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India alone has tens of millions of professionals past the 12-year mark and a multi-billion-dollar enterprise recruiting spend category already. Three separate employer budget lines are addressable: recruiting spend redirected from traditional job boards and recruiter fees toward a Verified Expert search subscription; workforce-planning spend for Longlist's anticipatory pipeline, a category with no real incumbent today; and freelance/advisory spend redirected from 20%+-commission marketplaces toward FreeAgent's 0%-commission model.</a:t>
            </a:r>
          </a:p>
        </p:txBody>
      </p:sp>
      <p:sp>
        <p:nvSpPr>
          <p:cNvPr id="82" name="Google Shape;82;p17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-GB" sz="2300">
                <a:solidFill>
                  <a:schemeClr val="dk1"/>
                </a:solidFill>
              </a:rPr>
              <a:t>Customer &amp; Opportunity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8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8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is your proposed solution, and how does it address the identified problem?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Greyin has 6 pillars, not 7 equal platforms -- Greyin Hub is the shared identity layer, not a pillar itself. Of the 6, 3 revenue lines generate income directly from the corporate employer (one, Longlist, is itself a pillar; two live inside existing pillars). The other pillars generate the quality profiles and verified interactions that feed the Greyin Score -- the actual signal being sold. See the breakdown below.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are the key capabilities you envision?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A single AI-verified identity across all 6 pillars via Greyin Hub; an AI-and-human-verified interaction gate on every social-proof signal; a Bayesian-shrunk Greyin Score counting only real work; and AI matching that turns pillar activity directly into revenue-line accuracy.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measurable value do you expect the solution to deliver?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Three distinct paid budget lines for employers; one compounding score for individuals; a free Supporting tier whose real output -- score integrity -- is what the Primary tier actually monetizes.</a:t>
            </a:r>
          </a:p>
        </p:txBody>
      </p:sp>
      <p:sp>
        <p:nvSpPr>
          <p:cNvPr id="89" name="Google Shape;89;p18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-GB" sz="2300">
                <a:solidFill>
                  <a:schemeClr val="dk1"/>
                </a:solidFill>
              </a:rPr>
              <a:t>Proposed Solution</a:t>
            </a:r>
            <a:endParaRPr b="1" sz="1800">
              <a:solidFill>
                <a:schemeClr val="dk1"/>
              </a:solidFill>
            </a:endParaRPr>
          </a:p>
        </p:txBody>
      </p:sp>
      <p:graphicFrame>
        <p:nvGraphicFramePr>
          <p:cNvPr id="90" name="Table 89"/>
          <p:cNvGraphicFramePr>
            <a:graphicFrameLocks noGrp="1"/>
          </p:cNvGraphicFramePr>
          <p:nvPr/>
        </p:nvGraphicFramePr>
        <p:xfrm>
          <a:off x="313450" y="3720000"/>
          <a:ext cx="8620550" cy="102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0000"/>
                <a:gridCol w="1950000"/>
                <a:gridCol w="1620550"/>
                <a:gridCol w="3900000"/>
              </a:tblGrid>
              <a:tr h="9500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Category</a:t>
                      </a:r>
                    </a:p>
                  </a:txBody>
                  <a:tcPr marL="45720" marR="45720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Name</a:t>
                      </a:r>
                    </a:p>
                  </a:txBody>
                  <a:tcPr marL="45720" marR="45720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Hosted In</a:t>
                      </a:r>
                    </a:p>
                  </a:txBody>
                  <a:tcPr marL="45720" marR="45720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Role</a:t>
                      </a:r>
                    </a:p>
                  </a:txBody>
                  <a:tcPr marL="45720" marR="45720" marT="18288" marB="18288" anchor="ctr">
                    <a:solidFill>
                      <a:srgbClr val="1F2A44"/>
                    </a:solidFill>
                  </a:tcPr>
                </a:tc>
              </a:tr>
              <a:tr h="133000">
                <a:tc>
                  <a:txBody>
                    <a:bodyPr/>
                    <a:lstStyle/>
                    <a:p>
                      <a:pPr algn="l"/>
                      <a:r>
                        <a:rPr sz="630" b="1">
                          <a:solidFill>
                            <a:srgbClr val="EC6B3D"/>
                          </a:solidFill>
                          <a:latin typeface="Arial"/>
                        </a:rPr>
                        <a:t>Revenue line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Outplacement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Arial"/>
                        </a:rPr>
                        <a:t>ExpertEdge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Arial"/>
                        </a:rPr>
                        <a:t>Enterprise pays per-headcount -- departing employees routed into the Verified Expert ecosystem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</a:tr>
              <a:tr h="133000">
                <a:tc>
                  <a:txBody>
                    <a:bodyPr/>
                    <a:lstStyle/>
                    <a:p>
                      <a:pPr algn="l"/>
                      <a:r>
                        <a:rPr sz="630" b="1">
                          <a:solidFill>
                            <a:srgbClr val="EC6B3D"/>
                          </a:solidFill>
                          <a:latin typeface="Arial"/>
                        </a:rPr>
                        <a:t>Revenue line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Coaching (Mentorship)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Arial"/>
                        </a:rPr>
                        <a:t>FreeAgent, surfaced platform-wide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Arial"/>
                        </a:rPr>
                        <a:t>Verified Experts monetize expertise directly -- sessions, cohorts, packages; platform take-rate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</a:tr>
              <a:tr h="133000">
                <a:tc>
                  <a:txBody>
                    <a:bodyPr/>
                    <a:lstStyle/>
                    <a:p>
                      <a:pPr algn="l"/>
                      <a:r>
                        <a:rPr sz="630" b="1">
                          <a:solidFill>
                            <a:srgbClr val="EC6B3D"/>
                          </a:solidFill>
                          <a:latin typeface="Arial"/>
                        </a:rPr>
                        <a:t>Pillar -- Primary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Longlist (Future Hiring Pipeline)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Arial"/>
                        </a:rPr>
                        <a:t>own app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Arial"/>
                        </a:rPr>
                        <a:t>Enterprise pays for AI-matched, anticipatory access 3-12 months before a role opens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</a:tr>
              <a:tr h="133000">
                <a:tc>
                  <a:txBody>
                    <a:bodyPr/>
                    <a:lstStyle/>
                    <a:p>
                      <a:pPr algn="l"/>
                      <a:r>
                        <a:rPr sz="630" b="1">
                          <a:solidFill>
                            <a:srgbClr val="555555"/>
                          </a:solidFill>
                          <a:latin typeface="Arial"/>
                        </a:rPr>
                        <a:t>Pillar -- Supporting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ExpertEdge (core hiring)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Arial"/>
                        </a:rPr>
                        <a:t>own app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Arial"/>
                        </a:rPr>
                        <a:t>Verified job board + candidate database -- every real hire strengthens the Score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</a:tr>
              <a:tr h="133000">
                <a:tc>
                  <a:txBody>
                    <a:bodyPr/>
                    <a:lstStyle/>
                    <a:p>
                      <a:pPr algn="l"/>
                      <a:r>
                        <a:rPr sz="630" b="1">
                          <a:solidFill>
                            <a:srgbClr val="555555"/>
                          </a:solidFill>
                          <a:latin typeface="Arial"/>
                        </a:rPr>
                        <a:t>Pillar -- Supporting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FreeAgent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Arial"/>
                        </a:rPr>
                        <a:t>own app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Arial"/>
                        </a:rPr>
                        <a:t>0%-commission gig delivery -- feeds verified-outcome reviews into the Score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</a:tr>
              <a:tr h="133000">
                <a:tc>
                  <a:txBody>
                    <a:bodyPr/>
                    <a:lstStyle/>
                    <a:p>
                      <a:pPr algn="l"/>
                      <a:r>
                        <a:rPr sz="630" b="1">
                          <a:solidFill>
                            <a:srgbClr val="555555"/>
                          </a:solidFill>
                          <a:latin typeface="Arial"/>
                        </a:rPr>
                        <a:t>Pillar -- Supporting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StackEdge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Arial"/>
                        </a:rPr>
                        <a:t>own app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Arial"/>
                        </a:rPr>
                        <a:t>Real project delivery, AI+human verified -- the single strongest Score input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</a:tr>
              <a:tr h="133000">
                <a:tc>
                  <a:txBody>
                    <a:bodyPr/>
                    <a:lstStyle/>
                    <a:p>
                      <a:pPr algn="l"/>
                      <a:r>
                        <a:rPr sz="630" b="1">
                          <a:solidFill>
                            <a:srgbClr val="555555"/>
                          </a:solidFill>
                          <a:latin typeface="Arial"/>
                        </a:rPr>
                        <a:t>Pillar -- Supporting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Salt &amp; Pepper + GreyMatters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Arial"/>
                        </a:rPr>
                        <a:t>own apps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Arial"/>
                        </a:rPr>
                        <a:t>Community engagement + published expertise -- reputation signal, organic reach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9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9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role will AI play in your proposed solution, and why is it essential?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The mechanism that makes “verified” scale past manual review -- what employers actually pay for. Five AI systems live in production today, plus four on the near-term roadmap (marked below):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technologies, AI models, or frameworks do you plan to use, and why?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A pluggable, admin-configurable LLM registry (Anthropic, OpenAI, self-hosted Ollama fallback) behind every feature below -- never locked to one vendor, degrades gracefully instead of breaking a paying customer's workflow.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makes you feel your product is a genuine AI product, and not an AI wrapper?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Every call changes what data exists afterward, feeding the next match -- not a chat layer wrapped around someone else's directory. Each verified interaction compounds into every future match's accuracy: a real data network effect.</a:t>
            </a:r>
          </a:p>
        </p:txBody>
      </p:sp>
      <p:sp>
        <p:nvSpPr>
          <p:cNvPr id="96" name="Google Shape;96;p19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-GB" sz="2300">
                <a:solidFill>
                  <a:schemeClr val="dk1"/>
                </a:solidFill>
              </a:rPr>
              <a:t>Technology &amp; AI Approach</a:t>
            </a:r>
            <a:endParaRPr b="1" sz="1800">
              <a:solidFill>
                <a:schemeClr val="dk1"/>
              </a:solidFill>
            </a:endParaRPr>
          </a:p>
        </p:txBody>
      </p:sp>
      <p:graphicFrame>
        <p:nvGraphicFramePr>
          <p:cNvPr id="97" name="Table 96"/>
          <p:cNvGraphicFramePr>
            <a:graphicFrameLocks noGrp="1"/>
          </p:cNvGraphicFramePr>
          <p:nvPr/>
        </p:nvGraphicFramePr>
        <p:xfrm>
          <a:off x="313450" y="3480000"/>
          <a:ext cx="8517100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0000"/>
                <a:gridCol w="4467100"/>
                <a:gridCol w="1700000"/>
              </a:tblGrid>
              <a:tr h="9000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AI Capability</a:t>
                      </a:r>
                    </a:p>
                  </a:txBody>
                  <a:tcPr marL="45720" marR="45720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What It Does</a:t>
                      </a:r>
                    </a:p>
                  </a:txBody>
                  <a:tcPr marL="45720" marR="45720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45720" marR="45720" marT="18288" marB="18288" anchor="ctr">
                    <a:solidFill>
                      <a:srgbClr val="1F2A44"/>
                    </a:solidFill>
                  </a:tcPr>
                </a:tc>
              </a:tr>
              <a:tr h="120000">
                <a:tc>
                  <a:txBody>
                    <a:bodyPr/>
                    <a:lstStyle/>
                    <a:p>
                      <a:pPr algn="l"/>
                      <a:r>
                        <a:rPr sz="640" b="1">
                          <a:solidFill>
                            <a:srgbClr val="1F2A44"/>
                          </a:solidFill>
                          <a:latin typeface="Arial"/>
                        </a:rPr>
                        <a:t>AI-Verified Search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40" b="0">
                          <a:solidFill>
                            <a:srgbClr val="333333"/>
                          </a:solidFill>
                          <a:latin typeface="Arial"/>
                        </a:rPr>
                        <a:t>NL query → structured, ranked candidate filters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1">
                          <a:solidFill>
                            <a:srgbClr val="EC6B3D"/>
                          </a:solidFill>
                          <a:latin typeface="Arial"/>
                        </a:rPr>
                        <a:t>LIVE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</a:tr>
              <a:tr h="120000">
                <a:tc>
                  <a:txBody>
                    <a:bodyPr/>
                    <a:lstStyle/>
                    <a:p>
                      <a:pPr algn="l"/>
                      <a:r>
                        <a:rPr sz="640" b="1">
                          <a:solidFill>
                            <a:srgbClr val="1F2A44"/>
                          </a:solidFill>
                          <a:latin typeface="Arial"/>
                        </a:rPr>
                        <a:t>Verified-Outcome Scoring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40" b="0">
                          <a:solidFill>
                            <a:srgbClr val="333333"/>
                          </a:solidFill>
                          <a:latin typeface="Arial"/>
                        </a:rPr>
                        <a:t>AI+human review of real StackEdge deliverables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1">
                          <a:solidFill>
                            <a:srgbClr val="EC6B3D"/>
                          </a:solidFill>
                          <a:latin typeface="Arial"/>
                        </a:rPr>
                        <a:t>LIVE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</a:tr>
              <a:tr h="120000">
                <a:tc>
                  <a:txBody>
                    <a:bodyPr/>
                    <a:lstStyle/>
                    <a:p>
                      <a:pPr algn="l"/>
                      <a:r>
                        <a:rPr sz="640" b="1">
                          <a:solidFill>
                            <a:srgbClr val="1F2A44"/>
                          </a:solidFill>
                          <a:latin typeface="Arial"/>
                        </a:rPr>
                        <a:t>Longlist AI Matching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40" b="0">
                          <a:solidFill>
                            <a:srgbClr val="333333"/>
                          </a:solidFill>
                          <a:latin typeface="Arial"/>
                        </a:rPr>
                        <a:t>Surfaces future-role fits, no application needed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1">
                          <a:solidFill>
                            <a:srgbClr val="EC6B3D"/>
                          </a:solidFill>
                          <a:latin typeface="Arial"/>
                        </a:rPr>
                        <a:t>LIVE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</a:tr>
              <a:tr h="120000">
                <a:tc>
                  <a:txBody>
                    <a:bodyPr/>
                    <a:lstStyle/>
                    <a:p>
                      <a:pPr algn="l"/>
                      <a:r>
                        <a:rPr sz="640" b="1">
                          <a:solidFill>
                            <a:srgbClr val="1F2A44"/>
                          </a:solidFill>
                          <a:latin typeface="Arial"/>
                        </a:rPr>
                        <a:t>Quality &amp; Moderation Gates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40" b="0">
                          <a:solidFill>
                            <a:srgbClr val="333333"/>
                          </a:solidFill>
                          <a:latin typeface="Arial"/>
                        </a:rPr>
                        <a:t>Pre-publish content scoring, 3 pillars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1">
                          <a:solidFill>
                            <a:srgbClr val="EC6B3D"/>
                          </a:solidFill>
                          <a:latin typeface="Arial"/>
                        </a:rPr>
                        <a:t>LIVE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</a:tr>
              <a:tr h="120000">
                <a:tc>
                  <a:txBody>
                    <a:bodyPr/>
                    <a:lstStyle/>
                    <a:p>
                      <a:pPr algn="l"/>
                      <a:r>
                        <a:rPr sz="640" b="1">
                          <a:solidFill>
                            <a:srgbClr val="1F2A44"/>
                          </a:solidFill>
                          <a:latin typeface="Arial"/>
                        </a:rPr>
                        <a:t>Multi-Provider Core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40" b="0">
                          <a:solidFill>
                            <a:srgbClr val="333333"/>
                          </a:solidFill>
                          <a:latin typeface="Arial"/>
                        </a:rPr>
                        <a:t>Anthropic / OpenAI / Ollama, no vendor lock-in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1">
                          <a:solidFill>
                            <a:srgbClr val="EC6B3D"/>
                          </a:solidFill>
                          <a:latin typeface="Arial"/>
                        </a:rPr>
                        <a:t>LIVE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</a:tr>
              <a:tr h="120000">
                <a:tc>
                  <a:txBody>
                    <a:bodyPr/>
                    <a:lstStyle/>
                    <a:p>
                      <a:pPr algn="l"/>
                      <a:r>
                        <a:rPr sz="640" b="1">
                          <a:solidFill>
                            <a:srgbClr val="1F2A44"/>
                          </a:solidFill>
                          <a:latin typeface="Arial"/>
                        </a:rPr>
                        <a:t>Explainable Match Rationale</a:t>
                      </a:r>
                    </a:p>
                  </a:txBody>
                  <a:tcPr marL="45720" marR="45720" marT="18288" marB="18288" anchor="ctr"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40" b="0">
                          <a:solidFill>
                            <a:srgbClr val="333333"/>
                          </a:solidFill>
                          <a:latin typeface="Arial"/>
                        </a:rPr>
                        <a:t>Plain-language “why this match” per result</a:t>
                      </a:r>
                    </a:p>
                  </a:txBody>
                  <a:tcPr marL="45720" marR="45720" marT="18288" marB="18288" anchor="ctr"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1">
                          <a:solidFill>
                            <a:srgbClr val="4A6B8A"/>
                          </a:solidFill>
                          <a:latin typeface="Arial"/>
                        </a:rPr>
                        <a:t>ROADMAP</a:t>
                      </a:r>
                    </a:p>
                  </a:txBody>
                  <a:tcPr marL="45720" marR="45720" marT="18288" marB="18288" anchor="ctr">
                    <a:solidFill>
                      <a:srgbClr val="EAEEF3"/>
                    </a:solidFill>
                  </a:tcPr>
                </a:tc>
              </a:tr>
              <a:tr h="120000">
                <a:tc>
                  <a:txBody>
                    <a:bodyPr/>
                    <a:lstStyle/>
                    <a:p>
                      <a:pPr algn="l"/>
                      <a:r>
                        <a:rPr sz="640" b="1">
                          <a:solidFill>
                            <a:srgbClr val="1F2A44"/>
                          </a:solidFill>
                          <a:latin typeface="Arial"/>
                        </a:rPr>
                        <a:t>Bias / Fairness Auditing</a:t>
                      </a:r>
                    </a:p>
                  </a:txBody>
                  <a:tcPr marL="45720" marR="45720" marT="18288" marB="18288" anchor="ctr"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40" b="0">
                          <a:solidFill>
                            <a:srgbClr val="333333"/>
                          </a:solidFill>
                          <a:latin typeface="Arial"/>
                        </a:rPr>
                        <a:t>Active skew monitoring on AI match output</a:t>
                      </a:r>
                    </a:p>
                  </a:txBody>
                  <a:tcPr marL="45720" marR="45720" marT="18288" marB="18288" anchor="ctr"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1">
                          <a:solidFill>
                            <a:srgbClr val="4A6B8A"/>
                          </a:solidFill>
                          <a:latin typeface="Arial"/>
                        </a:rPr>
                        <a:t>ROADMAP</a:t>
                      </a:r>
                    </a:p>
                  </a:txBody>
                  <a:tcPr marL="45720" marR="45720" marT="18288" marB="18288" anchor="ctr">
                    <a:solidFill>
                      <a:srgbClr val="EAEEF3"/>
                    </a:solidFill>
                  </a:tcPr>
                </a:tc>
              </a:tr>
              <a:tr h="120000">
                <a:tc>
                  <a:txBody>
                    <a:bodyPr/>
                    <a:lstStyle/>
                    <a:p>
                      <a:pPr algn="l"/>
                      <a:r>
                        <a:rPr sz="640" b="1">
                          <a:solidFill>
                            <a:srgbClr val="1F2A44"/>
                          </a:solidFill>
                          <a:latin typeface="Arial"/>
                        </a:rPr>
                        <a:t>AI Mentor Matching</a:t>
                      </a:r>
                    </a:p>
                  </a:txBody>
                  <a:tcPr marL="45720" marR="45720" marT="18288" marB="18288" anchor="ctr"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40" b="0">
                          <a:solidFill>
                            <a:srgbClr val="333333"/>
                          </a:solidFill>
                          <a:latin typeface="Arial"/>
                        </a:rPr>
                        <a:t>Best-fit coach suggestions -- Score + goals</a:t>
                      </a:r>
                    </a:p>
                  </a:txBody>
                  <a:tcPr marL="45720" marR="45720" marT="18288" marB="18288" anchor="ctr"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1">
                          <a:solidFill>
                            <a:srgbClr val="4A6B8A"/>
                          </a:solidFill>
                          <a:latin typeface="Arial"/>
                        </a:rPr>
                        <a:t>ROADMAP</a:t>
                      </a:r>
                    </a:p>
                  </a:txBody>
                  <a:tcPr marL="45720" marR="45720" marT="18288" marB="18288" anchor="ctr">
                    <a:solidFill>
                      <a:srgbClr val="EAEEF3"/>
                    </a:solidFill>
                  </a:tcPr>
                </a:tc>
              </a:tr>
              <a:tr h="120000">
                <a:tc>
                  <a:txBody>
                    <a:bodyPr/>
                    <a:lstStyle/>
                    <a:p>
                      <a:pPr algn="l"/>
                      <a:r>
                        <a:rPr sz="640" b="1">
                          <a:solidFill>
                            <a:srgbClr val="1F2A44"/>
                          </a:solidFill>
                          <a:latin typeface="Arial"/>
                        </a:rPr>
                        <a:t>AI Reference Synthesis</a:t>
                      </a:r>
                    </a:p>
                  </a:txBody>
                  <a:tcPr marL="45720" marR="45720" marT="18288" marB="18288" anchor="ctr"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40" b="0">
                          <a:solidFill>
                            <a:srgbClr val="333333"/>
                          </a:solidFill>
                          <a:latin typeface="Arial"/>
                        </a:rPr>
                        <a:t>Multi-response consistency reports for employers</a:t>
                      </a:r>
                    </a:p>
                  </a:txBody>
                  <a:tcPr marL="45720" marR="45720" marT="18288" marB="18288" anchor="ctr"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1">
                          <a:solidFill>
                            <a:srgbClr val="4A6B8A"/>
                          </a:solidFill>
                          <a:latin typeface="Arial"/>
                        </a:rPr>
                        <a:t>ROADMAP</a:t>
                      </a:r>
                    </a:p>
                  </a:txBody>
                  <a:tcPr marL="45720" marR="45720" marT="18288" marB="18288" anchor="ctr">
                    <a:solidFill>
                      <a:srgbClr val="EAEE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0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0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alternatives currently exist?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LinkedIn and Naukri/Indeed for hiring; Upwork and Toptal for freelance work; Blind and niche communities for peer discussion; ADPList and informal referral networks for mentorship. Each solves one slice in isolation, and every one of them treats “trust” as a self-reported field an AI can't meaningfully verify because there's no real interaction underneath it to check.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Why do you believe your approach is better suited to solving this problem?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Three things a generic AI wrapper can't touch, and the test that separates an AI-powered product from a social network with an AI feature bolted on: remove the AI, and does the product still work? (1) Compounding data: the graph underneath our AI is real and gated against self-report -- a competitor can copy a search UI in a quarter, not manufacture years of verified interaction history. (2) A new category: Longlist matches people against roles that don't exist publicly yet -- delete the AI and this pillar is not degraded, it's impossible; there is no manual version of anticipatory matching at scale. (3) Trustable output: every signal feeding the AI requires a real interaction gate, unlike endorsements an AI can rank but never verify -- fewer bad hires from AI-assisted screening, a compliance argument for the enterprise buyer, not a UX one. See the test applied below.</a:t>
            </a:r>
          </a:p>
        </p:txBody>
      </p:sp>
      <p:sp>
        <p:nvSpPr>
          <p:cNvPr id="103" name="Google Shape;103;p20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-GB" sz="2300">
                <a:solidFill>
                  <a:schemeClr val="dk1"/>
                </a:solidFill>
              </a:rPr>
              <a:t>Competitive Landscape</a:t>
            </a:r>
            <a:endParaRPr b="1" sz="1800">
              <a:solidFill>
                <a:schemeClr val="dk1"/>
              </a:solidFill>
            </a:endParaRPr>
          </a:p>
        </p:txBody>
      </p:sp>
      <p:graphicFrame>
        <p:nvGraphicFramePr>
          <p:cNvPr id="104" name="Table 103"/>
          <p:cNvGraphicFramePr>
            <a:graphicFrameLocks noGrp="1"/>
          </p:cNvGraphicFramePr>
          <p:nvPr/>
        </p:nvGraphicFramePr>
        <p:xfrm>
          <a:off x="313450" y="4020000"/>
          <a:ext cx="8517100" cy="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0000"/>
                <a:gridCol w="3400000"/>
                <a:gridCol w="3667100"/>
              </a:tblGrid>
              <a:tr h="100000"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Typical Social Network</a:t>
                      </a:r>
                    </a:p>
                  </a:txBody>
                  <a:tcPr marL="45720" marR="45720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Greyin</a:t>
                      </a:r>
                    </a:p>
                  </a:txBody>
                  <a:tcPr marL="45720" marR="45720" marT="18288" marB="18288" anchor="ctr">
                    <a:solidFill>
                      <a:srgbClr val="1F2A44"/>
                    </a:solidFill>
                  </a:tcPr>
                </a:tc>
              </a:tr>
              <a:tr h="175000">
                <a:tc>
                  <a:txBody>
                    <a:bodyPr/>
                    <a:lstStyle/>
                    <a:p>
                      <a:pPr algn="l"/>
                      <a:r>
                        <a:rPr sz="660" b="1">
                          <a:solidFill>
                            <a:srgbClr val="555555"/>
                          </a:solidFill>
                          <a:latin typeface="Arial"/>
                        </a:rPr>
                        <a:t>Core loop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555555"/>
                          </a:solidFill>
                          <a:latin typeface="Arial"/>
                        </a:rPr>
                        <a:t>Connections, attention, engagement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1">
                          <a:solidFill>
                            <a:srgbClr val="EC6B3D"/>
                          </a:solidFill>
                          <a:latin typeface="Arial"/>
                        </a:rPr>
                        <a:t>Verified work -&gt; AI-scored trust -&gt; AI-matched revenue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</a:tr>
              <a:tr h="175000">
                <a:tc>
                  <a:txBody>
                    <a:bodyPr/>
                    <a:lstStyle/>
                    <a:p>
                      <a:pPr algn="l"/>
                      <a:r>
                        <a:rPr sz="660" b="1">
                          <a:solidFill>
                            <a:srgbClr val="555555"/>
                          </a:solidFill>
                          <a:latin typeface="Arial"/>
                        </a:rPr>
                        <a:t>What the AI does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555555"/>
                          </a:solidFill>
                          <a:latin typeface="Arial"/>
                        </a:rPr>
                        <a:t>Feed ranking, engagement optimization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1">
                          <a:solidFill>
                            <a:srgbClr val="EC6B3D"/>
                          </a:solidFill>
                          <a:latin typeface="Arial"/>
                        </a:rPr>
                        <a:t>Verification scoring + anticipatory matching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</a:tr>
              <a:tr h="175000">
                <a:tc>
                  <a:txBody>
                    <a:bodyPr/>
                    <a:lstStyle/>
                    <a:p>
                      <a:pPr algn="l"/>
                      <a:r>
                        <a:rPr sz="660" b="1">
                          <a:solidFill>
                            <a:srgbClr val="555555"/>
                          </a:solidFill>
                          <a:latin typeface="Arial"/>
                        </a:rPr>
                        <a:t>What's monetized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555555"/>
                          </a:solidFill>
                          <a:latin typeface="Arial"/>
                        </a:rPr>
                        <a:t>Attention/ads, access to a network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1">
                          <a:solidFill>
                            <a:srgbClr val="EC6B3D"/>
                          </a:solidFill>
                          <a:latin typeface="Arial"/>
                        </a:rPr>
                        <a:t>AI-verified matches and AI-synthesized trust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</a:tr>
              <a:tr h="175000">
                <a:tc>
                  <a:txBody>
                    <a:bodyPr/>
                    <a:lstStyle/>
                    <a:p>
                      <a:pPr algn="l"/>
                      <a:r>
                        <a:rPr sz="660" b="1">
                          <a:solidFill>
                            <a:srgbClr val="555555"/>
                          </a:solidFill>
                          <a:latin typeface="Arial"/>
                        </a:rPr>
                        <a:t>Remove the AI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555555"/>
                          </a:solidFill>
                          <a:latin typeface="Arial"/>
                        </a:rPr>
                        <a:t>Network still works -- AI is decorative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1">
                          <a:solidFill>
                            <a:srgbClr val="EC6B3D"/>
                          </a:solidFill>
                          <a:latin typeface="Arial"/>
                        </a:rPr>
                        <a:t>Longlist and AI-Verified Search cannot function</a:t>
                      </a:r>
                    </a:p>
                  </a:txBody>
                  <a:tcPr marL="45720" marR="45720" marT="18288" marB="18288" anchor="ctr">
                    <a:solidFill>
                      <a:srgbClr val="F8DDD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1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1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Who do you expect will pay for your solution?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The corporate employer pays across three Primary tiers, each a distinct budget line, not one subscription trying to cover everything. Outplacement: sales-led, invoiced per headcount -- already live intake + admin triage (enterprise_leads pipeline), tapping restructuring/HR-transition budget. Coaching: Verified Experts sell mentor sessions, cohorts, packages and recordings directly -- already live with real Razorpay/Stripe checkout -- tapping L&amp;D budget, Greyin takes a platform commission. Future Hiring Pipeline (Longlist): AI-matched, anticipatory access to talent 3-12 months out -- an Enterprise-tier add-on to ExpertEdge's existing live subscription (₹/US$99-equivalent, server-side price-validated) -- tapping workforce-planning budget, a category with no real incumbent today. AI capability is the explicit upsell lever across all three. Individual membership stays free: the Supporting tier only compounds the Score these three sell if supply-side adoption is unrestricted.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How do you plan to acquire your first customers?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Direct enterprise outreach for Outplacement and Coaching (HR/L&amp;D buyers, sales-led by design); Longlist as the wedge into a full Enterprise contract -- a company testing the AI-matched pipeline for one future role is a warm path to all three tiers; and Supporting-tier community growth (Salt &amp; Pepper, GreyMatters, the built-in +25-score referral program) as the free acquisition engine that keeps the Score -- and therefore all three Primary tiers -- credible.</a:t>
            </a:r>
          </a:p>
        </p:txBody>
      </p:sp>
      <p:sp>
        <p:nvSpPr>
          <p:cNvPr id="110" name="Google Shape;110;p21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-GB" sz="2300">
                <a:solidFill>
                  <a:schemeClr val="dk1"/>
                </a:solidFill>
              </a:rPr>
              <a:t>Business Model &amp; Go-To-Market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2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2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are the next major milestones toward building your MVP?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All 6 pillars (plus Greyin Hub, the shared identity layer) are already built and live, pre-launch on purpose while the trust/security layer was hardened first (38-finding audit, fully closed). The monetization path from here is a phased pilot-to-scale roadmap, not one launch date: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resources or support will be most critical during this journey?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Design-partner employers, enterprise-sales expertise, and infrastructure support scaled only once real load justifies it.</a:t>
            </a:r>
          </a:p>
        </p:txBody>
      </p:sp>
      <p:sp>
        <p:nvSpPr>
          <p:cNvPr id="117" name="Google Shape;117;p22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-GB" sz="2300">
                <a:solidFill>
                  <a:schemeClr val="dk1"/>
                </a:solidFill>
              </a:rPr>
              <a:t>Development Roadmap</a:t>
            </a:r>
            <a:endParaRPr b="1" sz="1800">
              <a:solidFill>
                <a:schemeClr val="dk1"/>
              </a:solidFill>
            </a:endParaRPr>
          </a:p>
        </p:txBody>
      </p:sp>
      <p:graphicFrame>
        <p:nvGraphicFramePr>
          <p:cNvPr id="118" name="Table 117"/>
          <p:cNvGraphicFramePr>
            <a:graphicFrameLocks noGrp="1"/>
          </p:cNvGraphicFramePr>
          <p:nvPr/>
        </p:nvGraphicFramePr>
        <p:xfrm>
          <a:off x="313450" y="2680000"/>
          <a:ext cx="8620550" cy="17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0000"/>
                <a:gridCol w="900000"/>
                <a:gridCol w="3870550"/>
                <a:gridCol w="2550000"/>
              </a:tblGrid>
              <a:tr h="130000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Phase</a:t>
                      </a:r>
                    </a:p>
                  </a:txBody>
                  <a:tcPr marL="45720" marR="45720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Timeframe</a:t>
                      </a:r>
                    </a:p>
                  </a:txBody>
                  <a:tcPr marL="45720" marR="45720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Focus &amp; Expert Supply</a:t>
                      </a:r>
                    </a:p>
                  </a:txBody>
                  <a:tcPr marL="45720" marR="45720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Revenue Milestone (Target)</a:t>
                      </a:r>
                    </a:p>
                  </a:txBody>
                  <a:tcPr marL="45720" marR="45720" marT="18288" marB="18288" anchor="ctr">
                    <a:solidFill>
                      <a:srgbClr val="1F2A44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Pre-Launch Hardening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Mo. -6 to -3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333333"/>
                          </a:solidFill>
                          <a:latin typeface="Arial"/>
                        </a:rPr>
                        <a:t>Security/trust-layer audit (done, 38 findings closed); design-partner outreach; seed an invite-only expert cohort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333333"/>
                          </a:solidFill>
                          <a:latin typeface="Arial"/>
                        </a:rPr>
                        <a:t>$0 by design — no live transactions yet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Closed Pilot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Mo. -3 to 0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333333"/>
                          </a:solidFill>
                          <a:latin typeface="Arial"/>
                        </a:rPr>
                        <a:t>3-5 design-partner employers on ExpertEdge + Longlist; curated 50-100 expert cohort; validate AI-match quality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333333"/>
                          </a:solidFill>
                          <a:latin typeface="Arial"/>
                        </a:rPr>
                        <a:t>First LOIs signed; pricing validated with pilots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Public Launch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Mo. 0-1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333333"/>
                          </a:solidFill>
                          <a:latin typeface="Arial"/>
                        </a:rPr>
                        <a:t>Open signup, all 6 pillars; referral-driven expert acquisition (+25 score/conversion); GreyMatters content marketing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333333"/>
                          </a:solidFill>
                          <a:latin typeface="Arial"/>
                        </a:rPr>
                        <a:t>First paying cohort converts from pilot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Year 1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Mo. 1-12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333333"/>
                          </a:solidFill>
                          <a:latin typeface="Arial"/>
                        </a:rPr>
                        <a:t>Scale employer accounts; AI-Verified Search + Longlist AI-matching activated broadly; mentor commission live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333333"/>
                          </a:solidFill>
                          <a:latin typeface="Arial"/>
                        </a:rPr>
                        <a:t>Target: first ~50 paying employer accounts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Year 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Year 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333333"/>
                          </a:solidFill>
                          <a:latin typeface="Arial"/>
                        </a:rPr>
                        <a:t>Enterprise-tier accounts for high-volume teams; StackEdge verified-outcome premium tooling; geo expansion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333333"/>
                          </a:solidFill>
                          <a:latin typeface="Arial"/>
                        </a:rPr>
                        <a:t>Target: 3-5x employer base; first Enterprise contracts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Year 3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Year 3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333333"/>
                          </a:solidFill>
                          <a:latin typeface="Arial"/>
                        </a:rPr>
                        <a:t>Vertical expansion; reference-check API for enterprise HR systems; verified-interaction data moat compounds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333333"/>
                          </a:solidFill>
                          <a:latin typeface="Arial"/>
                        </a:rPr>
                        <a:t>Target: sustainable unit economics; Series A readiness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3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3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Why is your team uniquely positioned to solve this problem?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[Add your own founder narrative here -- who you are and why this specific problem, in your own words.]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relevant domain or technical expertise does the team possess?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Full-stack ownership of the entire platform as built: schema design and row-level-security-first data architecture, 7 independently-deployable Next.js applications, a pluggable multi-provider LLM/AI integration layer powering 5 live AI systems, and a self-run production deployment -- plus a genuinely rigorous security practice, evidenced by a real 38-finding audit closed and individually verified end to end.</a:t>
            </a:r>
          </a:p>
        </p:txBody>
      </p:sp>
      <p:sp>
        <p:nvSpPr>
          <p:cNvPr id="124" name="Google Shape;124;p23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-GB" sz="2300">
                <a:solidFill>
                  <a:schemeClr val="dk1"/>
                </a:solidFill>
              </a:rPr>
              <a:t>Team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4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4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Why have you applied to the BITSoM Vertex programme?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BITSoM Vertex's combination of Silicon Valley AI venture-building expertise, enterprise pilot pathways, and investor access is exactly the missing piece: the AI infrastructure and the product are built and live, but converting that into a funded, enterprise-validated company needs precisely the venture-building rigor and warm enterprise introductions this programme provides.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is the biggest challenge preventing you from building your MVP?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Not technical execution -- the platform, its 5 live AI systems, and its security posture are already real. The gap is deliberately commercial: converting a solid, pre-launch AI product into signed design-partner pilots and a first paying enterprise cohort, exactly the enterprise-pathway support this programme offers.</a:t>
            </a:r>
          </a:p>
        </p:txBody>
      </p:sp>
      <p:sp>
        <p:nvSpPr>
          <p:cNvPr id="131" name="Google Shape;131;p24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-GB" sz="2300">
                <a:solidFill>
                  <a:schemeClr val="dk1"/>
                </a:solidFill>
              </a:rPr>
              <a:t>Why BITSoM Vertex?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5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5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Provide links to your: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None/>
              <a:buNone/>
            </a:pPr>
            <a:endParaRPr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/>
            </a: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Prototype (if available)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Live production platform -- all 6 pillars plus Greyin Hub deployed and reachable today.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Demo Video (if available)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Not yet recorded -- available on request ahead of the Mumbai Pitch Fest.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GitHub Repository (if available)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Private repository (platform handles real user data pre-launch); architecture walkthrough available on request.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Website / Landing Page (if available)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greyin.net (ecosystem hub) -- expertedge.greyin.net -- freeagent.greyin.net -- saltnpepper.greyin.net -- stackedge.greyin.net -- greymatters.greyin.net -- longlist.greyin.net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Contact Details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[Add your name, email, and phone number here.]</a:t>
            </a:r>
          </a:p>
        </p:txBody>
      </p:sp>
      <p:sp>
        <p:nvSpPr>
          <p:cNvPr id="138" name="Google Shape;138;p25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-GB" sz="2300">
                <a:solidFill>
                  <a:schemeClr val="dk1"/>
                </a:solidFill>
              </a:rPr>
              <a:t>Supporting Material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6" title="Frame 161887560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