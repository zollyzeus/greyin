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2D19732-C419-4F9B-9478-F94887B6536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89E4C2-E24C-4488-B452-EB055653894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9B050D-2CA5-4D67-A5C6-300F491B849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81DFEF5-EA26-4DDE-B24D-3AB4C7F591A6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666B3D-F105-4887-A5BF-014A7A3DCD9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36EB2B-3EC7-4762-A375-C0BC5DA3AE9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31835A0-6D5A-47D3-9542-7B89E1D5E50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0B9D27F-D122-43CC-9B27-6AE5849F4C5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3BCA897-AB23-4F37-BCB2-0B3D609CEA2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8823EB1-8E34-446B-B5D4-2C2CCD08B03B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659F33A-1095-485D-9685-4BF65537FD8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842968-9CE2-4C4B-9370-15549BA5836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7DCCDC-3039-4A38-8B16-019C4E1E035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802C5D-1365-4CB8-9463-B58DFD1D23A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BCFFAC-AB28-4C35-8E77-EA331D7BCF3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0C1335-9BBE-4B0E-8F36-BA100D83956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7569FF-6FA9-4C85-84FC-F0CB6716BBB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49EE79-FC73-42F3-A9CB-5AA55F6EC1E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4594A9-5DFD-45B1-B7B1-BB47766E060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44BEC4-5104-4CA5-AD5A-0F4CFC6F08E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0F408C-EAD8-47EE-9A25-2D4F2F8F19D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7DC266-BE17-43C4-AEDC-F2BC52C6444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reyin.net/" TargetMode="External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reyin.net/" TargetMode="External"/><Relationship Id="rId3" Type="http://schemas.openxmlformats.org/officeDocument/2006/relationships/hyperlink" Target="https://deepedge.greyin.net/" TargetMode="External"/><Relationship Id="rId4" Type="http://schemas.openxmlformats.org/officeDocument/2006/relationships/hyperlink" Target="https://flexpro.greyin.net/" TargetMode="External"/><Relationship Id="rId5" Type="http://schemas.openxmlformats.org/officeDocument/2006/relationships/hyperlink" Target="https://longlist.greyin.net/" TargetMode="External"/><Relationship Id="rId6" Type="http://schemas.openxmlformats.org/officeDocument/2006/relationships/hyperlink" Target="https://saltnpepper.greyin.net/" TargetMode="External"/><Relationship Id="rId7" Type="http://schemas.openxmlformats.org/officeDocument/2006/relationships/hyperlink" Target="https://stackworks.greyin.net/" TargetMode="External"/><Relationship Id="rId8" Type="http://schemas.openxmlformats.org/officeDocument/2006/relationships/hyperlink" Target="https://greymatters.greyin.net/" TargetMode="External"/><Relationship Id="rId9" Type="http://schemas.openxmlformats.org/officeDocument/2006/relationships/hyperlink" Target="mailto:rajendran.anand@live.com" TargetMode="External"/><Relationship Id="rId10" Type="http://schemas.openxmlformats.org/officeDocument/2006/relationships/hyperlink" Target="https://www.linkedin.com/in/anand4585" TargetMode="External"/><Relationship Id="rId11" Type="http://schemas.openxmlformats.org/officeDocument/2006/relationships/hyperlink" Target="https://anandrajendran.dev/" TargetMode="External"/><Relationship Id="rId1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54;p13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0" name="TextBox 54"/>
          <p:cNvSpPr/>
          <p:nvPr/>
        </p:nvSpPr>
        <p:spPr>
          <a:xfrm>
            <a:off x="699840" y="3300120"/>
            <a:ext cx="7699320" cy="13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2a44"/>
                </a:solidFill>
                <a:latin typeface="Arial"/>
                <a:ea typeface="Arial"/>
              </a:rPr>
              <a:t>Greyin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ec6b3d"/>
                </a:solidFill>
                <a:latin typeface="Arial"/>
                <a:ea typeface="Arial"/>
              </a:rPr>
              <a:t>The AI-native trust and verification layer for hiring experienced talent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</a:rPr>
              <a:t>6 core features | 3 revenue lines | One shared Hub identity | </a:t>
            </a:r>
            <a:r>
              <a:rPr b="0" lang="en-US" sz="13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https://greyin.net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59;p14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2" name="Google Shape;60;p14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Strong submissions will demonstrate: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clearly validated customer problem and market opportunity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Meaningful and responsible application of AI to solve the problem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Technical depth through a scalable and well-designed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Product maturity supported by customer validation and measurable traction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sustainable business model with a clear go-to-market strategy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compelling vision for growth through the BITSoM Vertex incubation programme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Guidelines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is not a traditional fundraising pitch deck.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Focus on demonstrating the reasoning behind your decisions rather than making marketing claims.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61;p14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IMPORTANT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66;p15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67;p15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trying to solve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567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Senior, experienced professionals (12+ years) are filtered out by over-crowded traditional hiring platforms as well as keyword-matching ATS software and sometimes made redundant by restructuring -- not because they stopped being good at the work, but because nothing proves it at scale. Greyin is a single-identity ecosystem aiming to focus on senior professionals where an AI-driven verification and matching layer turns real work -- a completed project, a real review, a real deliverable -- into a portable, audited trust score employers can actually search against for hiring or other relevant business transactions.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inspired you to work on this problem?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gap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became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obvious building each core feature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36" name="Google Shape;68;p15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Startup</a:t>
            </a: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Snapshot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73;p16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8" name="Google Shape;74;p16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solving, and who experiences it most acutely?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research, observations, or evidence validate this opportunity?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Built directly from this platform's own construction: every feature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39" name="Google Shape;75;p16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Problem Understanding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80;p17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81;p17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is your ideal customer, and who would make the buying decision?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large is the opportunity if your assumptions prove correct?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Verified Expert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2" name="Google Shape;82;p17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Customer &amp;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87;p18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88;p18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your proposed solution, and how does it address the identified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is one platform with 6 core features, not 7 separate products -- Greyin Hub is the shared identity layer that binds them, not a feature in itself. Of the 6, 3 are revenue lines billed straight to the corporate employer (one, Longlist, stands alone; two live inside existing features). The other 3 produce the quality profiles and verified interactions that feed the Greyin Score -- the actual signal being sold. See the breakdown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key capabilities you envision?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single AI-verified identity across all 6 core features via Greyin Hub; an AI-and-human-verified interaction gate on every social-proof signal; a Bayesian-shrunk Greyin Score counting only real work; and AI matching that turns feature activity directly into revenue-line accuracy.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632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measurable value do you expect the solution to deliver?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distinct paid budget lines for employers; one compounding score for individuals; a free Supporting tier whose real output -- score integrity -- is what the Primary tier actually monetizes.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5" name="Google Shape;89;p18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Proposed Solution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6" name="Table 89"/>
          <p:cNvGraphicFramePr/>
          <p:nvPr/>
        </p:nvGraphicFramePr>
        <p:xfrm>
          <a:off x="796680" y="3684240"/>
          <a:ext cx="8118720" cy="1515960"/>
        </p:xfrm>
        <a:graphic>
          <a:graphicData uri="http://schemas.openxmlformats.org/drawingml/2006/table">
            <a:tbl>
              <a:tblPr/>
              <a:tblGrid>
                <a:gridCol w="1083240"/>
                <a:gridCol w="1836720"/>
                <a:gridCol w="1526400"/>
                <a:gridCol w="3672360"/>
              </a:tblGrid>
              <a:tr h="946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Category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Hosted 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Outplacement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DeepEdge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per-headcount -- departing employees routed into the Verified Expert ecosystem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Coaching (Mentorship)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FlexPro, surfaced platform-wide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Experts monetize expertise directly -- sessions, cohorts, packages; platform take-rate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Feature -- Primary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(Future Hiring Pipeline)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for AI-matched, anticipatory access 3-12 months before a role opens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DeepEdge (core hiring)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job board + candidate database -- every real hire strengthens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FlexPro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Subscription + low-fee gig delivery -- feeds verified-outcome reviews into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StackWorks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Real project delivery, AI+human verified -- the single strongest Score input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Salt &amp; Pepper + GreyMatters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apps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Community engagement + published expertise -- reputation signal, organic reach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94;p19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95;p19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role will AI play in your proposed solution, and why is it essential?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mechanism that makes “verified” scale past manual review -- what employers actually pay for.                                                                     Six AI systems run in production today, plus four on the near-term roadmap (marked below):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technologies, AI models, or frameworks do you plan to use, and why?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makes you feel your product is a genuine AI product, and not an AI wrapper?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96;p19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just"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Technology &amp; AI Approach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Table 96"/>
          <p:cNvGraphicFramePr/>
          <p:nvPr/>
        </p:nvGraphicFramePr>
        <p:xfrm>
          <a:off x="874440" y="3498840"/>
          <a:ext cx="7983720" cy="2008440"/>
        </p:xfrm>
        <a:graphic>
          <a:graphicData uri="http://schemas.openxmlformats.org/drawingml/2006/table">
            <a:tbl>
              <a:tblPr/>
              <a:tblGrid>
                <a:gridCol w="1379880"/>
                <a:gridCol w="3301920"/>
                <a:gridCol w="936720"/>
              </a:tblGrid>
              <a:tr h="9000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AI Capability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What It Does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AI-Verified Search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NL query → structured, ranked candidate filters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Verified-Outcome Scoring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AI+human review of real StackWorks deliverables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AI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Surfaces future-role fits, no application needed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Quality &amp; Moderation Gates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Pre-publish safety gate (blocks before insert) + periodic quality sweep, across 3 features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Gig-Listing Quality Assist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On-demand AI rewrite tips at post time -- informational, never gates publish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Multi-Provider Core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Anthropic / OpenAI / Ollama, no vendor lock-in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Explainable Match Rationale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Plain-language “why this match” per result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Bias / Fairness Auditing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Active skew monitoring on AI match output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Mentor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Best-fit coach suggestions -- Score + goals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Reference Synthesis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Multi-response consistency reports for employers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101;p20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2" name="Google Shape;102;p20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alternatives currently exist?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do you believe your approach is better suited to solving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things a generic AI wrapper can't touch, and the test that separates an AI-powered product from a social network with an AI feature bolted on: remove the AI, and does the product still work?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(1) Compounding data: the graph underneath our AI is real and gated against self-report -- a competitor can copy a search UI in a quarter, not manufacture years of verified interaction history.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(2) A new category: Longlist matches people against roles that don't exist publicly yet -- delete the AI and this feature is not degraded, it's impossible; there is no manual version of anticipatory matching at scale.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(3) Trustable output: every signal feeding the AI requires a real interaction gate, unlike endorsements an AI can rank but never verify -- fewer bad hires from AI-assisted screening, a compliance argument for the enterprise buyer, not a UX one. See the test applied below.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53" name="Google Shape;103;p20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Competitive Landscape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" name="Table 103"/>
          <p:cNvGraphicFramePr/>
          <p:nvPr/>
        </p:nvGraphicFramePr>
        <p:xfrm>
          <a:off x="903960" y="3962520"/>
          <a:ext cx="7852320" cy="838800"/>
        </p:xfrm>
        <a:graphic>
          <a:graphicData uri="http://schemas.openxmlformats.org/drawingml/2006/table">
            <a:tbl>
              <a:tblPr/>
              <a:tblGrid>
                <a:gridCol w="1337040"/>
                <a:gridCol w="3134880"/>
                <a:gridCol w="3380760"/>
              </a:tblGrid>
              <a:tr h="2916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Typical Social Network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Greyin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Core loop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Connections, attention, engagement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Verified work -&gt; AI-scored trust -&gt; AI-matched revenue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 the AI does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Feed ranking, engagement optimization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Verification scoring + anticipatory matching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What's monetized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Attention/ads, access to a network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AI-verified matches and AI-synthesized trust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Remove the AI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Network still works -- AI is decorative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Longlist and AI-Verified Search cannot function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08;p21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109;p21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do you expect will pay for your solution?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Razorpay/Stripe checkout -- tapping L&amp;D budget, Greyin takes a platform commission. Future Hiring Pipeline (Longlist): AI-matched, anticipatory access to talent 3-12 months out -- an Enterprise-tier add-on to DeepEdge's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do you plan to acquire your first customers?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110;p21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Business Model &amp; Go-To-Market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15;p22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9" name="Google Shape;116;p22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next major milestones toward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All 6 core features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resources or support will be most critical during this journey?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Design-partner employers, enterprise-sales expertise, and infrastructure support scaled only once real load justifies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17;p22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Development Roadmap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1" name="Table 117"/>
          <p:cNvGraphicFramePr/>
          <p:nvPr/>
        </p:nvGraphicFramePr>
        <p:xfrm>
          <a:off x="914400" y="2679840"/>
          <a:ext cx="8019000" cy="2017080"/>
        </p:xfrm>
        <a:graphic>
          <a:graphicData uri="http://schemas.openxmlformats.org/drawingml/2006/table">
            <a:tbl>
              <a:tblPr/>
              <a:tblGrid>
                <a:gridCol w="1209600"/>
                <a:gridCol w="837360"/>
                <a:gridCol w="3600720"/>
                <a:gridCol w="2371320"/>
              </a:tblGrid>
              <a:tr h="1299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Phase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Timeframe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Focus &amp; Expert Supply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Revenue Milestone (Target)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Pre-Launch Hardening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-6 to -3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$0 by design — no live transactions yet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Closed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-3 to 0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3-5 design-partner employers on DeepEdge + Longlist; curated 50-100 expert cohort; validate AI-match quality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LOIs signed; pricing validated with pilots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Public Launch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0-1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Open signup, all 6 core features; referral-driven expert acquisition (+25 score/conversion); GreyMatters content marketing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paying cohort converts from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1-12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Scale employer accounts; AI-Verified Search + Longlist AI-matching activated broadly; mentor commission live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first ~50 paying employer accounts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Enterprise-tier accounts for high-volume teams; StackWorks verified-outcome premium tooling; geo expansion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3-5x employer base; first Enterprise contracts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Vertical expansion; reference-check API for enterprise HR systems; verified-interaction data moat compounds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sustainable unit economics; Series A readiness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122;p23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123;p23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is your team uniquely positioned to solve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Solo founder. 15+ years in automotive embedded systems -- most of it in verification and validation: professionally proving that safety-critical software does what its spec claims, and scaling V&amp;V teams 3-4x for Stellantis, Audi/Porsche and Caterpillar programs. Greyin turns that same discipline on professional trust -- don't take the claim, verify the interaction underneath it. I'm also the user: after a deliberate pivot into AI and two years shipping production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relevant domain or technical expertise does the team possess?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124;p23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Team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29;p24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130;p24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have you applied to the BITSoM Vertex programme?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the biggest challenge preventing you from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31;p24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Why BITSoM Vertex?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36;p25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137;p25"/>
          <p:cNvSpPr/>
          <p:nvPr/>
        </p:nvSpPr>
        <p:spPr>
          <a:xfrm>
            <a:off x="313560" y="1364760"/>
            <a:ext cx="8704800" cy="366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Provide links to your: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Prototype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Live production platform -- all 6 core features plus Greyin Hub deployed and reachable today.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Demo Video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yet recorded -- available on request ahead of the Mumbai Pitch Fest.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GitHub Repository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https://github.com/zollyzeus/greyin (private repo); access + architecture walkthrough on request.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Website / Landing Page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2"/>
              </a:rPr>
              <a:t>https://greyin.net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(ecosystem hub / landing page)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3"/>
              </a:rPr>
              <a:t>https://deepedge.greyin.net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4"/>
              </a:rPr>
              <a:t>https://flexpro.greyin.net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5"/>
              </a:rPr>
              <a:t>https://longlist.greyin.net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6"/>
              </a:rPr>
              <a:t>https://saltnpepper.greyin.net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7"/>
              </a:rPr>
              <a:t>https://stackworks.greyin.net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8"/>
              </a:rPr>
              <a:t>https://greymatters.greyin.net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Aft>
                <a:spcPts val="632"/>
              </a:spcAft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Contact Details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Anand Rajendran, Founder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+91 98843 99915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9"/>
              </a:rPr>
              <a:t>rajendran.anand@live.com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10"/>
              </a:rPr>
              <a:t>https://www.linkedin.com/in/anand4585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11"/>
              </a:rPr>
              <a:t>https://anandrajendran.dev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70" name="Google Shape;138;p25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Supporting Material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43;p26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2026-09-03T08:58:42Z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