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anrope"/>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font" Target="fonts/Manrope-regular.fntdata"/><Relationship Id="rId21" Type="http://schemas.openxmlformats.org/officeDocument/2006/relationships/font" Target="fonts/Manrop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6634a190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f6634a190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6634a1906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6634a1906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6634a1906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6634a1906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634a1906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6634a1906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6634a1906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6634a1906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6634a1906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6634a1906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6634a1906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6634a1906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6634a1906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6634a1906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6634a1906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6634a1906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6634a1906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6634a1906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634a1906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6634a1906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6634a1906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6634a1906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6634a190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6634a190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rame 1618875604.png"/>
          <p:cNvPicPr preferRelativeResize="0"/>
          <p:nvPr/>
        </p:nvPicPr>
        <p:blipFill>
          <a:blip r:embed="rId3">
            <a:alphaModFix/>
          </a:blip>
          <a:stretch>
            <a:fillRect/>
          </a:stretch>
        </p:blipFill>
        <p:spPr>
          <a:xfrm>
            <a:off x="0" y="0"/>
            <a:ext cx="9143992" cy="5143501"/>
          </a:xfrm>
          <a:prstGeom prst="rect">
            <a:avLst/>
          </a:prstGeom>
          <a:noFill/>
          <a:ln>
            <a:noFill/>
          </a:ln>
        </p:spPr>
      </p:pic>
      <p:sp>
        <p:nvSpPr>
          <p:cNvPr id="55" name="TextBox 54"/>
          <p:cNvSpPr txBox="1"/>
          <p:nvPr/>
        </p:nvSpPr>
        <p:spPr>
          <a:xfrm>
            <a:off x="700000" y="3300000"/>
            <a:ext cx="7700000" cy="1650000"/>
          </a:xfrm>
          <a:prstGeom prst="rect">
            <a:avLst/>
          </a:prstGeom>
          <a:noFill/>
        </p:spPr>
        <p:txBody>
          <a:bodyPr wrap="square">
            <a:spAutoFit/>
          </a:bodyPr>
          <a:lstStyle/>
          <a:p>
            <a:pPr algn="l"/>
            <a:r>
              <a:rPr sz="4000" b="1">
                <a:solidFill>
                  <a:srgbClr val="1F2A44"/>
                </a:solidFill>
                <a:latin typeface="Arial"/>
              </a:rPr>
              <a:t>Greyin</a:t>
            </a:r>
          </a:p>
          <a:p>
            <a:pPr algn="l">
              <a:spcBef>
                <a:spcPts val="600"/>
              </a:spcBef>
            </a:pPr>
            <a:r>
              <a:rPr sz="1600" b="0">
                <a:solidFill>
                  <a:srgbClr val="EC6B3D"/>
                </a:solidFill>
                <a:latin typeface="Arial"/>
              </a:rPr>
              <a:t>The AI-verified professional trust layer for experienced talent</a:t>
            </a:r>
          </a:p>
          <a:p>
            <a:pPr algn="l">
              <a:spcBef>
                <a:spcPts val="1000"/>
              </a:spcBef>
            </a:pPr>
            <a:r>
              <a:rPr sz="1300" b="0">
                <a:solidFill>
                  <a:srgbClr val="555555"/>
                </a:solidFill>
                <a:latin typeface="Arial"/>
              </a:rPr>
              <a:t>7 connected platforms. One earned identity. greyin.net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60" name="Google Shape;60;p14"/>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accent2"/>
                </a:solidFill>
                <a:latin typeface="Manrope"/>
                <a:ea typeface="Manrope"/>
                <a:cs typeface="Manrope"/>
                <a:sym typeface="Manrope"/>
              </a:rPr>
              <a:t>This submission deck is designed to help you present your startup in a structured and consistent manner. It enables reviewers to evaluate your solution across product, technology, AI innovation, business viability, customer validation, and enterprise readiness.</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rPr b="1" lang="en-GB" sz="1000">
                <a:solidFill>
                  <a:schemeClr val="accent2"/>
                </a:solidFill>
                <a:latin typeface="Manrope"/>
                <a:ea typeface="Manrope"/>
                <a:cs typeface="Manrope"/>
                <a:sym typeface="Manrope"/>
              </a:rPr>
              <a:t>Strong submissions will demonstrate:</a:t>
            </a:r>
            <a:endParaRPr b="1" sz="1000">
              <a:solidFill>
                <a:schemeClr val="accent2"/>
              </a:solidFill>
              <a:latin typeface="Manrope"/>
              <a:ea typeface="Manrope"/>
              <a:cs typeface="Manrope"/>
              <a:sym typeface="Manrope"/>
            </a:endParaRPr>
          </a:p>
          <a:p>
            <a:pPr indent="0" lvl="0" marL="0" rtl="0" algn="l">
              <a:spcBef>
                <a:spcPts val="0"/>
              </a:spcBef>
              <a:spcAft>
                <a:spcPts val="0"/>
              </a:spcAft>
              <a:buNone/>
            </a:pPr>
            <a:r>
              <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A clearly validated customer problem and market opportunity</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Meaningful and responsible application of AI to solve the problem</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Technical depth through a scalable and well-designed architecture</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Product maturity supported by customer validation and measurable traction</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A sustainable business model with a clear go-to-market strategy</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A compelling vision for growth through the BITSoM Vertex incubation programme</a:t>
            </a:r>
            <a:endParaRPr sz="1000">
              <a:solidFill>
                <a:schemeClr val="accent2"/>
              </a:solidFill>
              <a:latin typeface="Manrope"/>
              <a:ea typeface="Manrope"/>
              <a:cs typeface="Manrope"/>
              <a:sym typeface="Manrope"/>
            </a:endParaRPr>
          </a:p>
          <a:p>
            <a:pPr indent="0" lvl="0" marL="457200" rtl="0" algn="l">
              <a:spcBef>
                <a:spcPts val="0"/>
              </a:spcBef>
              <a:spcAft>
                <a:spcPts val="0"/>
              </a:spcAft>
              <a:buNone/>
            </a:pPr>
            <a:r>
              <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rPr b="1" lang="en-GB" sz="1000">
                <a:solidFill>
                  <a:schemeClr val="accent2"/>
                </a:solidFill>
                <a:latin typeface="Manrope"/>
                <a:ea typeface="Manrope"/>
                <a:cs typeface="Manrope"/>
                <a:sym typeface="Manrope"/>
              </a:rPr>
              <a:t>Guidelines</a:t>
            </a:r>
            <a:br>
              <a:rPr b="1" lang="en-GB" sz="1000">
                <a:solidFill>
                  <a:schemeClr val="accent2"/>
                </a:solidFill>
                <a:latin typeface="Manrope"/>
                <a:ea typeface="Manrope"/>
                <a:cs typeface="Manrope"/>
                <a:sym typeface="Manrope"/>
              </a:rPr>
            </a:br>
            <a:endParaRPr b="1"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This is not a traditional fundraising pitch deck.</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Focus on demonstrating the reasoning behind your decisions rather than making marketing claims.</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Wherever applicable, support your responses with evidence, metrics, customer insights, product screenshots, architecture diagrams, user journeys, and other relevant visuals.</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Not every question may be applicable to every startup. Answer the questions that are most relevant to your solution and provide sufficient context to help reviewers understand your approach.</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t/>
            </a:r>
            <a:endParaRPr sz="1000">
              <a:solidFill>
                <a:schemeClr val="accent2"/>
              </a:solidFill>
              <a:latin typeface="Manrope"/>
              <a:ea typeface="Manrope"/>
              <a:cs typeface="Manrope"/>
              <a:sym typeface="Manrope"/>
            </a:endParaRPr>
          </a:p>
        </p:txBody>
      </p:sp>
      <p:sp>
        <p:nvSpPr>
          <p:cNvPr id="61" name="Google Shape;61;p14"/>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IMPORTANT</a:t>
            </a:r>
            <a:endParaRPr b="1"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67" name="Google Shape;67;p15"/>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problem are you trying to solve</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Senior, experienced professionals (12+ years) are filtered out by keyword-matching ATS software, made redundant by restructuring, or simply can't prove real capability beyond a self-written resume -- not because they stopped being good at the work. Greyin is a single-identity ecosystem of 7 connected platforms -- hiring, freelancing, community, writing, verified project work, mentorship, and anticipatory hiring -- where every credential is earned through real, cross-checked work, never self-reported.</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What inspired you to work on this problem?</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The gap became obvious building each pillar as its own product first: a hiring platform where “verified” meant nothing beyond a resume upload, a community where seniority was a self-declared field, a freelance marketplace with no real proof of delivery. The fix wasn't a better filter on top of self-reported data -- it was making the data itself earned, by connecting the pillars so real work in one place becomes trustworthy signal everywhere else.</a:t>
            </a:r>
          </a:p>
        </p:txBody>
      </p:sp>
      <p:sp>
        <p:nvSpPr>
          <p:cNvPr id="68" name="Google Shape;68;p15"/>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Startup Snapshot</a:t>
            </a:r>
            <a:endParaRPr b="1"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6"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74" name="Google Shape;74;p16"/>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problem are you solving, and who experiences it most acutely?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Professionals with 12-30+ years of experience feel it most acutely: overqualified for junior ATS filters, underrepresented in networks built for early-career volume, and with no structured way to prove a real track record short of a reference call. Employers feel the inverse -- unable to tell a genuinely Verified Expert from a well-formatted resume until well into an expensive interview process.</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What research, observations, or evidence validate this opportunity?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Built directly from this platform's own construction: every pillar that launched with a self-reported trust signal (an unverified “connection,” a self-picked seniority flag, an unrated freelancer) had to be re-audited and re-gated to a real, verifiable interaction once real usage began -- endorsements, skill ratings, and written recommendations on Greyin now require a real completed StackEdge collaboration or FreeAgent order behind them, not a mutual click. That re-audit is the direct evidence: unverified social proof is the default failure mode of every adjacent product, and closing it is exactly the gap worth building for.</a:t>
            </a:r>
          </a:p>
        </p:txBody>
      </p:sp>
      <p:sp>
        <p:nvSpPr>
          <p:cNvPr id="75" name="Google Shape;75;p16"/>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Clr>
                <a:schemeClr val="dk1"/>
              </a:buClr>
              <a:buSzPts val="1100"/>
              <a:buFont typeface="Arial"/>
              <a:buNone/>
            </a:pPr>
            <a:r>
              <a:rPr b="1" lang="en-GB" sz="2300">
                <a:solidFill>
                  <a:schemeClr val="dk1"/>
                </a:solidFill>
              </a:rPr>
              <a:t>Problem Understanding</a:t>
            </a:r>
            <a:endParaRPr b="1"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81" name="Google Shape;81;p17"/>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Who is your ideal customer, and who would make the buying decision?</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Two paired customers: (1) experienced individual professionals (12+ years -- senior ICs, directors, fractional executives, career-pivoters and returners) who want their track record to count for more than a keyword match, and (2) the companies, recruiters and mentorship-seekers who hire, engage or learn from them. On the enterprise side, the buying decision sits with the hiring manager or a talent-acquisition lead paying for verified candidate search access; on the individual side, adoption is free and identity-led, monetized through subscriptions and premium verification features layered on top.</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How large is the opportunity if your assumptions prove correct?</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India alone has tens of millions of professionals past the 12-year mark, a segment structurally underserved by every mainstream network built around early-career volume and keyword density. If Greyin becomes the default place a Verified Expert's track record lives, the addressable spend spans enterprise recruiting budgets (a multi-billion-dollar category in India already), freelance/advisory spend redirected away from 20%+-commission marketplaces, and a new category this platform is first to structurally enable: anticipatory hiring pipelines built 3-12 months ahead of an actual opening.</a:t>
            </a:r>
          </a:p>
        </p:txBody>
      </p:sp>
      <p:sp>
        <p:nvSpPr>
          <p:cNvPr id="82" name="Google Shape;82;p17"/>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Customer &amp; Opportunity</a:t>
            </a:r>
            <a:endParaRPr b="1"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88" name="Google Shape;88;p18"/>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is your proposed solution, and how does it address the identified problem?</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Greyin: one identity, seven connected platforms, one earned trust score. ExpertEdge (verified hiring), FreeAgent (0%-commission freelance marketplace), StackEdge (real projects with a verified, reviewed outcome record), Salt &amp; Pepper (a senior peer community), GreyMatters (long-form writing from verified experts), Longlist (anonymized future roles, posted 3-12 months ahead of an opening), and Greyin Hub (the shared identity and score). Sign in once; every real interaction on any pillar strengthens one portable, cross-platform Greyin Score.</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are the key capabilities you envision?</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 single sign-on identity across all 7 apps; a Bayesian-shrunk, headcount-weighted Greyin Score that blends verified outcomes, reviews, endorsements and career experience so one lucky rating can't outrank ten solid ones; a governance-votable Verified Expert threshold the community itself can adjust; and a verified-interaction gate on every social-proof signal -- an endorsement or recommendation requires a real completed collaboration behind it, not a mutual connect click.</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What measurable value do you expect the solution to deliver?</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For individuals: a track record that travels with them and actually raises their visibility, not just another profile to maintain. For employers: a searchable pool where “Verified Expert” is a real, audited bar, cutting time-to-confident-hire. For the ecosystem overall: a trust layer where reputation is earned once and recognized everywhere on the platform, instead of five disconnected profiles each starting from zero.</a:t>
            </a:r>
          </a:p>
        </p:txBody>
      </p:sp>
      <p:sp>
        <p:nvSpPr>
          <p:cNvPr id="89" name="Google Shape;89;p18"/>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Proposed Solution</a:t>
            </a:r>
            <a:endParaRPr b="1"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9"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95" name="Google Shape;95;p19"/>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role will AI play in your proposed solution, and why is it essential?</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AI is the mechanism that makes “verified” scale past manual review. It already scores content quality (GreyMatters articles, FreeAgent gig deliverables), parses natural-language search into structured people-filters (“former CFO, board-ready”), gates Salt &amp; Pepper community posts before they go live, and blends AI + human review into StackEdge's verified-outcome scoring. Essential, not decorative: without it, every one of those checks reverts to either unscalable manual review or no check at all.</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technologies, AI models, or frameworks do you plan to use, and why?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 pluggable, admin-configurable LLM provider registry (Anthropic, OpenAI, and a self-hosted Ollama fallback) sits behind every AI feature, selected per feature-flag rather than hardcoded to one vendor -- chosen specifically so the platform is never locked to a single model provider's pricing or availability, and so a misconfigured or down provider degrades a feature gracefully instead of breaking the product.</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makes you feel your product is a genuine AI product, and not an AI wrapper?</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Every AI call here changes what data structurally exists afterward -- a quality score gates whether a post is even published, a moderation call blocks a community post before it's live, a natural-language query becomes a real structured filter against a verified-people index, an AI-plus-human score becomes a permanent verified-outcome record feeding the Greyin Score. None of it is a chat layer wrapped around an existing product; each model call is load-bearing in the actual data model, and every one degrades to a typed “not available” result rather than blocking or faking success when a provider is unset or fails -- reliability engineered in from the start, not bolted on.</a:t>
            </a:r>
          </a:p>
        </p:txBody>
      </p:sp>
      <p:sp>
        <p:nvSpPr>
          <p:cNvPr id="96" name="Google Shape;96;p19"/>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Technology &amp; AI Approach</a:t>
            </a:r>
            <a:endParaRPr b="1"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0"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02" name="Google Shape;102;p20"/>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alternatives currently exist?</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LinkedIn and Naukri/Indeed for hiring and networking; Upwork and Toptal for freelance work; Blind and niche Slack/Discord communities for peer discussion; ADPList and informal referral networks for mentorship. Each solves one slice of this in isolation, and every one of them treats “trust” as a self-reported field -- a title, an endorsement, a star rating -- rather than something earned from a verified interaction.</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Why do you believe your approach is better suited to solving this problem?</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None of them connect the slices: a LinkedIn endorsement, an Upwork rating, and a Slack reputation are three disconnected, equally unverifiable signals about the same person. Greyin's Verified Expert bar and Greyin Score are the same number everywhere on the platform, built only from real, cross-checked interactions -- and Longlist's anonymized future-role model has no real equivalent on any of them: today's alternatives are built for filling an opening now, not for a company quietly building a pipeline for the role it will have in 6 months.</a:t>
            </a:r>
          </a:p>
        </p:txBody>
      </p:sp>
      <p:sp>
        <p:nvSpPr>
          <p:cNvPr id="103" name="Google Shape;103;p20"/>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Competitive Landscape</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1"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09" name="Google Shape;109;p21"/>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Who do you expect will pay for your solution?</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Employers pay: subscription access to verified candidate search and resume visibility on ExpertEdge (already built, live Razorpay checkout), premium visibility on Longlist's future-role pipeline, and enterprise-tier support for high-volume hiring teams. Individual membership stays free across all 7 pillars -- the identity and trust layer only works if adoption is unrestricted; monetization sits on the employer side and on optional premium features (mentor session commissions, verified-outcome premium tooling), not on access to the network itself.</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How do you plan to acquire your first customers?</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Direct outreach to mid-size companies and boutique recruiting firms already hiring senior/fractional talent, where the Verified Expert bar is an immediate, provable time-saver over sifting resumes; community-led growth through Salt &amp; Pepper and GreyMatters, where senior professionals already congregate and refer peers organically; and Longlist itself as a wedge -- a company testing the anonymized future-role pipeline for one role is a warm, low-friction path into a full ExpertEdge subscription.</a:t>
            </a:r>
          </a:p>
        </p:txBody>
      </p:sp>
      <p:sp>
        <p:nvSpPr>
          <p:cNvPr id="110" name="Google Shape;110;p21"/>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Business Model &amp; Go-To-Market</a:t>
            </a:r>
            <a:endParaRPr b="1"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2"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16" name="Google Shape;116;p22"/>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are the next major milestones toward building your MVP?</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All 7 pillars are built and live in production today, including Longlist, the newest addition (posted anonymously by companies, AI-matched candidates, live e2e-tested). The next milestones are deliberately not more surface area: a controlled private pilot with real employers and candidates (the platform has been kept pre-launch on purpose while the trust/security layer was hardened first), closing the small number of remaining self-service gaps identified in an internal audit (employer self-service job close/reopen, candidate application withdrawal, a live notification bell), and formal incorporation timed to the first real paying employer contract.</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resources or support will be most critical during this journey?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Design-partner employers willing to run a real, small pilot and give direct feedback; go-to-market and enterprise-sales expertise to convert that pilot into the first paying cohort; and infrastructure/mentorship support scaling from a single self-managed server to a real production-grade cloud deployment once real user load justifies the cost -- a deliberate, trigger-based decision already scoped, not yet needed.</a:t>
            </a:r>
          </a:p>
        </p:txBody>
      </p:sp>
      <p:sp>
        <p:nvSpPr>
          <p:cNvPr id="117" name="Google Shape;117;p22"/>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Development Roadmap</a:t>
            </a:r>
            <a:endParaRPr b="1"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3"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23" name="Google Shape;123;p23"/>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Why is your team uniquely positioned to solve this problem?</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[Add your own founder narrative here -- who you are and why this specific problem, in your own words.]</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relevant domain or technical expertise does the team possess?</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Full-stack ownership of the entire platform as built: schema design and row-level-security-first data architecture across a shared multi-tenant Postgres instance, 7 independently-deployable Next.js applications, a pluggable multi-provider LLM integration layer, and a self-run production deployment (Docker Swarm, Traefik, Let's Encrypt) -- plus a genuinely rigorous security practice, evidenced by a real 38-finding audit (RLS bypass fixes, payment-binding fixes, secret rotation, dependency CVE remediation) closed and individually verified end to end.</a:t>
            </a:r>
          </a:p>
        </p:txBody>
      </p:sp>
      <p:sp>
        <p:nvSpPr>
          <p:cNvPr id="124" name="Google Shape;124;p23"/>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Team</a:t>
            </a:r>
            <a:endParaRPr b="1"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4"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30" name="Google Shape;130;p24"/>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Why have you applied to the BITSoM Vertex programme?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BITSoM Vertex's combination of Silicon Valley AI venture-building expertise, enterprise pilot pathways, and investor access is exactly the missing piece at this stage: the product and its AI infrastructure are built and real, but the path from a working platform to a funded, enterprise-validated company needs precisely the venture-building rigor, mentorship, and warm enterprise introductions this programme is built to provide.</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is the biggest challenge preventing you from building your MVP?</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Not technical execution -- the platform, the AI infrastructure, and the security posture are already real and live. The gap is deliberately commercial: converting a genuinely solid, pre-launch product into signed design-partner pilots and a first paying cohort, which is exactly the kind of enterprise-pathway and venture-building support this programme offers.</a:t>
            </a:r>
          </a:p>
        </p:txBody>
      </p:sp>
      <p:sp>
        <p:nvSpPr>
          <p:cNvPr id="131" name="Google Shape;131;p24"/>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Why BITSoM Vertex?</a:t>
            </a:r>
            <a:endParaRPr b="1"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37" name="Google Shape;137;p25"/>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Provide links to your:</a:t>
            </a:r>
            <a:endParaRPr sz="1100">
              <a:solidFill>
                <a:schemeClr val="dk1"/>
              </a:solidFill>
            </a:endParaRPr>
          </a:p>
          <a:p>
            <a:pPr indent="0" lvl="0" marL="0" rtl="0" algn="l">
              <a:lnSpc>
                <a:spcPct val="115000"/>
              </a:lnSpc>
              <a:spcBef>
                <a:spcPts val="400"/>
              </a:spcBef>
              <a:spcAft>
                <a:spcPts val="600"/>
              </a:spcAft>
              <a:buNone/>
              <a:buNone/>
            </a:pPr>
            <a:endParaRPr sz="1100">
              <a:solidFill>
                <a:schemeClr val="dk1"/>
              </a:solidFill>
            </a:endParaRPr>
            <a:r>
              <a:rPr lang="en-US" sz="1000" b="0">
                <a:solidFill>
                  <a:srgbClr val="555555"/>
                </a:solidFill>
              </a:rPr>
              <a:t/>
            </a: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Prototype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Live production platform -- all 7 pillars deployed and reachable today.</a:t>
            </a: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Demo Video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Not yet recorded -- available on request ahead of the Mumbai Pitch Fest.</a:t>
            </a: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GitHub Repository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Private repository (platform handles real user data pre-launch); architecture walkthrough available on request.</a:t>
            </a: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Website / Landing Page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greyin.net (ecosystem hub) -- expertedge.greyin.net -- freeagent.greyin.net -- saltnpepper.greyin.net -- stackedge.greyin.net -- greymatters.greyin.net -- longlist.greyin.net</a:t>
            </a:r>
          </a:p>
          <a:p>
            <a:pPr indent="-298450" lvl="0" marL="457200" rtl="0" algn="l">
              <a:lnSpc>
                <a:spcPct val="115000"/>
              </a:lnSpc>
              <a:spcBef>
                <a:spcPts val="0"/>
              </a:spcBef>
              <a:spcAft>
                <a:spcPts val="1200"/>
              </a:spcAft>
              <a:buClr>
                <a:schemeClr val="dk1"/>
              </a:buClr>
              <a:buSzPts val="1100"/>
              <a:buChar char="●"/>
            </a:pPr>
            <a:r>
              <a:rPr lang="en-GB" sz="1100">
                <a:solidFill>
                  <a:schemeClr val="dk1"/>
                </a:solidFill>
              </a:rPr>
              <a:t>Contact Details</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[Add your name, email, and phone number here.]</a:t>
            </a:r>
          </a:p>
        </p:txBody>
      </p:sp>
      <p:sp>
        <p:nvSpPr>
          <p:cNvPr id="138" name="Google Shape;138;p25"/>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Supporting Material</a:t>
            </a:r>
            <a:endParaRPr b="1"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6" title="Frame 1618875606.png"/>
          <p:cNvPicPr preferRelativeResize="0"/>
          <p:nvPr/>
        </p:nvPicPr>
        <p:blipFill rotWithShape="1">
          <a:blip r:embed="rId3">
            <a:alphaModFix/>
          </a:blip>
          <a:srcRect b="0" l="0" r="0" t="0"/>
          <a:stretch/>
        </p:blipFill>
        <p:spPr>
          <a:xfrm>
            <a:off x="0" y="0"/>
            <a:ext cx="9143992"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