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4B706BE-4DF1-462C-8F16-7E81F21275B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2CC5E4-F08B-4756-8C54-C73E010F653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FA7873-1789-4FF8-BBA9-CD37D9325CC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6D28343-94A1-46D2-81EE-E13CA095F29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64C280-2D0E-4DFE-9400-AE9779DAB93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B063C-83DC-4AE0-A3DB-834D435E14A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A0D2E8A-0D89-4CB6-9760-44982C28B3B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051DC1-BFB7-4DF6-8B43-585071EB05D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45CBB6-BE16-4A77-8963-669896851A0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B3E56F0-8813-42AE-AF72-873E7F2BA1D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A943DA6-57EA-4FED-93D8-7B054617E2C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44B191-F4B6-4DA7-912B-416ED0477DA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7A0777-6EE0-4882-9D5A-4EF102C80E2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6A3B5C-F80B-49D7-9120-3C8ADC711E1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163034-B677-49C2-800E-8996B9618F0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7F98FC-B4C7-405F-897D-80D6574AB93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9315BF-EB12-494A-912D-B331D76BD27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BFF7E2-E5FC-4293-A842-5A4E53EFB2D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B266AD-4079-4FEB-9D6F-3B331CA8A12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4BFDC1-3CCC-4E3A-A475-0D608988CC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0914AA-9399-4C9D-8D7D-1E347055FF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70EDD-BA44-44F4-87C8-CC51C5D2CBA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9" name="TextBox 54"/>
          <p:cNvSpPr/>
          <p:nvPr/>
        </p:nvSpPr>
        <p:spPr>
          <a:xfrm>
            <a:off x="699840" y="3300120"/>
            <a:ext cx="7699680" cy="13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59;p1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60;p1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Strong submissions will demonstrate: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clearly validated customer problem and market opportunity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Meaningful and responsible application of AI to solve the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Technical depth through a scalable and well-designed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Product maturity supported by customer validation and measurable traction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sustainable business model with a clear go-to-market strategy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compelling vision for growth through the BITSoM Vertex incubation programme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Guidelines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is not a traditional fundraising pitch deck.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Focus on demonstrating the reasoning behind your decisions rather than making marketing claims.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61;p1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IMPORTANT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67;p1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8;p1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Startup Snapshot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7" name="Google Shape;74;p16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75;p16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81;p17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2;p17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8;p18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 has 6 pillars, not 7 equal platforms -- Greyin Hub is the shared identity layer, not a pillar itself. Of the 6, 3 revenue lines generate income directly from the corporate employer (one, Longlist, is itself a pillar; two live inside existing pillars). The other pillars generate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pillars via Greyin Hub; an AI-and-human-verified interaction gate on every social-proof signal; a Bayesian-shrunk Greyin Score counting only real work; and AI matching that turns pillar activity directly into revenue-line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89;p18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" name="Table 89"/>
          <p:cNvGraphicFramePr/>
          <p:nvPr/>
        </p:nvGraphicFramePr>
        <p:xfrm>
          <a:off x="313560" y="3719880"/>
          <a:ext cx="8620200" cy="1072800"/>
        </p:xfrm>
        <a:graphic>
          <a:graphicData uri="http://schemas.openxmlformats.org/drawingml/2006/table">
            <a:tbl>
              <a:tblPr/>
              <a:tblGrid>
                <a:gridCol w="1149840"/>
                <a:gridCol w="1949760"/>
                <a:gridCol w="1620360"/>
                <a:gridCol w="3899880"/>
              </a:tblGrid>
              <a:tr h="94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Pillar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7" name="Google Shape;95;p19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96;p19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9" name="Table 96"/>
          <p:cNvGraphicFramePr/>
          <p:nvPr/>
        </p:nvGraphicFramePr>
        <p:xfrm>
          <a:off x="313560" y="3480120"/>
          <a:ext cx="8516880" cy="1398960"/>
        </p:xfrm>
        <a:graphic>
          <a:graphicData uri="http://schemas.openxmlformats.org/drawingml/2006/table">
            <a:tbl>
              <a:tblPr/>
              <a:tblGrid>
                <a:gridCol w="2349720"/>
                <a:gridCol w="4466880"/>
                <a:gridCol w="1699920"/>
              </a:tblGrid>
              <a:tr h="9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3 pillars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102;p20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touch, and the test that separates an AI-powered product from a social network with an AI feature bolted on: remove the AI, and does the product still work? (1) Compounding data: the graph underneath our AI is real and gated against self-report -- a competitor can copy a search UI in a quarter, not manufacture years of verified interaction history. (2) A new category: Longlist matches people against roles that don't exist publicly yet -- delete the AI and this pillar is not degraded, it's impossible; there is no manual version of anticipatory matching at scale. 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103;p20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3" name="Table 103"/>
          <p:cNvGraphicFramePr/>
          <p:nvPr/>
        </p:nvGraphicFramePr>
        <p:xfrm>
          <a:off x="313560" y="4020120"/>
          <a:ext cx="8516880" cy="936000"/>
        </p:xfrm>
        <a:graphic>
          <a:graphicData uri="http://schemas.openxmlformats.org/drawingml/2006/table">
            <a:tbl>
              <a:tblPr/>
              <a:tblGrid>
                <a:gridCol w="1449720"/>
                <a:gridCol w="3399840"/>
                <a:gridCol w="3666960"/>
              </a:tblGrid>
              <a:tr h="99720">
                <a:tc>
                  <a:txBody>
                    <a:bodyPr lIns="45720" rIns="45720" tIns="18000" bIns="18000" anchor="ctr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109;p21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10;p21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116;p22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pillars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17;p22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0" name="Table 117"/>
          <p:cNvGraphicFramePr/>
          <p:nvPr/>
        </p:nvGraphicFramePr>
        <p:xfrm>
          <a:off x="313560" y="2679840"/>
          <a:ext cx="8620200" cy="1821960"/>
        </p:xfrm>
        <a:graphic>
          <a:graphicData uri="http://schemas.openxmlformats.org/drawingml/2006/table">
            <a:tbl>
              <a:tblPr/>
              <a:tblGrid>
                <a:gridCol w="1299960"/>
                <a:gridCol w="900000"/>
                <a:gridCol w="3870360"/>
                <a:gridCol w="2549880"/>
              </a:tblGrid>
              <a:tr h="129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pillars; referral-driven expert acquisition (+25 score/conversion); GreyMatters content marketing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123;p23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24;p23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30;p2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31;p2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8" name="Google Shape;137;p2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pillars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Private repository (platform handles real user data pre-launch); architecture walkthrough available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greyin.net (ecosystem hub) -- deepedge.greyin.net -- flexpro.greyin.net -- saltnpepper.greyin.net -- stackworks.greyin.net -- greymatters.greyin.net -- 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 -- rajendran.anand@live.com -- +91 98843 99915 -- linkedin.com/in/anand4585 -- 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38;p2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2026-09-02T20:58:01Z</dcterms:modified>
  <cp:revision>2</cp:revision>
  <dc:subject/>
  <dc:title/>
</cp:coreProperties>
</file>