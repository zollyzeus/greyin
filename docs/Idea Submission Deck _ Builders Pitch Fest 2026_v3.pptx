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Manrope"/>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font" Target="fonts/Manrope-regular.fntdata"/><Relationship Id="rId21" Type="http://schemas.openxmlformats.org/officeDocument/2006/relationships/font" Target="fonts/Manrop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f6634a1906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f6634a190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6634a1906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6634a1906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6634a1906_1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6634a1906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634a1906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6634a1906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6634a1906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6634a1906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6634a1906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6634a1906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f6634a1906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f6634a1906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6634a1906_1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6634a1906_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6634a1906_1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6634a1906_1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f6634a1906_1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f6634a1906_1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f6634a1906_1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f6634a1906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6634a1906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6634a1906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6634a190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6634a190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Frame 1618875604.png"/>
          <p:cNvPicPr preferRelativeResize="0"/>
          <p:nvPr/>
        </p:nvPicPr>
        <p:blipFill>
          <a:blip r:embed="rId3">
            <a:alphaModFix/>
          </a:blip>
          <a:stretch>
            <a:fillRect/>
          </a:stretch>
        </p:blipFill>
        <p:spPr>
          <a:xfrm>
            <a:off x="0" y="0"/>
            <a:ext cx="9143992" cy="5143501"/>
          </a:xfrm>
          <a:prstGeom prst="rect">
            <a:avLst/>
          </a:prstGeom>
          <a:noFill/>
          <a:ln>
            <a:noFill/>
          </a:ln>
        </p:spPr>
      </p:pic>
      <p:sp>
        <p:nvSpPr>
          <p:cNvPr id="55" name="TextBox 54"/>
          <p:cNvSpPr txBox="1"/>
          <p:nvPr/>
        </p:nvSpPr>
        <p:spPr>
          <a:xfrm>
            <a:off x="700000" y="3300000"/>
            <a:ext cx="7700000" cy="1650000"/>
          </a:xfrm>
          <a:prstGeom prst="rect">
            <a:avLst/>
          </a:prstGeom>
          <a:noFill/>
        </p:spPr>
        <p:txBody>
          <a:bodyPr wrap="square">
            <a:spAutoFit/>
          </a:bodyPr>
          <a:lstStyle/>
          <a:p>
            <a:pPr algn="l"/>
            <a:r>
              <a:rPr sz="4000" b="1">
                <a:solidFill>
                  <a:srgbClr val="1F2A44"/>
                </a:solidFill>
                <a:latin typeface="Arial"/>
              </a:rPr>
              <a:t>Greyin</a:t>
            </a:r>
          </a:p>
          <a:p>
            <a:pPr algn="l">
              <a:spcBef>
                <a:spcPts val="600"/>
              </a:spcBef>
            </a:pPr>
            <a:r>
              <a:rPr sz="1600" b="0">
                <a:solidFill>
                  <a:srgbClr val="EC6B3D"/>
                </a:solidFill>
                <a:latin typeface="Arial"/>
              </a:rPr>
              <a:t>The AI-native trust and verification layer for hiring experienced talent</a:t>
            </a:r>
          </a:p>
          <a:p>
            <a:pPr algn="l">
              <a:spcBef>
                <a:spcPts val="1000"/>
              </a:spcBef>
            </a:pPr>
            <a:r>
              <a:rPr sz="1300" b="0">
                <a:solidFill>
                  <a:srgbClr val="555555"/>
                </a:solidFill>
                <a:latin typeface="Arial"/>
              </a:rPr>
              <a:t>7 connected platforms. 5 live AI systems. One AI-verified identity. greyin.net</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60" name="Google Shape;60;p14"/>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000">
                <a:solidFill>
                  <a:schemeClr val="accent2"/>
                </a:solidFill>
                <a:latin typeface="Manrope"/>
                <a:ea typeface="Manrope"/>
                <a:cs typeface="Manrope"/>
                <a:sym typeface="Manrope"/>
              </a:rPr>
              <a:t>This submission deck is designed to help you present your startup in a structured and consistent manner. It enables reviewers to evaluate your solution across product, technology, AI innovation, business viability, customer validation, and enterprise readiness.</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rPr b="1" lang="en-GB" sz="1000">
                <a:solidFill>
                  <a:schemeClr val="accent2"/>
                </a:solidFill>
                <a:latin typeface="Manrope"/>
                <a:ea typeface="Manrope"/>
                <a:cs typeface="Manrope"/>
                <a:sym typeface="Manrope"/>
              </a:rPr>
              <a:t>Strong submissions will demonstrate:</a:t>
            </a:r>
            <a:endParaRPr b="1" sz="1000">
              <a:solidFill>
                <a:schemeClr val="accent2"/>
              </a:solidFill>
              <a:latin typeface="Manrope"/>
              <a:ea typeface="Manrope"/>
              <a:cs typeface="Manrope"/>
              <a:sym typeface="Manrope"/>
            </a:endParaRPr>
          </a:p>
          <a:p>
            <a:pPr indent="0" lvl="0" marL="0" rtl="0" algn="l">
              <a:spcBef>
                <a:spcPts val="0"/>
              </a:spcBef>
              <a:spcAft>
                <a:spcPts val="0"/>
              </a:spcAft>
              <a:buNone/>
            </a:pPr>
            <a:r>
              <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A clearly validated customer problem and market opportunity</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Meaningful and responsible application of AI to solve the problem</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Technical depth through a scalable and well-designed architecture</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Product maturity supported by customer validation and measurable traction</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A sustainable business model with a clear go-to-market strategy</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A compelling vision for growth through the BITSoM Vertex incubation programme</a:t>
            </a:r>
            <a:endParaRPr sz="1000">
              <a:solidFill>
                <a:schemeClr val="accent2"/>
              </a:solidFill>
              <a:latin typeface="Manrope"/>
              <a:ea typeface="Manrope"/>
              <a:cs typeface="Manrope"/>
              <a:sym typeface="Manrope"/>
            </a:endParaRPr>
          </a:p>
          <a:p>
            <a:pPr indent="0" lvl="0" marL="457200" rtl="0" algn="l">
              <a:spcBef>
                <a:spcPts val="0"/>
              </a:spcBef>
              <a:spcAft>
                <a:spcPts val="0"/>
              </a:spcAft>
              <a:buNone/>
            </a:pPr>
            <a:r>
              <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rPr b="1" lang="en-GB" sz="1000">
                <a:solidFill>
                  <a:schemeClr val="accent2"/>
                </a:solidFill>
                <a:latin typeface="Manrope"/>
                <a:ea typeface="Manrope"/>
                <a:cs typeface="Manrope"/>
                <a:sym typeface="Manrope"/>
              </a:rPr>
              <a:t>Guidelines</a:t>
            </a:r>
            <a:br>
              <a:rPr b="1" lang="en-GB" sz="1000">
                <a:solidFill>
                  <a:schemeClr val="accent2"/>
                </a:solidFill>
                <a:latin typeface="Manrope"/>
                <a:ea typeface="Manrope"/>
                <a:cs typeface="Manrope"/>
                <a:sym typeface="Manrope"/>
              </a:rPr>
            </a:br>
            <a:endParaRPr b="1"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This is not a traditional fundraising pitch deck.</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Focus on demonstrating the reasoning behind your decisions rather than making marketing claims.</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Wherever applicable, support your responses with evidence, metrics, customer insights, product screenshots, architecture diagrams, user journeys, and other relevant visuals.</a:t>
            </a:r>
            <a:endParaRPr sz="1000">
              <a:solidFill>
                <a:schemeClr val="accent2"/>
              </a:solidFill>
              <a:latin typeface="Manrope"/>
              <a:ea typeface="Manrope"/>
              <a:cs typeface="Manrope"/>
              <a:sym typeface="Manrope"/>
            </a:endParaRPr>
          </a:p>
          <a:p>
            <a:pPr indent="-292100" lvl="0" marL="457200" rtl="0" algn="l">
              <a:spcBef>
                <a:spcPts val="0"/>
              </a:spcBef>
              <a:spcAft>
                <a:spcPts val="0"/>
              </a:spcAft>
              <a:buClr>
                <a:schemeClr val="accent2"/>
              </a:buClr>
              <a:buSzPts val="1000"/>
              <a:buFont typeface="Manrope"/>
              <a:buChar char="●"/>
            </a:pPr>
            <a:r>
              <a:rPr lang="en-GB" sz="1000">
                <a:solidFill>
                  <a:schemeClr val="accent2"/>
                </a:solidFill>
                <a:latin typeface="Manrope"/>
                <a:ea typeface="Manrope"/>
                <a:cs typeface="Manrope"/>
                <a:sym typeface="Manrope"/>
              </a:rPr>
              <a:t>Not every question may be applicable to every startup. Answer the questions that are most relevant to your solution and provide sufficient context to help reviewers understand your approach.</a:t>
            </a:r>
            <a:endParaRPr sz="1000">
              <a:solidFill>
                <a:schemeClr val="accent2"/>
              </a:solidFill>
              <a:latin typeface="Manrope"/>
              <a:ea typeface="Manrope"/>
              <a:cs typeface="Manrope"/>
              <a:sym typeface="Manrope"/>
            </a:endParaRPr>
          </a:p>
          <a:p>
            <a:pPr indent="0" lvl="0" marL="0" rtl="0" algn="l">
              <a:spcBef>
                <a:spcPts val="0"/>
              </a:spcBef>
              <a:spcAft>
                <a:spcPts val="0"/>
              </a:spcAft>
              <a:buNone/>
            </a:pPr>
            <a:r>
              <a:t/>
            </a:r>
            <a:endParaRPr sz="1000">
              <a:solidFill>
                <a:schemeClr val="accent2"/>
              </a:solidFill>
              <a:latin typeface="Manrope"/>
              <a:ea typeface="Manrope"/>
              <a:cs typeface="Manrope"/>
              <a:sym typeface="Manrope"/>
            </a:endParaRPr>
          </a:p>
        </p:txBody>
      </p:sp>
      <p:sp>
        <p:nvSpPr>
          <p:cNvPr id="61" name="Google Shape;61;p14"/>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IMPORTANT</a:t>
            </a:r>
            <a:endParaRPr b="1" sz="1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67" name="Google Shape;67;p15"/>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problem are you trying to solve</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Senior, experienced professionals (12+ years) are filtered out by keyword-matching ATS software and made redundant by restructuring -- not because they stopped being good at the work, but because nothing proves it at scale. Greyin is a single-identity ecosystem of 7 connected platforms where an AI-driven verification and matching layer turns real work -- a completed project, a real review, a real deliverable -- into a portable, audited trust score employers can actually search against.</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What inspired you to work on this problem?</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The gap became obvious building each pillar as its own product first: a hiring platform where “verified” meant nothing beyond a resume upload, a freelance marketplace with no real proof of delivery. Manual review doesn't scale past a handful of profiles -- AI is what makes verifying thousands of real interactions, and matching against them accurately, actually possible.</a:t>
            </a:r>
          </a:p>
        </p:txBody>
      </p:sp>
      <p:sp>
        <p:nvSpPr>
          <p:cNvPr id="68" name="Google Shape;68;p15"/>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GB" sz="1800">
                <a:solidFill>
                  <a:schemeClr val="dk1"/>
                </a:solidFill>
              </a:rPr>
              <a:t>Startup Snapshot</a:t>
            </a:r>
            <a:endParaRPr b="1"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id="73" name="Google Shape;73;p16"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74" name="Google Shape;74;p16"/>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problem are you solving, and who experiences it most acutely?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Professionals with 12-30+ years of experience feel it most acutely: overqualified for junior ATS filters, with no structured way to prove a real track record short of a reference call. Employers feel the inverse -- unable to tell a genuinely Verified Expert from a well-formatted resume until well into an expensive interview process, and with no visibility into who's a fit for a role that doesn't exist yet.</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What research, observations, or evidence validate this opportunity?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Built directly from this platform's own construction: every pillar that launched with a self-reported trust signal (an unverified “connection,” a self-picked seniority flag) had to be re-audited and re-gated to a real, AI-and-human-verified interaction once real usage began. That re-audit is the direct evidence: unverified social proof is the default failure mode of every adjacent product, and only a verification layer with AI doing the heavy lifting can close it at any real scale.</a:t>
            </a:r>
          </a:p>
        </p:txBody>
      </p:sp>
      <p:sp>
        <p:nvSpPr>
          <p:cNvPr id="75" name="Google Shape;75;p16"/>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Clr>
                <a:schemeClr val="dk1"/>
              </a:buClr>
              <a:buSzPts val="1100"/>
              <a:buFont typeface="Arial"/>
              <a:buNone/>
            </a:pPr>
            <a:r>
              <a:rPr b="1" lang="en-GB" sz="2300">
                <a:solidFill>
                  <a:schemeClr val="dk1"/>
                </a:solidFill>
              </a:rPr>
              <a:t>Problem Understanding</a:t>
            </a:r>
            <a:endParaRPr b="1"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81" name="Google Shape;81;p17"/>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Who is your ideal customer, and who would make the buying decision?</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The paying customer is the corporate employer: a hiring manager, talent-acquisition lead, or Head of Talent at a company that regularly hires senior/fractional talent and is tired of paying recruiter fees or burning interview cycles on unverifiable resumes. Individual professionals (12+ years -- senior ICs, directors, fractional executives) are the free, identity-led supply side; the enterprise buyer is who Greyin is built to monetize, budget-line by budget-line: recruiting spend, workforce-planning spend, and L&amp;D/mentorship spend.</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How large is the opportunity if your assumptions prove correct?</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India alone has tens of millions of professionals past the 12-year mark and a multi-billion-dollar enterprise recruiting spend category already. Three separate employer budget lines are addressable: recruiting spend redirected from traditional job boards and recruiter fees toward a Verified Expert search subscription; workforce-planning spend for Longlist's anticipatory pipeline, a category with no real incumbent today; and freelance/advisory spend redirected from 20%+-commission marketplaces toward FreeAgent's 0%-commission model.</a:t>
            </a:r>
          </a:p>
        </p:txBody>
      </p:sp>
      <p:sp>
        <p:nvSpPr>
          <p:cNvPr id="82" name="Google Shape;82;p17"/>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Customer &amp; Opportunity</a:t>
            </a:r>
            <a:endParaRPr b="1"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pic>
        <p:nvPicPr>
          <p:cNvPr id="87" name="Google Shape;87;p18"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88" name="Google Shape;88;p18"/>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is your proposed solution, and how does it address the identified problem?</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Greyin runs on two tiers, not seven equal platforms. Three Primary tiers generate revenue directly from the corporate employer. Four Supporting pillars generate the quality profiles, engagement, and verified interactions that feed the Greyin Score -- the actual signal the Primary tiers sell. See the breakdown below.</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are the key capabilities you envision?</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 single AI-verified identity across all 7 apps; an AI-and-human-verified interaction gate on every social-proof signal; a Bayesian-shrunk Greyin Score counting only real work; and AI matching that turns Supporting-tier activity directly into Primary-tier revenue.</a:t>
            </a:r>
          </a:p>
          <a:p>
            <a:pPr indent="-298450" lvl="0" marL="457200" rtl="0" algn="l">
              <a:lnSpc>
                <a:spcPct val="115000"/>
              </a:lnSpc>
              <a:spcBef>
                <a:spcPts val="0"/>
              </a:spcBef>
              <a:spcAft>
                <a:spcPts val="1200"/>
              </a:spcAft>
              <a:buClr>
                <a:schemeClr val="dk1"/>
              </a:buClr>
              <a:buSzPts val="1100"/>
              <a:buAutoNum type="arabicPeriod"/>
            </a:pPr>
            <a:r>
              <a:rPr b="1" lang="en-GB" sz="1100">
                <a:solidFill>
                  <a:schemeClr val="dk1"/>
                </a:solidFill>
              </a:rPr>
              <a:t>What measurable value do you expect the solution to deliver?</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Three distinct paid budget lines for employers; one compounding score for individuals; a free Supporting tier whose real output -- score integrity -- is what the Primary tier actually monetizes.</a:t>
            </a:r>
          </a:p>
        </p:txBody>
      </p:sp>
      <p:sp>
        <p:nvSpPr>
          <p:cNvPr id="89" name="Google Shape;89;p18"/>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Proposed Solution</a:t>
            </a:r>
            <a:endParaRPr b="1" sz="1800">
              <a:solidFill>
                <a:schemeClr val="dk1"/>
              </a:solidFill>
            </a:endParaRPr>
          </a:p>
        </p:txBody>
      </p:sp>
      <p:graphicFrame>
        <p:nvGraphicFramePr>
          <p:cNvPr id="90" name="Table 89"/>
          <p:cNvGraphicFramePr>
            <a:graphicFrameLocks noGrp="1"/>
          </p:cNvGraphicFramePr>
          <p:nvPr/>
        </p:nvGraphicFramePr>
        <p:xfrm>
          <a:off x="313450" y="3720000"/>
          <a:ext cx="8620550" cy="1026000"/>
        </p:xfrm>
        <a:graphic>
          <a:graphicData uri="http://schemas.openxmlformats.org/drawingml/2006/table">
            <a:tbl>
              <a:tblPr firstRow="1" bandRow="1">
                <a:tableStyleId>{5C22544A-7EE6-4342-B048-85BDC9FD1C3A}</a:tableStyleId>
              </a:tblPr>
              <a:tblGrid>
                <a:gridCol w="950000"/>
                <a:gridCol w="2470550"/>
                <a:gridCol w="5200000"/>
              </a:tblGrid>
              <a:tr h="95000">
                <a:tc>
                  <a:txBody>
                    <a:bodyPr/>
                    <a:lstStyle/>
                    <a:p>
                      <a:pPr algn="l"/>
                      <a:r>
                        <a:rPr sz="750" b="1">
                          <a:solidFill>
                            <a:srgbClr val="FFFFFF"/>
                          </a:solidFill>
                          <a:latin typeface="Arial"/>
                        </a:rPr>
                        <a:t>Tier</a:t>
                      </a:r>
                    </a:p>
                  </a:txBody>
                  <a:tcPr marL="45720" marR="45720" marT="18288" marB="18288" anchor="ctr">
                    <a:solidFill>
                      <a:srgbClr val="1F2A44"/>
                    </a:solidFill>
                  </a:tcPr>
                </a:tc>
                <a:tc>
                  <a:txBody>
                    <a:bodyPr/>
                    <a:lstStyle/>
                    <a:p>
                      <a:pPr algn="l"/>
                      <a:r>
                        <a:rPr sz="750" b="1">
                          <a:solidFill>
                            <a:srgbClr val="FFFFFF"/>
                          </a:solidFill>
                          <a:latin typeface="Arial"/>
                        </a:rPr>
                        <a:t>Pillar</a:t>
                      </a:r>
                    </a:p>
                  </a:txBody>
                  <a:tcPr marL="45720" marR="45720" marT="18288" marB="18288" anchor="ctr">
                    <a:solidFill>
                      <a:srgbClr val="1F2A44"/>
                    </a:solidFill>
                  </a:tcPr>
                </a:tc>
                <a:tc>
                  <a:txBody>
                    <a:bodyPr/>
                    <a:lstStyle/>
                    <a:p>
                      <a:pPr algn="l"/>
                      <a:r>
                        <a:rPr sz="750" b="1">
                          <a:solidFill>
                            <a:srgbClr val="FFFFFF"/>
                          </a:solidFill>
                          <a:latin typeface="Arial"/>
                        </a:rPr>
                        <a:t>Role</a:t>
                      </a:r>
                    </a:p>
                  </a:txBody>
                  <a:tcPr marL="45720" marR="45720" marT="18288" marB="18288" anchor="ctr">
                    <a:solidFill>
                      <a:srgbClr val="1F2A44"/>
                    </a:solidFill>
                  </a:tcPr>
                </a:tc>
              </a:tr>
              <a:tr h="133000">
                <a:tc>
                  <a:txBody>
                    <a:bodyPr/>
                    <a:lstStyle/>
                    <a:p>
                      <a:pPr algn="l"/>
                      <a:r>
                        <a:rPr sz="700" b="1">
                          <a:solidFill>
                            <a:srgbClr val="EC6B3D"/>
                          </a:solidFill>
                          <a:latin typeface="Arial"/>
                        </a:rPr>
                        <a:t>PRIMARY</a:t>
                      </a:r>
                    </a:p>
                  </a:txBody>
                  <a:tcPr marL="45720" marR="45720" marT="18288" marB="18288" anchor="ctr">
                    <a:solidFill>
                      <a:srgbClr val="FBE4D8"/>
                    </a:solidFill>
                  </a:tcPr>
                </a:tc>
                <a:tc>
                  <a:txBody>
                    <a:bodyPr/>
                    <a:lstStyle/>
                    <a:p>
                      <a:pPr algn="l"/>
                      <a:r>
                        <a:rPr sz="720" b="1">
                          <a:solidFill>
                            <a:srgbClr val="1F2A44"/>
                          </a:solidFill>
                          <a:latin typeface="Arial"/>
                        </a:rPr>
                        <a:t>Outplacement</a:t>
                      </a:r>
                    </a:p>
                  </a:txBody>
                  <a:tcPr marL="45720" marR="45720" marT="18288" marB="18288" anchor="ctr">
                    <a:solidFill>
                      <a:srgbClr val="FBE4D8"/>
                    </a:solidFill>
                  </a:tcPr>
                </a:tc>
                <a:tc>
                  <a:txBody>
                    <a:bodyPr/>
                    <a:lstStyle/>
                    <a:p>
                      <a:pPr algn="l"/>
                      <a:r>
                        <a:rPr sz="700" b="0">
                          <a:solidFill>
                            <a:srgbClr val="333333"/>
                          </a:solidFill>
                          <a:latin typeface="Arial"/>
                        </a:rPr>
                        <a:t>Enterprise pays per-headcount, per engagement -- departing employees routed into the Verified Expert ecosystem</a:t>
                      </a:r>
                    </a:p>
                  </a:txBody>
                  <a:tcPr marL="45720" marR="45720" marT="18288" marB="18288" anchor="ctr">
                    <a:solidFill>
                      <a:srgbClr val="FBE4D8"/>
                    </a:solidFill>
                  </a:tcPr>
                </a:tc>
              </a:tr>
              <a:tr h="133000">
                <a:tc>
                  <a:txBody>
                    <a:bodyPr/>
                    <a:lstStyle/>
                    <a:p>
                      <a:pPr algn="l"/>
                      <a:r>
                        <a:rPr sz="700" b="1">
                          <a:solidFill>
                            <a:srgbClr val="EC6B3D"/>
                          </a:solidFill>
                          <a:latin typeface="Arial"/>
                        </a:rPr>
                        <a:t>PRIMARY</a:t>
                      </a:r>
                    </a:p>
                  </a:txBody>
                  <a:tcPr marL="45720" marR="45720" marT="18288" marB="18288" anchor="ctr">
                    <a:solidFill>
                      <a:srgbClr val="FBE4D8"/>
                    </a:solidFill>
                  </a:tcPr>
                </a:tc>
                <a:tc>
                  <a:txBody>
                    <a:bodyPr/>
                    <a:lstStyle/>
                    <a:p>
                      <a:pPr algn="l"/>
                      <a:r>
                        <a:rPr sz="720" b="1">
                          <a:solidFill>
                            <a:srgbClr val="1F2A44"/>
                          </a:solidFill>
                          <a:latin typeface="Arial"/>
                        </a:rPr>
                        <a:t>Coaching (Mentorship)</a:t>
                      </a:r>
                    </a:p>
                  </a:txBody>
                  <a:tcPr marL="45720" marR="45720" marT="18288" marB="18288" anchor="ctr">
                    <a:solidFill>
                      <a:srgbClr val="FBE4D8"/>
                    </a:solidFill>
                  </a:tcPr>
                </a:tc>
                <a:tc>
                  <a:txBody>
                    <a:bodyPr/>
                    <a:lstStyle/>
                    <a:p>
                      <a:pPr algn="l"/>
                      <a:r>
                        <a:rPr sz="700" b="0">
                          <a:solidFill>
                            <a:srgbClr val="333333"/>
                          </a:solidFill>
                          <a:latin typeface="Arial"/>
                        </a:rPr>
                        <a:t>Verified Experts monetize expertise directly -- sessions, cohorts, packages, recordings; platform take-rate</a:t>
                      </a:r>
                    </a:p>
                  </a:txBody>
                  <a:tcPr marL="45720" marR="45720" marT="18288" marB="18288" anchor="ctr">
                    <a:solidFill>
                      <a:srgbClr val="FBE4D8"/>
                    </a:solidFill>
                  </a:tcPr>
                </a:tc>
              </a:tr>
              <a:tr h="133000">
                <a:tc>
                  <a:txBody>
                    <a:bodyPr/>
                    <a:lstStyle/>
                    <a:p>
                      <a:pPr algn="l"/>
                      <a:r>
                        <a:rPr sz="700" b="1">
                          <a:solidFill>
                            <a:srgbClr val="EC6B3D"/>
                          </a:solidFill>
                          <a:latin typeface="Arial"/>
                        </a:rPr>
                        <a:t>PRIMARY</a:t>
                      </a:r>
                    </a:p>
                  </a:txBody>
                  <a:tcPr marL="45720" marR="45720" marT="18288" marB="18288" anchor="ctr">
                    <a:solidFill>
                      <a:srgbClr val="FBE4D8"/>
                    </a:solidFill>
                  </a:tcPr>
                </a:tc>
                <a:tc>
                  <a:txBody>
                    <a:bodyPr/>
                    <a:lstStyle/>
                    <a:p>
                      <a:pPr algn="l"/>
                      <a:r>
                        <a:rPr sz="720" b="1">
                          <a:solidFill>
                            <a:srgbClr val="1F2A44"/>
                          </a:solidFill>
                          <a:latin typeface="Arial"/>
                        </a:rPr>
                        <a:t>Future Hiring Pipeline (Longlist)</a:t>
                      </a:r>
                    </a:p>
                  </a:txBody>
                  <a:tcPr marL="45720" marR="45720" marT="18288" marB="18288" anchor="ctr">
                    <a:solidFill>
                      <a:srgbClr val="FBE4D8"/>
                    </a:solidFill>
                  </a:tcPr>
                </a:tc>
                <a:tc>
                  <a:txBody>
                    <a:bodyPr/>
                    <a:lstStyle/>
                    <a:p>
                      <a:pPr algn="l"/>
                      <a:r>
                        <a:rPr sz="700" b="0">
                          <a:solidFill>
                            <a:srgbClr val="333333"/>
                          </a:solidFill>
                          <a:latin typeface="Arial"/>
                        </a:rPr>
                        <a:t>Enterprise pays for AI-matched, anticipatory access to talent 3-12 months before a role opens</a:t>
                      </a:r>
                    </a:p>
                  </a:txBody>
                  <a:tcPr marL="45720" marR="45720" marT="18288" marB="18288" anchor="ctr">
                    <a:solidFill>
                      <a:srgbClr val="FBE4D8"/>
                    </a:solidFill>
                  </a:tcPr>
                </a:tc>
              </a:tr>
              <a:tr h="133000">
                <a:tc>
                  <a:txBody>
                    <a:bodyPr/>
                    <a:lstStyle/>
                    <a:p>
                      <a:pPr algn="l"/>
                      <a:r>
                        <a:rPr sz="700" b="1">
                          <a:solidFill>
                            <a:srgbClr val="555555"/>
                          </a:solidFill>
                          <a:latin typeface="Arial"/>
                        </a:rPr>
                        <a:t>Supporting</a:t>
                      </a:r>
                    </a:p>
                  </a:txBody>
                  <a:tcPr marL="45720" marR="45720" marT="18288" marB="18288" anchor="ctr">
                    <a:solidFill>
                      <a:srgbClr val="F0F0F0"/>
                    </a:solidFill>
                  </a:tcPr>
                </a:tc>
                <a:tc>
                  <a:txBody>
                    <a:bodyPr/>
                    <a:lstStyle/>
                    <a:p>
                      <a:pPr algn="l"/>
                      <a:r>
                        <a:rPr sz="720" b="1">
                          <a:solidFill>
                            <a:srgbClr val="1F2A44"/>
                          </a:solidFill>
                          <a:latin typeface="Arial"/>
                        </a:rPr>
                        <a:t>ExpertEdge (core hiring)</a:t>
                      </a:r>
                    </a:p>
                  </a:txBody>
                  <a:tcPr marL="45720" marR="45720" marT="18288" marB="18288" anchor="ctr">
                    <a:solidFill>
                      <a:srgbClr val="F0F0F0"/>
                    </a:solidFill>
                  </a:tcPr>
                </a:tc>
                <a:tc>
                  <a:txBody>
                    <a:bodyPr/>
                    <a:lstStyle/>
                    <a:p>
                      <a:pPr algn="l"/>
                      <a:r>
                        <a:rPr sz="700" b="0">
                          <a:solidFill>
                            <a:srgbClr val="333333"/>
                          </a:solidFill>
                          <a:latin typeface="Arial"/>
                        </a:rPr>
                        <a:t>Verified job board + candidate database -- every real hire strengthens the Score the Primary tier sells</a:t>
                      </a:r>
                    </a:p>
                  </a:txBody>
                  <a:tcPr marL="45720" marR="45720" marT="18288" marB="18288" anchor="ctr">
                    <a:solidFill>
                      <a:srgbClr val="F0F0F0"/>
                    </a:solidFill>
                  </a:tcPr>
                </a:tc>
              </a:tr>
              <a:tr h="133000">
                <a:tc>
                  <a:txBody>
                    <a:bodyPr/>
                    <a:lstStyle/>
                    <a:p>
                      <a:pPr algn="l"/>
                      <a:r>
                        <a:rPr sz="700" b="1">
                          <a:solidFill>
                            <a:srgbClr val="555555"/>
                          </a:solidFill>
                          <a:latin typeface="Arial"/>
                        </a:rPr>
                        <a:t>Supporting</a:t>
                      </a:r>
                    </a:p>
                  </a:txBody>
                  <a:tcPr marL="45720" marR="45720" marT="18288" marB="18288" anchor="ctr">
                    <a:solidFill>
                      <a:srgbClr val="F0F0F0"/>
                    </a:solidFill>
                  </a:tcPr>
                </a:tc>
                <a:tc>
                  <a:txBody>
                    <a:bodyPr/>
                    <a:lstStyle/>
                    <a:p>
                      <a:pPr algn="l"/>
                      <a:r>
                        <a:rPr sz="720" b="1">
                          <a:solidFill>
                            <a:srgbClr val="1F2A44"/>
                          </a:solidFill>
                          <a:latin typeface="Arial"/>
                        </a:rPr>
                        <a:t>FreeAgent</a:t>
                      </a:r>
                    </a:p>
                  </a:txBody>
                  <a:tcPr marL="45720" marR="45720" marT="18288" marB="18288" anchor="ctr">
                    <a:solidFill>
                      <a:srgbClr val="F0F0F0"/>
                    </a:solidFill>
                  </a:tcPr>
                </a:tc>
                <a:tc>
                  <a:txBody>
                    <a:bodyPr/>
                    <a:lstStyle/>
                    <a:p>
                      <a:pPr algn="l"/>
                      <a:r>
                        <a:rPr sz="700" b="0">
                          <a:solidFill>
                            <a:srgbClr val="333333"/>
                          </a:solidFill>
                          <a:latin typeface="Arial"/>
                        </a:rPr>
                        <a:t>0%-commission gig delivery -- feeds verified-outcome reviews into the Score</a:t>
                      </a:r>
                    </a:p>
                  </a:txBody>
                  <a:tcPr marL="45720" marR="45720" marT="18288" marB="18288" anchor="ctr">
                    <a:solidFill>
                      <a:srgbClr val="F0F0F0"/>
                    </a:solidFill>
                  </a:tcPr>
                </a:tc>
              </a:tr>
              <a:tr h="133000">
                <a:tc>
                  <a:txBody>
                    <a:bodyPr/>
                    <a:lstStyle/>
                    <a:p>
                      <a:pPr algn="l"/>
                      <a:r>
                        <a:rPr sz="700" b="1">
                          <a:solidFill>
                            <a:srgbClr val="555555"/>
                          </a:solidFill>
                          <a:latin typeface="Arial"/>
                        </a:rPr>
                        <a:t>Supporting</a:t>
                      </a:r>
                    </a:p>
                  </a:txBody>
                  <a:tcPr marL="45720" marR="45720" marT="18288" marB="18288" anchor="ctr">
                    <a:solidFill>
                      <a:srgbClr val="F0F0F0"/>
                    </a:solidFill>
                  </a:tcPr>
                </a:tc>
                <a:tc>
                  <a:txBody>
                    <a:bodyPr/>
                    <a:lstStyle/>
                    <a:p>
                      <a:pPr algn="l"/>
                      <a:r>
                        <a:rPr sz="720" b="1">
                          <a:solidFill>
                            <a:srgbClr val="1F2A44"/>
                          </a:solidFill>
                          <a:latin typeface="Arial"/>
                        </a:rPr>
                        <a:t>StackEdge</a:t>
                      </a:r>
                    </a:p>
                  </a:txBody>
                  <a:tcPr marL="45720" marR="45720" marT="18288" marB="18288" anchor="ctr">
                    <a:solidFill>
                      <a:srgbClr val="F0F0F0"/>
                    </a:solidFill>
                  </a:tcPr>
                </a:tc>
                <a:tc>
                  <a:txBody>
                    <a:bodyPr/>
                    <a:lstStyle/>
                    <a:p>
                      <a:pPr algn="l"/>
                      <a:r>
                        <a:rPr sz="700" b="0">
                          <a:solidFill>
                            <a:srgbClr val="333333"/>
                          </a:solidFill>
                          <a:latin typeface="Arial"/>
                        </a:rPr>
                        <a:t>Real project delivery, AI+human verified -- the single strongest Score input</a:t>
                      </a:r>
                    </a:p>
                  </a:txBody>
                  <a:tcPr marL="45720" marR="45720" marT="18288" marB="18288" anchor="ctr">
                    <a:solidFill>
                      <a:srgbClr val="F0F0F0"/>
                    </a:solidFill>
                  </a:tcPr>
                </a:tc>
              </a:tr>
              <a:tr h="133000">
                <a:tc>
                  <a:txBody>
                    <a:bodyPr/>
                    <a:lstStyle/>
                    <a:p>
                      <a:pPr algn="l"/>
                      <a:r>
                        <a:rPr sz="700" b="1">
                          <a:solidFill>
                            <a:srgbClr val="555555"/>
                          </a:solidFill>
                          <a:latin typeface="Arial"/>
                        </a:rPr>
                        <a:t>Supporting</a:t>
                      </a:r>
                    </a:p>
                  </a:txBody>
                  <a:tcPr marL="45720" marR="45720" marT="18288" marB="18288" anchor="ctr">
                    <a:solidFill>
                      <a:srgbClr val="F0F0F0"/>
                    </a:solidFill>
                  </a:tcPr>
                </a:tc>
                <a:tc>
                  <a:txBody>
                    <a:bodyPr/>
                    <a:lstStyle/>
                    <a:p>
                      <a:pPr algn="l"/>
                      <a:r>
                        <a:rPr sz="720" b="1">
                          <a:solidFill>
                            <a:srgbClr val="1F2A44"/>
                          </a:solidFill>
                          <a:latin typeface="Arial"/>
                        </a:rPr>
                        <a:t>Salt &amp; Pepper + GreyMatters</a:t>
                      </a:r>
                    </a:p>
                  </a:txBody>
                  <a:tcPr marL="45720" marR="45720" marT="18288" marB="18288" anchor="ctr">
                    <a:solidFill>
                      <a:srgbClr val="F0F0F0"/>
                    </a:solidFill>
                  </a:tcPr>
                </a:tc>
                <a:tc>
                  <a:txBody>
                    <a:bodyPr/>
                    <a:lstStyle/>
                    <a:p>
                      <a:pPr algn="l"/>
                      <a:r>
                        <a:rPr sz="700" b="0">
                          <a:solidFill>
                            <a:srgbClr val="333333"/>
                          </a:solidFill>
                          <a:latin typeface="Arial"/>
                        </a:rPr>
                        <a:t>Community engagement + published expertise -- reputation and credibility signal, plus organic reach</a:t>
                      </a:r>
                    </a:p>
                  </a:txBody>
                  <a:tcPr marL="45720" marR="45720" marT="18288" marB="18288" anchor="ctr">
                    <a:solidFill>
                      <a:srgbClr val="F0F0F0"/>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19"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95" name="Google Shape;95;p19"/>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role will AI play in your proposed solution, and why is it essential?</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The mechanism that makes “verified” scale past manual review -- and what employers actually pay for, not a chatbot bolted onto a directory. Five AI systems live in production today, each one gating or ranking real data:</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technologies, AI models, or frameworks do you plan to use, and why?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 pluggable, admin-configurable LLM registry (Anthropic, OpenAI, self-hosted Ollama fallback) behind every feature below -- never locked to one vendor, degrades gracefully instead of breaking a paying customer's workflow.</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makes you feel your product is a genuine AI product, and not an AI wrapper?</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Every call changes what data exists afterward -- a score gates publishing, a match surfaces a real candidate, an AI-plus-human score becomes a permanent record. Load-bearing in the data model, not a chat layer wrapped around one.</a:t>
            </a:r>
          </a:p>
        </p:txBody>
      </p:sp>
      <p:sp>
        <p:nvSpPr>
          <p:cNvPr id="96" name="Google Shape;96;p19"/>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Technology &amp; AI Approach</a:t>
            </a:r>
            <a:endParaRPr b="1" sz="1800">
              <a:solidFill>
                <a:schemeClr val="dk1"/>
              </a:solidFill>
            </a:endParaRPr>
          </a:p>
        </p:txBody>
      </p:sp>
      <p:graphicFrame>
        <p:nvGraphicFramePr>
          <p:cNvPr id="97" name="Table 96"/>
          <p:cNvGraphicFramePr>
            <a:graphicFrameLocks noGrp="1"/>
          </p:cNvGraphicFramePr>
          <p:nvPr/>
        </p:nvGraphicFramePr>
        <p:xfrm>
          <a:off x="313450" y="3550000"/>
          <a:ext cx="8517100" cy="890000"/>
        </p:xfrm>
        <a:graphic>
          <a:graphicData uri="http://schemas.openxmlformats.org/drawingml/2006/table">
            <a:tbl>
              <a:tblPr firstRow="1" bandRow="1">
                <a:tableStyleId>{5C22544A-7EE6-4342-B048-85BDC9FD1C3A}</a:tableStyleId>
              </a:tblPr>
              <a:tblGrid>
                <a:gridCol w="2100000"/>
                <a:gridCol w="3100000"/>
                <a:gridCol w="3317100"/>
              </a:tblGrid>
              <a:tr h="140000">
                <a:tc>
                  <a:txBody>
                    <a:bodyPr/>
                    <a:lstStyle/>
                    <a:p>
                      <a:pPr algn="l"/>
                      <a:r>
                        <a:rPr sz="800" b="1">
                          <a:solidFill>
                            <a:srgbClr val="FFFFFF"/>
                          </a:solidFill>
                          <a:latin typeface="Arial"/>
                        </a:rPr>
                        <a:t>AI Capability</a:t>
                      </a:r>
                    </a:p>
                  </a:txBody>
                  <a:tcPr marL="45720" marR="45720" marT="18288" marB="18288" anchor="ctr">
                    <a:solidFill>
                      <a:srgbClr val="1F2A44"/>
                    </a:solidFill>
                  </a:tcPr>
                </a:tc>
                <a:tc>
                  <a:txBody>
                    <a:bodyPr/>
                    <a:lstStyle/>
                    <a:p>
                      <a:pPr algn="l"/>
                      <a:r>
                        <a:rPr sz="800" b="1">
                          <a:solidFill>
                            <a:srgbClr val="FFFFFF"/>
                          </a:solidFill>
                          <a:latin typeface="Arial"/>
                        </a:rPr>
                        <a:t>What It Does</a:t>
                      </a:r>
                    </a:p>
                  </a:txBody>
                  <a:tcPr marL="45720" marR="45720" marT="18288" marB="18288" anchor="ctr">
                    <a:solidFill>
                      <a:srgbClr val="1F2A44"/>
                    </a:solidFill>
                  </a:tcPr>
                </a:tc>
                <a:tc>
                  <a:txBody>
                    <a:bodyPr/>
                    <a:lstStyle/>
                    <a:p>
                      <a:pPr algn="l"/>
                      <a:r>
                        <a:rPr sz="800" b="1">
                          <a:solidFill>
                            <a:srgbClr val="FFFFFF"/>
                          </a:solidFill>
                          <a:latin typeface="Arial"/>
                        </a:rPr>
                        <a:t>Why Employers Pay For It</a:t>
                      </a:r>
                    </a:p>
                  </a:txBody>
                  <a:tcPr marL="45720" marR="45720" marT="18288" marB="18288" anchor="ctr">
                    <a:solidFill>
                      <a:srgbClr val="1F2A44"/>
                    </a:solidFill>
                  </a:tcPr>
                </a:tc>
              </a:tr>
              <a:tr h="150000">
                <a:tc>
                  <a:txBody>
                    <a:bodyPr/>
                    <a:lstStyle/>
                    <a:p>
                      <a:pPr algn="l"/>
                      <a:r>
                        <a:rPr sz="720" b="1">
                          <a:solidFill>
                            <a:srgbClr val="1F2A44"/>
                          </a:solidFill>
                          <a:latin typeface="Arial"/>
                        </a:rPr>
                        <a:t>AI-Verified Search</a:t>
                      </a:r>
                    </a:p>
                  </a:txBody>
                  <a:tcPr marL="45720" marR="45720" marT="18288" marB="18288" anchor="ctr">
                    <a:solidFill>
                      <a:srgbClr val="FFFFFF"/>
                    </a:solidFill>
                  </a:tcPr>
                </a:tc>
                <a:tc>
                  <a:txBody>
                    <a:bodyPr/>
                    <a:lstStyle/>
                    <a:p>
                      <a:pPr algn="l"/>
                      <a:r>
                        <a:rPr sz="720" b="0">
                          <a:solidFill>
                            <a:srgbClr val="333333"/>
                          </a:solidFill>
                          <a:latin typeface="Arial"/>
                        </a:rPr>
                        <a:t>NL query → structured, ranked candidate filters</a:t>
                      </a:r>
                    </a:p>
                  </a:txBody>
                  <a:tcPr marL="45720" marR="45720" marT="18288" marB="18288" anchor="ctr">
                    <a:solidFill>
                      <a:srgbClr val="FFFFFF"/>
                    </a:solidFill>
                  </a:tcPr>
                </a:tc>
                <a:tc>
                  <a:txBody>
                    <a:bodyPr/>
                    <a:lstStyle/>
                    <a:p>
                      <a:pPr algn="l"/>
                      <a:r>
                        <a:rPr sz="720" b="0">
                          <a:solidFill>
                            <a:srgbClr val="333333"/>
                          </a:solidFill>
                          <a:latin typeface="Arial"/>
                        </a:rPr>
                        <a:t>Cuts time-to-shortlist vs. manual screening</a:t>
                      </a:r>
                    </a:p>
                  </a:txBody>
                  <a:tcPr marL="45720" marR="45720" marT="18288" marB="18288" anchor="ctr">
                    <a:solidFill>
                      <a:srgbClr val="FFFFFF"/>
                    </a:solidFill>
                  </a:tcPr>
                </a:tc>
              </a:tr>
              <a:tr h="150000">
                <a:tc>
                  <a:txBody>
                    <a:bodyPr/>
                    <a:lstStyle/>
                    <a:p>
                      <a:pPr algn="l"/>
                      <a:r>
                        <a:rPr sz="720" b="1">
                          <a:solidFill>
                            <a:srgbClr val="1F2A44"/>
                          </a:solidFill>
                          <a:latin typeface="Arial"/>
                        </a:rPr>
                        <a:t>Verified-Outcome Scoring</a:t>
                      </a:r>
                    </a:p>
                  </a:txBody>
                  <a:tcPr marL="45720" marR="45720" marT="18288" marB="18288" anchor="ctr">
                    <a:solidFill>
                      <a:srgbClr val="FBE4D8"/>
                    </a:solidFill>
                  </a:tcPr>
                </a:tc>
                <a:tc>
                  <a:txBody>
                    <a:bodyPr/>
                    <a:lstStyle/>
                    <a:p>
                      <a:pPr algn="l"/>
                      <a:r>
                        <a:rPr sz="720" b="0">
                          <a:solidFill>
                            <a:srgbClr val="333333"/>
                          </a:solidFill>
                          <a:latin typeface="Arial"/>
                        </a:rPr>
                        <a:t>AI+human review of real StackEdge deliverables</a:t>
                      </a:r>
                    </a:p>
                  </a:txBody>
                  <a:tcPr marL="45720" marR="45720" marT="18288" marB="18288" anchor="ctr">
                    <a:solidFill>
                      <a:srgbClr val="FBE4D8"/>
                    </a:solidFill>
                  </a:tcPr>
                </a:tc>
                <a:tc>
                  <a:txBody>
                    <a:bodyPr/>
                    <a:lstStyle/>
                    <a:p>
                      <a:pPr algn="l"/>
                      <a:r>
                        <a:rPr sz="720" b="0">
                          <a:solidFill>
                            <a:srgbClr val="333333"/>
                          </a:solidFill>
                          <a:latin typeface="Arial"/>
                        </a:rPr>
                        <a:t>“Claims experience” becomes an audited record</a:t>
                      </a:r>
                    </a:p>
                  </a:txBody>
                  <a:tcPr marL="45720" marR="45720" marT="18288" marB="18288" anchor="ctr">
                    <a:solidFill>
                      <a:srgbClr val="FBE4D8"/>
                    </a:solidFill>
                  </a:tcPr>
                </a:tc>
              </a:tr>
              <a:tr h="150000">
                <a:tc>
                  <a:txBody>
                    <a:bodyPr/>
                    <a:lstStyle/>
                    <a:p>
                      <a:pPr algn="l"/>
                      <a:r>
                        <a:rPr sz="720" b="1">
                          <a:solidFill>
                            <a:srgbClr val="1F2A44"/>
                          </a:solidFill>
                          <a:latin typeface="Arial"/>
                        </a:rPr>
                        <a:t>Longlist AI Matching</a:t>
                      </a:r>
                    </a:p>
                  </a:txBody>
                  <a:tcPr marL="45720" marR="45720" marT="18288" marB="18288" anchor="ctr">
                    <a:solidFill>
                      <a:srgbClr val="FFFFFF"/>
                    </a:solidFill>
                  </a:tcPr>
                </a:tc>
                <a:tc>
                  <a:txBody>
                    <a:bodyPr/>
                    <a:lstStyle/>
                    <a:p>
                      <a:pPr algn="l"/>
                      <a:r>
                        <a:rPr sz="720" b="0">
                          <a:solidFill>
                            <a:srgbClr val="333333"/>
                          </a:solidFill>
                          <a:latin typeface="Arial"/>
                        </a:rPr>
                        <a:t>Surfaces fits for a future role, no application needed</a:t>
                      </a:r>
                    </a:p>
                  </a:txBody>
                  <a:tcPr marL="45720" marR="45720" marT="18288" marB="18288" anchor="ctr">
                    <a:solidFill>
                      <a:srgbClr val="FFFFFF"/>
                    </a:solidFill>
                  </a:tcPr>
                </a:tc>
                <a:tc>
                  <a:txBody>
                    <a:bodyPr/>
                    <a:lstStyle/>
                    <a:p>
                      <a:pPr algn="l"/>
                      <a:r>
                        <a:rPr sz="720" b="0">
                          <a:solidFill>
                            <a:srgbClr val="333333"/>
                          </a:solidFill>
                          <a:latin typeface="Arial"/>
                        </a:rPr>
                        <a:t>Builds a pipeline before the role opens</a:t>
                      </a:r>
                    </a:p>
                  </a:txBody>
                  <a:tcPr marL="45720" marR="45720" marT="18288" marB="18288" anchor="ctr">
                    <a:solidFill>
                      <a:srgbClr val="FFFFFF"/>
                    </a:solidFill>
                  </a:tcPr>
                </a:tc>
              </a:tr>
              <a:tr h="150000">
                <a:tc>
                  <a:txBody>
                    <a:bodyPr/>
                    <a:lstStyle/>
                    <a:p>
                      <a:pPr algn="l"/>
                      <a:r>
                        <a:rPr sz="720" b="1">
                          <a:solidFill>
                            <a:srgbClr val="1F2A44"/>
                          </a:solidFill>
                          <a:latin typeface="Arial"/>
                        </a:rPr>
                        <a:t>Quality &amp; Moderation Gates</a:t>
                      </a:r>
                    </a:p>
                  </a:txBody>
                  <a:tcPr marL="45720" marR="45720" marT="18288" marB="18288" anchor="ctr">
                    <a:solidFill>
                      <a:srgbClr val="FBE4D8"/>
                    </a:solidFill>
                  </a:tcPr>
                </a:tc>
                <a:tc>
                  <a:txBody>
                    <a:bodyPr/>
                    <a:lstStyle/>
                    <a:p>
                      <a:pPr algn="l"/>
                      <a:r>
                        <a:rPr sz="720" b="0">
                          <a:solidFill>
                            <a:srgbClr val="333333"/>
                          </a:solidFill>
                          <a:latin typeface="Arial"/>
                        </a:rPr>
                        <a:t>Scores/gates content pre-publish, 3 pillars</a:t>
                      </a:r>
                    </a:p>
                  </a:txBody>
                  <a:tcPr marL="45720" marR="45720" marT="18288" marB="18288" anchor="ctr">
                    <a:solidFill>
                      <a:srgbClr val="FBE4D8"/>
                    </a:solidFill>
                  </a:tcPr>
                </a:tc>
                <a:tc>
                  <a:txBody>
                    <a:bodyPr/>
                    <a:lstStyle/>
                    <a:p>
                      <a:pPr algn="l"/>
                      <a:r>
                        <a:rPr sz="720" b="0">
                          <a:solidFill>
                            <a:srgbClr val="333333"/>
                          </a:solidFill>
                          <a:latin typeface="Arial"/>
                        </a:rPr>
                        <a:t>Protects the signal the paid search relies on</a:t>
                      </a:r>
                    </a:p>
                  </a:txBody>
                  <a:tcPr marL="45720" marR="45720" marT="18288" marB="18288" anchor="ctr">
                    <a:solidFill>
                      <a:srgbClr val="FBE4D8"/>
                    </a:solidFill>
                  </a:tcPr>
                </a:tc>
              </a:tr>
              <a:tr h="150000">
                <a:tc>
                  <a:txBody>
                    <a:bodyPr/>
                    <a:lstStyle/>
                    <a:p>
                      <a:pPr algn="l"/>
                      <a:r>
                        <a:rPr sz="720" b="1">
                          <a:solidFill>
                            <a:srgbClr val="1F2A44"/>
                          </a:solidFill>
                          <a:latin typeface="Arial"/>
                        </a:rPr>
                        <a:t>Multi-Provider Core</a:t>
                      </a:r>
                    </a:p>
                  </a:txBody>
                  <a:tcPr marL="45720" marR="45720" marT="18288" marB="18288" anchor="ctr">
                    <a:solidFill>
                      <a:srgbClr val="FFFFFF"/>
                    </a:solidFill>
                  </a:tcPr>
                </a:tc>
                <a:tc>
                  <a:txBody>
                    <a:bodyPr/>
                    <a:lstStyle/>
                    <a:p>
                      <a:pPr algn="l"/>
                      <a:r>
                        <a:rPr sz="720" b="0">
                          <a:solidFill>
                            <a:srgbClr val="333333"/>
                          </a:solidFill>
                          <a:latin typeface="Arial"/>
                        </a:rPr>
                        <a:t>Anthropic / OpenAI / Ollama fallback</a:t>
                      </a:r>
                    </a:p>
                  </a:txBody>
                  <a:tcPr marL="45720" marR="45720" marT="18288" marB="18288" anchor="ctr">
                    <a:solidFill>
                      <a:srgbClr val="FFFFFF"/>
                    </a:solidFill>
                  </a:tcPr>
                </a:tc>
                <a:tc>
                  <a:txBody>
                    <a:bodyPr/>
                    <a:lstStyle/>
                    <a:p>
                      <a:pPr algn="l"/>
                      <a:r>
                        <a:rPr sz="720" b="0">
                          <a:solidFill>
                            <a:srgbClr val="333333"/>
                          </a:solidFill>
                          <a:latin typeface="Arial"/>
                        </a:rPr>
                        <a:t>No vendor lock-in; never blocks a customer</a:t>
                      </a:r>
                    </a:p>
                  </a:txBody>
                  <a:tcPr marL="45720" marR="45720" marT="18288" marB="18288"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0"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02" name="Google Shape;102;p20"/>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alternatives currently exist?</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LinkedIn and Naukri/Indeed for hiring; Upwork and Toptal for freelance work; Blind and niche communities for peer discussion; ADPList and informal referral networks for mentorship. Each solves one slice in isolation, and every one of them treats “trust” as a self-reported field an AI can't meaningfully verify because there's no real interaction underneath it to check.</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Why do you believe your approach is better suited to solving this problem?</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Greyin's AI only works this well because the data underneath it is real: a verified StackEdge outcome, a completed FreeAgent order, an AI-plus-human-reviewed deliverable. That's a moat that compounds, not a feature that can be copied overnight -- a competitor can copy a search UI in a quarter; they can't retroactively manufacture years of verified interaction history. Longlist's AI-matched, anonymized future-role pipeline has no real equivalent on any of them either: today's alternatives are built for filling an opening now, not quietly building tomorrow's pipeline.</a:t>
            </a:r>
          </a:p>
        </p:txBody>
      </p:sp>
      <p:sp>
        <p:nvSpPr>
          <p:cNvPr id="103" name="Google Shape;103;p20"/>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Competitive Landscape</a:t>
            </a:r>
            <a:endParaRPr b="1"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1"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09" name="Google Shape;109;p21"/>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Who do you expect will pay for your solution?</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The corporate employer pays across three Primary tiers, each a distinct budget line, not one subscription trying to cover everything. Outplacement: sales-led, invoiced per headcount -- already live intake + admin triage (enterprise_leads pipeline), tapping restructuring/HR-transition budget. Coaching: Verified Experts sell mentor sessions, cohorts, packages and recordings directly -- already live with real Razorpay/Stripe checkout -- tapping L&amp;D budget, Greyin takes a platform commission. Future Hiring Pipeline (Longlist): AI-matched, anticipatory access to talent 3-12 months out -- an Enterprise-tier add-on to ExpertEdge's existing live subscription (₹/US$99-equivalent, server-side price-validated) -- tapping workforce-planning budget, a category with no real incumbent today. AI capability is the explicit upsell lever across all three. Individual membership stays free: the Supporting tier only compounds the Score these three sell if supply-side adoption is unrestricted.</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How do you plan to acquire your first customers?</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Direct enterprise outreach for Outplacement and Coaching (HR/L&amp;D buyers, sales-led by design); Longlist as the wedge into a full Enterprise contract -- a company testing the AI-matched pipeline for one future role is a warm path to all three tiers; and Supporting-tier community growth (Salt &amp; Pepper, GreyMatters, the built-in +25-score referral program) as the free acquisition engine that keeps the Score -- and therefore all three Primary tiers -- credible.</a:t>
            </a:r>
          </a:p>
        </p:txBody>
      </p:sp>
      <p:sp>
        <p:nvSpPr>
          <p:cNvPr id="110" name="Google Shape;110;p21"/>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Business Model &amp; Go-To-Market</a:t>
            </a:r>
            <a:endParaRPr b="1" sz="1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2"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16" name="Google Shape;116;p22"/>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What are the next major milestones toward building your MVP?</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All 7 pillars are already built and live, pre-launch on purpose while the trust/security layer was hardened first (38-finding audit, fully closed). The monetization path from here is a phased pilot-to-scale roadmap, not one launch date:</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resources or support will be most critical during this journey?</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Design-partner employers, enterprise-sales expertise, and infrastructure support scaled only once real load justifies it.</a:t>
            </a:r>
          </a:p>
        </p:txBody>
      </p:sp>
      <p:sp>
        <p:nvSpPr>
          <p:cNvPr id="117" name="Google Shape;117;p22"/>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Development Roadmap</a:t>
            </a:r>
            <a:endParaRPr b="1" sz="1800">
              <a:solidFill>
                <a:schemeClr val="dk1"/>
              </a:solidFill>
            </a:endParaRPr>
          </a:p>
        </p:txBody>
      </p:sp>
      <p:graphicFrame>
        <p:nvGraphicFramePr>
          <p:cNvPr id="118" name="Table 117"/>
          <p:cNvGraphicFramePr>
            <a:graphicFrameLocks noGrp="1"/>
          </p:cNvGraphicFramePr>
          <p:nvPr/>
        </p:nvGraphicFramePr>
        <p:xfrm>
          <a:off x="313450" y="2680000"/>
          <a:ext cx="8620550" cy="1750000"/>
        </p:xfrm>
        <a:graphic>
          <a:graphicData uri="http://schemas.openxmlformats.org/drawingml/2006/table">
            <a:tbl>
              <a:tblPr firstRow="1" bandRow="1">
                <a:tableStyleId>{5C22544A-7EE6-4342-B048-85BDC9FD1C3A}</a:tableStyleId>
              </a:tblPr>
              <a:tblGrid>
                <a:gridCol w="1300000"/>
                <a:gridCol w="900000"/>
                <a:gridCol w="3870550"/>
                <a:gridCol w="2550000"/>
              </a:tblGrid>
              <a:tr h="130000">
                <a:tc>
                  <a:txBody>
                    <a:bodyPr/>
                    <a:lstStyle/>
                    <a:p>
                      <a:pPr algn="l"/>
                      <a:r>
                        <a:rPr sz="750" b="1">
                          <a:solidFill>
                            <a:srgbClr val="FFFFFF"/>
                          </a:solidFill>
                          <a:latin typeface="Arial"/>
                        </a:rPr>
                        <a:t>Phase</a:t>
                      </a:r>
                    </a:p>
                  </a:txBody>
                  <a:tcPr marL="45720" marR="45720" marT="18288" marB="18288" anchor="ctr">
                    <a:solidFill>
                      <a:srgbClr val="1F2A44"/>
                    </a:solidFill>
                  </a:tcPr>
                </a:tc>
                <a:tc>
                  <a:txBody>
                    <a:bodyPr/>
                    <a:lstStyle/>
                    <a:p>
                      <a:pPr algn="l"/>
                      <a:r>
                        <a:rPr sz="750" b="1">
                          <a:solidFill>
                            <a:srgbClr val="FFFFFF"/>
                          </a:solidFill>
                          <a:latin typeface="Arial"/>
                        </a:rPr>
                        <a:t>Timeframe</a:t>
                      </a:r>
                    </a:p>
                  </a:txBody>
                  <a:tcPr marL="45720" marR="45720" marT="18288" marB="18288" anchor="ctr">
                    <a:solidFill>
                      <a:srgbClr val="1F2A44"/>
                    </a:solidFill>
                  </a:tcPr>
                </a:tc>
                <a:tc>
                  <a:txBody>
                    <a:bodyPr/>
                    <a:lstStyle/>
                    <a:p>
                      <a:pPr algn="l"/>
                      <a:r>
                        <a:rPr sz="750" b="1">
                          <a:solidFill>
                            <a:srgbClr val="FFFFFF"/>
                          </a:solidFill>
                          <a:latin typeface="Arial"/>
                        </a:rPr>
                        <a:t>Focus &amp; Expert Supply</a:t>
                      </a:r>
                    </a:p>
                  </a:txBody>
                  <a:tcPr marL="45720" marR="45720" marT="18288" marB="18288" anchor="ctr">
                    <a:solidFill>
                      <a:srgbClr val="1F2A44"/>
                    </a:solidFill>
                  </a:tcPr>
                </a:tc>
                <a:tc>
                  <a:txBody>
                    <a:bodyPr/>
                    <a:lstStyle/>
                    <a:p>
                      <a:pPr algn="l"/>
                      <a:r>
                        <a:rPr sz="750" b="1">
                          <a:solidFill>
                            <a:srgbClr val="FFFFFF"/>
                          </a:solidFill>
                          <a:latin typeface="Arial"/>
                        </a:rPr>
                        <a:t>Revenue Milestone (Target)</a:t>
                      </a:r>
                    </a:p>
                  </a:txBody>
                  <a:tcPr marL="45720" marR="45720" marT="18288" marB="18288" anchor="ctr">
                    <a:solidFill>
                      <a:srgbClr val="1F2A44"/>
                    </a:solidFill>
                  </a:tcPr>
                </a:tc>
              </a:tr>
              <a:tr h="270000">
                <a:tc>
                  <a:txBody>
                    <a:bodyPr/>
                    <a:lstStyle/>
                    <a:p>
                      <a:pPr algn="l"/>
                      <a:r>
                        <a:rPr sz="680" b="1">
                          <a:solidFill>
                            <a:srgbClr val="1F2A44"/>
                          </a:solidFill>
                          <a:latin typeface="Arial"/>
                        </a:rPr>
                        <a:t>Pre-Launch Hardening</a:t>
                      </a:r>
                    </a:p>
                  </a:txBody>
                  <a:tcPr marL="45720" marR="45720" marT="18288" marB="18288" anchor="ctr">
                    <a:solidFill>
                      <a:srgbClr val="FFFFFF"/>
                    </a:solidFill>
                  </a:tcPr>
                </a:tc>
                <a:tc>
                  <a:txBody>
                    <a:bodyPr/>
                    <a:lstStyle/>
                    <a:p>
                      <a:pPr algn="l"/>
                      <a:r>
                        <a:rPr sz="680" b="1">
                          <a:solidFill>
                            <a:srgbClr val="1F2A44"/>
                          </a:solidFill>
                          <a:latin typeface="Arial"/>
                        </a:rPr>
                        <a:t>Mo. -6 to -3</a:t>
                      </a:r>
                    </a:p>
                  </a:txBody>
                  <a:tcPr marL="45720" marR="45720" marT="18288" marB="18288" anchor="ctr">
                    <a:solidFill>
                      <a:srgbClr val="FFFFFF"/>
                    </a:solidFill>
                  </a:tcPr>
                </a:tc>
                <a:tc>
                  <a:txBody>
                    <a:bodyPr/>
                    <a:lstStyle/>
                    <a:p>
                      <a:pPr algn="l"/>
                      <a:r>
                        <a:rPr sz="680" b="0">
                          <a:solidFill>
                            <a:srgbClr val="333333"/>
                          </a:solidFill>
                          <a:latin typeface="Arial"/>
                        </a:rPr>
                        <a:t>Security/trust-layer audit (done, 38 findings closed); design-partner outreach; seed an invite-only expert cohort</a:t>
                      </a:r>
                    </a:p>
                  </a:txBody>
                  <a:tcPr marL="45720" marR="45720" marT="18288" marB="18288" anchor="ctr">
                    <a:solidFill>
                      <a:srgbClr val="FFFFFF"/>
                    </a:solidFill>
                  </a:tcPr>
                </a:tc>
                <a:tc>
                  <a:txBody>
                    <a:bodyPr/>
                    <a:lstStyle/>
                    <a:p>
                      <a:pPr algn="l"/>
                      <a:r>
                        <a:rPr sz="680" b="0">
                          <a:solidFill>
                            <a:srgbClr val="333333"/>
                          </a:solidFill>
                          <a:latin typeface="Arial"/>
                        </a:rPr>
                        <a:t>$0 by design — no live transactions yet</a:t>
                      </a:r>
                    </a:p>
                  </a:txBody>
                  <a:tcPr marL="45720" marR="45720" marT="18288" marB="18288" anchor="ctr">
                    <a:solidFill>
                      <a:srgbClr val="FFFFFF"/>
                    </a:solidFill>
                  </a:tcPr>
                </a:tc>
              </a:tr>
              <a:tr h="270000">
                <a:tc>
                  <a:txBody>
                    <a:bodyPr/>
                    <a:lstStyle/>
                    <a:p>
                      <a:pPr algn="l"/>
                      <a:r>
                        <a:rPr sz="680" b="1">
                          <a:solidFill>
                            <a:srgbClr val="1F2A44"/>
                          </a:solidFill>
                          <a:latin typeface="Arial"/>
                        </a:rPr>
                        <a:t>Closed Pilot</a:t>
                      </a:r>
                    </a:p>
                  </a:txBody>
                  <a:tcPr marL="45720" marR="45720" marT="18288" marB="18288" anchor="ctr">
                    <a:solidFill>
                      <a:srgbClr val="FBE4D8"/>
                    </a:solidFill>
                  </a:tcPr>
                </a:tc>
                <a:tc>
                  <a:txBody>
                    <a:bodyPr/>
                    <a:lstStyle/>
                    <a:p>
                      <a:pPr algn="l"/>
                      <a:r>
                        <a:rPr sz="680" b="1">
                          <a:solidFill>
                            <a:srgbClr val="1F2A44"/>
                          </a:solidFill>
                          <a:latin typeface="Arial"/>
                        </a:rPr>
                        <a:t>Mo. -3 to 0</a:t>
                      </a:r>
                    </a:p>
                  </a:txBody>
                  <a:tcPr marL="45720" marR="45720" marT="18288" marB="18288" anchor="ctr">
                    <a:solidFill>
                      <a:srgbClr val="FBE4D8"/>
                    </a:solidFill>
                  </a:tcPr>
                </a:tc>
                <a:tc>
                  <a:txBody>
                    <a:bodyPr/>
                    <a:lstStyle/>
                    <a:p>
                      <a:pPr algn="l"/>
                      <a:r>
                        <a:rPr sz="680" b="0">
                          <a:solidFill>
                            <a:srgbClr val="333333"/>
                          </a:solidFill>
                          <a:latin typeface="Arial"/>
                        </a:rPr>
                        <a:t>3-5 design-partner employers on ExpertEdge + Longlist; curated 50-100 expert cohort; validate AI-match quality</a:t>
                      </a:r>
                    </a:p>
                  </a:txBody>
                  <a:tcPr marL="45720" marR="45720" marT="18288" marB="18288" anchor="ctr">
                    <a:solidFill>
                      <a:srgbClr val="FBE4D8"/>
                    </a:solidFill>
                  </a:tcPr>
                </a:tc>
                <a:tc>
                  <a:txBody>
                    <a:bodyPr/>
                    <a:lstStyle/>
                    <a:p>
                      <a:pPr algn="l"/>
                      <a:r>
                        <a:rPr sz="680" b="0">
                          <a:solidFill>
                            <a:srgbClr val="333333"/>
                          </a:solidFill>
                          <a:latin typeface="Arial"/>
                        </a:rPr>
                        <a:t>First LOIs signed; pricing validated with pilots</a:t>
                      </a:r>
                    </a:p>
                  </a:txBody>
                  <a:tcPr marL="45720" marR="45720" marT="18288" marB="18288" anchor="ctr">
                    <a:solidFill>
                      <a:srgbClr val="FBE4D8"/>
                    </a:solidFill>
                  </a:tcPr>
                </a:tc>
              </a:tr>
              <a:tr h="270000">
                <a:tc>
                  <a:txBody>
                    <a:bodyPr/>
                    <a:lstStyle/>
                    <a:p>
                      <a:pPr algn="l"/>
                      <a:r>
                        <a:rPr sz="680" b="1">
                          <a:solidFill>
                            <a:srgbClr val="1F2A44"/>
                          </a:solidFill>
                          <a:latin typeface="Arial"/>
                        </a:rPr>
                        <a:t>Public Launch</a:t>
                      </a:r>
                    </a:p>
                  </a:txBody>
                  <a:tcPr marL="45720" marR="45720" marT="18288" marB="18288" anchor="ctr">
                    <a:solidFill>
                      <a:srgbClr val="FFFFFF"/>
                    </a:solidFill>
                  </a:tcPr>
                </a:tc>
                <a:tc>
                  <a:txBody>
                    <a:bodyPr/>
                    <a:lstStyle/>
                    <a:p>
                      <a:pPr algn="l"/>
                      <a:r>
                        <a:rPr sz="680" b="1">
                          <a:solidFill>
                            <a:srgbClr val="1F2A44"/>
                          </a:solidFill>
                          <a:latin typeface="Arial"/>
                        </a:rPr>
                        <a:t>Mo. 0-1</a:t>
                      </a:r>
                    </a:p>
                  </a:txBody>
                  <a:tcPr marL="45720" marR="45720" marT="18288" marB="18288" anchor="ctr">
                    <a:solidFill>
                      <a:srgbClr val="FFFFFF"/>
                    </a:solidFill>
                  </a:tcPr>
                </a:tc>
                <a:tc>
                  <a:txBody>
                    <a:bodyPr/>
                    <a:lstStyle/>
                    <a:p>
                      <a:pPr algn="l"/>
                      <a:r>
                        <a:rPr sz="680" b="0">
                          <a:solidFill>
                            <a:srgbClr val="333333"/>
                          </a:solidFill>
                          <a:latin typeface="Arial"/>
                        </a:rPr>
                        <a:t>Open signup, all 7 pillars; referral-driven expert acquisition (+25 score/conversion); GreyMatters content marketing</a:t>
                      </a:r>
                    </a:p>
                  </a:txBody>
                  <a:tcPr marL="45720" marR="45720" marT="18288" marB="18288" anchor="ctr">
                    <a:solidFill>
                      <a:srgbClr val="FFFFFF"/>
                    </a:solidFill>
                  </a:tcPr>
                </a:tc>
                <a:tc>
                  <a:txBody>
                    <a:bodyPr/>
                    <a:lstStyle/>
                    <a:p>
                      <a:pPr algn="l"/>
                      <a:r>
                        <a:rPr sz="680" b="0">
                          <a:solidFill>
                            <a:srgbClr val="333333"/>
                          </a:solidFill>
                          <a:latin typeface="Arial"/>
                        </a:rPr>
                        <a:t>First paying cohort converts from pilot</a:t>
                      </a:r>
                    </a:p>
                  </a:txBody>
                  <a:tcPr marL="45720" marR="45720" marT="18288" marB="18288" anchor="ctr">
                    <a:solidFill>
                      <a:srgbClr val="FFFFFF"/>
                    </a:solidFill>
                  </a:tcPr>
                </a:tc>
              </a:tr>
              <a:tr h="270000">
                <a:tc>
                  <a:txBody>
                    <a:bodyPr/>
                    <a:lstStyle/>
                    <a:p>
                      <a:pPr algn="l"/>
                      <a:r>
                        <a:rPr sz="680" b="1">
                          <a:solidFill>
                            <a:srgbClr val="1F2A44"/>
                          </a:solidFill>
                          <a:latin typeface="Arial"/>
                        </a:rPr>
                        <a:t>Year 1</a:t>
                      </a:r>
                    </a:p>
                  </a:txBody>
                  <a:tcPr marL="45720" marR="45720" marT="18288" marB="18288" anchor="ctr">
                    <a:solidFill>
                      <a:srgbClr val="FBE4D8"/>
                    </a:solidFill>
                  </a:tcPr>
                </a:tc>
                <a:tc>
                  <a:txBody>
                    <a:bodyPr/>
                    <a:lstStyle/>
                    <a:p>
                      <a:pPr algn="l"/>
                      <a:r>
                        <a:rPr sz="680" b="1">
                          <a:solidFill>
                            <a:srgbClr val="1F2A44"/>
                          </a:solidFill>
                          <a:latin typeface="Arial"/>
                        </a:rPr>
                        <a:t>Mo. 1-12</a:t>
                      </a:r>
                    </a:p>
                  </a:txBody>
                  <a:tcPr marL="45720" marR="45720" marT="18288" marB="18288" anchor="ctr">
                    <a:solidFill>
                      <a:srgbClr val="FBE4D8"/>
                    </a:solidFill>
                  </a:tcPr>
                </a:tc>
                <a:tc>
                  <a:txBody>
                    <a:bodyPr/>
                    <a:lstStyle/>
                    <a:p>
                      <a:pPr algn="l"/>
                      <a:r>
                        <a:rPr sz="680" b="0">
                          <a:solidFill>
                            <a:srgbClr val="333333"/>
                          </a:solidFill>
                          <a:latin typeface="Arial"/>
                        </a:rPr>
                        <a:t>Scale employer accounts; AI-Verified Search + Longlist AI-matching activated broadly; mentor commission live</a:t>
                      </a:r>
                    </a:p>
                  </a:txBody>
                  <a:tcPr marL="45720" marR="45720" marT="18288" marB="18288" anchor="ctr">
                    <a:solidFill>
                      <a:srgbClr val="FBE4D8"/>
                    </a:solidFill>
                  </a:tcPr>
                </a:tc>
                <a:tc>
                  <a:txBody>
                    <a:bodyPr/>
                    <a:lstStyle/>
                    <a:p>
                      <a:pPr algn="l"/>
                      <a:r>
                        <a:rPr sz="680" b="0">
                          <a:solidFill>
                            <a:srgbClr val="333333"/>
                          </a:solidFill>
                          <a:latin typeface="Arial"/>
                        </a:rPr>
                        <a:t>Target: first ~50 paying employer accounts</a:t>
                      </a:r>
                    </a:p>
                  </a:txBody>
                  <a:tcPr marL="45720" marR="45720" marT="18288" marB="18288" anchor="ctr">
                    <a:solidFill>
                      <a:srgbClr val="FBE4D8"/>
                    </a:solidFill>
                  </a:tcPr>
                </a:tc>
              </a:tr>
              <a:tr h="270000">
                <a:tc>
                  <a:txBody>
                    <a:bodyPr/>
                    <a:lstStyle/>
                    <a:p>
                      <a:pPr algn="l"/>
                      <a:r>
                        <a:rPr sz="680" b="1">
                          <a:solidFill>
                            <a:srgbClr val="1F2A44"/>
                          </a:solidFill>
                          <a:latin typeface="Arial"/>
                        </a:rPr>
                        <a:t>Year 2</a:t>
                      </a:r>
                    </a:p>
                  </a:txBody>
                  <a:tcPr marL="45720" marR="45720" marT="18288" marB="18288" anchor="ctr">
                    <a:solidFill>
                      <a:srgbClr val="FFFFFF"/>
                    </a:solidFill>
                  </a:tcPr>
                </a:tc>
                <a:tc>
                  <a:txBody>
                    <a:bodyPr/>
                    <a:lstStyle/>
                    <a:p>
                      <a:pPr algn="l"/>
                      <a:r>
                        <a:rPr sz="680" b="1">
                          <a:solidFill>
                            <a:srgbClr val="1F2A44"/>
                          </a:solidFill>
                          <a:latin typeface="Arial"/>
                        </a:rPr>
                        <a:t>Year 2</a:t>
                      </a:r>
                    </a:p>
                  </a:txBody>
                  <a:tcPr marL="45720" marR="45720" marT="18288" marB="18288" anchor="ctr">
                    <a:solidFill>
                      <a:srgbClr val="FFFFFF"/>
                    </a:solidFill>
                  </a:tcPr>
                </a:tc>
                <a:tc>
                  <a:txBody>
                    <a:bodyPr/>
                    <a:lstStyle/>
                    <a:p>
                      <a:pPr algn="l"/>
                      <a:r>
                        <a:rPr sz="680" b="0">
                          <a:solidFill>
                            <a:srgbClr val="333333"/>
                          </a:solidFill>
                          <a:latin typeface="Arial"/>
                        </a:rPr>
                        <a:t>Enterprise-tier accounts for high-volume teams; StackEdge verified-outcome premium tooling; geo expansion</a:t>
                      </a:r>
                    </a:p>
                  </a:txBody>
                  <a:tcPr marL="45720" marR="45720" marT="18288" marB="18288" anchor="ctr">
                    <a:solidFill>
                      <a:srgbClr val="FFFFFF"/>
                    </a:solidFill>
                  </a:tcPr>
                </a:tc>
                <a:tc>
                  <a:txBody>
                    <a:bodyPr/>
                    <a:lstStyle/>
                    <a:p>
                      <a:pPr algn="l"/>
                      <a:r>
                        <a:rPr sz="680" b="0">
                          <a:solidFill>
                            <a:srgbClr val="333333"/>
                          </a:solidFill>
                          <a:latin typeface="Arial"/>
                        </a:rPr>
                        <a:t>Target: 3-5x employer base; first Enterprise contracts</a:t>
                      </a:r>
                    </a:p>
                  </a:txBody>
                  <a:tcPr marL="45720" marR="45720" marT="18288" marB="18288" anchor="ctr">
                    <a:solidFill>
                      <a:srgbClr val="FFFFFF"/>
                    </a:solidFill>
                  </a:tcPr>
                </a:tc>
              </a:tr>
              <a:tr h="270000">
                <a:tc>
                  <a:txBody>
                    <a:bodyPr/>
                    <a:lstStyle/>
                    <a:p>
                      <a:pPr algn="l"/>
                      <a:r>
                        <a:rPr sz="680" b="1">
                          <a:solidFill>
                            <a:srgbClr val="1F2A44"/>
                          </a:solidFill>
                          <a:latin typeface="Arial"/>
                        </a:rPr>
                        <a:t>Year 3</a:t>
                      </a:r>
                    </a:p>
                  </a:txBody>
                  <a:tcPr marL="45720" marR="45720" marT="18288" marB="18288" anchor="ctr">
                    <a:solidFill>
                      <a:srgbClr val="FBE4D8"/>
                    </a:solidFill>
                  </a:tcPr>
                </a:tc>
                <a:tc>
                  <a:txBody>
                    <a:bodyPr/>
                    <a:lstStyle/>
                    <a:p>
                      <a:pPr algn="l"/>
                      <a:r>
                        <a:rPr sz="680" b="1">
                          <a:solidFill>
                            <a:srgbClr val="1F2A44"/>
                          </a:solidFill>
                          <a:latin typeface="Arial"/>
                        </a:rPr>
                        <a:t>Year 3</a:t>
                      </a:r>
                    </a:p>
                  </a:txBody>
                  <a:tcPr marL="45720" marR="45720" marT="18288" marB="18288" anchor="ctr">
                    <a:solidFill>
                      <a:srgbClr val="FBE4D8"/>
                    </a:solidFill>
                  </a:tcPr>
                </a:tc>
                <a:tc>
                  <a:txBody>
                    <a:bodyPr/>
                    <a:lstStyle/>
                    <a:p>
                      <a:pPr algn="l"/>
                      <a:r>
                        <a:rPr sz="680" b="0">
                          <a:solidFill>
                            <a:srgbClr val="333333"/>
                          </a:solidFill>
                          <a:latin typeface="Arial"/>
                        </a:rPr>
                        <a:t>Vertical expansion; reference-check API for enterprise HR systems; verified-interaction data moat compounds</a:t>
                      </a:r>
                    </a:p>
                  </a:txBody>
                  <a:tcPr marL="45720" marR="45720" marT="18288" marB="18288" anchor="ctr">
                    <a:solidFill>
                      <a:srgbClr val="FBE4D8"/>
                    </a:solidFill>
                  </a:tcPr>
                </a:tc>
                <a:tc>
                  <a:txBody>
                    <a:bodyPr/>
                    <a:lstStyle/>
                    <a:p>
                      <a:pPr algn="l"/>
                      <a:r>
                        <a:rPr sz="680" b="0">
                          <a:solidFill>
                            <a:srgbClr val="333333"/>
                          </a:solidFill>
                          <a:latin typeface="Arial"/>
                        </a:rPr>
                        <a:t>Target: sustainable unit economics; Series A readiness</a:t>
                      </a:r>
                    </a:p>
                  </a:txBody>
                  <a:tcPr marL="45720" marR="45720" marT="18288" marB="18288" anchor="ctr">
                    <a:solidFill>
                      <a:srgbClr val="FBE4D8"/>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23"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23" name="Google Shape;123;p23"/>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Why is your team uniquely positioned to solve this problem?</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[Add your own founder narrative here -- who you are and why this specific problem, in your own words.]</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relevant domain or technical expertise does the team possess?</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Full-stack ownership of the entire platform as built: schema design and row-level-security-first data architecture, 7 independently-deployable Next.js applications, a pluggable multi-provider LLM/AI integration layer powering 5 live AI systems, and a self-run production deployment -- plus a genuinely rigorous security practice, evidenced by a real 38-finding audit closed and individually verified end to end.</a:t>
            </a:r>
          </a:p>
        </p:txBody>
      </p:sp>
      <p:sp>
        <p:nvSpPr>
          <p:cNvPr id="124" name="Google Shape;124;p23"/>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Team</a:t>
            </a:r>
            <a:endParaRPr b="1"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4"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30" name="Google Shape;130;p24"/>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GB" sz="1100">
                <a:solidFill>
                  <a:schemeClr val="dk1"/>
                </a:solidFill>
              </a:rPr>
              <a:t>Why have you applied to the BITSoM Vertex programme?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BITSoM Vertex's combination of Silicon Valley AI venture-building expertise, enterprise pilot pathways, and investor access is exactly the missing piece: the AI infrastructure and the product are built and live, but converting that into a funded, enterprise-validated company needs precisely the venture-building rigor and warm enterprise introductions this programme provides.</a:t>
            </a:r>
          </a:p>
          <a:p>
            <a:pPr indent="-298450" lvl="0" marL="457200" rtl="0" algn="l">
              <a:lnSpc>
                <a:spcPct val="115000"/>
              </a:lnSpc>
              <a:spcBef>
                <a:spcPts val="0"/>
              </a:spcBef>
              <a:spcAft>
                <a:spcPts val="0"/>
              </a:spcAft>
              <a:buClr>
                <a:schemeClr val="dk1"/>
              </a:buClr>
              <a:buSzPts val="1100"/>
              <a:buAutoNum type="arabicPeriod"/>
            </a:pPr>
            <a:r>
              <a:rPr b="1" lang="en-GB" sz="1100">
                <a:solidFill>
                  <a:schemeClr val="dk1"/>
                </a:solidFill>
              </a:rPr>
              <a:t>What is the biggest challenge preventing you from building your MVP?</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Not technical execution -- the platform, its 5 live AI systems, and its security posture are already real. The gap is deliberately commercial: converting a solid, pre-launch AI product into signed design-partner pilots and a first paying enterprise cohort, exactly the enterprise-pathway support this programme offers.</a:t>
            </a:r>
          </a:p>
        </p:txBody>
      </p:sp>
      <p:sp>
        <p:nvSpPr>
          <p:cNvPr id="131" name="Google Shape;131;p24"/>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Why BITSoM Vertex?</a:t>
            </a:r>
            <a:endParaRPr b="1"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pic>
        <p:nvPicPr>
          <p:cNvPr id="136" name="Google Shape;136;p25" title="Frame 1618875605.png"/>
          <p:cNvPicPr preferRelativeResize="0"/>
          <p:nvPr/>
        </p:nvPicPr>
        <p:blipFill rotWithShape="1">
          <a:blip r:embed="rId3">
            <a:alphaModFix/>
          </a:blip>
          <a:srcRect b="0" l="0" r="0" t="0"/>
          <a:stretch/>
        </p:blipFill>
        <p:spPr>
          <a:xfrm>
            <a:off x="0" y="0"/>
            <a:ext cx="9143992" cy="5143501"/>
          </a:xfrm>
          <a:prstGeom prst="rect">
            <a:avLst/>
          </a:prstGeom>
          <a:noFill/>
          <a:ln>
            <a:noFill/>
          </a:ln>
        </p:spPr>
      </p:pic>
      <p:sp>
        <p:nvSpPr>
          <p:cNvPr id="137" name="Google Shape;137;p25"/>
          <p:cNvSpPr txBox="1"/>
          <p:nvPr/>
        </p:nvSpPr>
        <p:spPr>
          <a:xfrm>
            <a:off x="313450" y="1364700"/>
            <a:ext cx="8705400" cy="314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Provide links to your:</a:t>
            </a:r>
            <a:endParaRPr sz="1100">
              <a:solidFill>
                <a:schemeClr val="dk1"/>
              </a:solidFill>
            </a:endParaRPr>
          </a:p>
          <a:p>
            <a:pPr indent="0" lvl="0" marL="0" rtl="0" algn="l">
              <a:lnSpc>
                <a:spcPct val="115000"/>
              </a:lnSpc>
              <a:spcBef>
                <a:spcPts val="400"/>
              </a:spcBef>
              <a:spcAft>
                <a:spcPts val="600"/>
              </a:spcAft>
              <a:buNone/>
              <a:buNone/>
            </a:pPr>
            <a:endParaRPr sz="1100">
              <a:solidFill>
                <a:schemeClr val="dk1"/>
              </a:solidFill>
            </a:endParaRPr>
            <a:r>
              <a:rPr lang="en-US" sz="1000" b="0">
                <a:solidFill>
                  <a:srgbClr val="555555"/>
                </a:solidFill>
              </a:rPr>
              <a:t/>
            </a:r>
          </a:p>
          <a:p>
            <a:pPr indent="-298450" lvl="0" marL="457200" rtl="0" algn="l">
              <a:lnSpc>
                <a:spcPct val="115000"/>
              </a:lnSpc>
              <a:spcBef>
                <a:spcPts val="1200"/>
              </a:spcBef>
              <a:spcAft>
                <a:spcPts val="0"/>
              </a:spcAft>
              <a:buClr>
                <a:schemeClr val="dk1"/>
              </a:buClr>
              <a:buSzPts val="1100"/>
              <a:buChar char="●"/>
            </a:pPr>
            <a:r>
              <a:rPr lang="en-GB" sz="1100">
                <a:solidFill>
                  <a:schemeClr val="dk1"/>
                </a:solidFill>
              </a:rPr>
              <a:t>Prototype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Live production platform -- all 7 pillars deployed and reachable today.</a:t>
            </a: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Demo Video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Not yet recorded -- available on request ahead of the Mumbai Pitch Fest.</a:t>
            </a: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GitHub Repository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Private repository (platform handles real user data pre-launch); architecture walkthrough available on request.</a:t>
            </a: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Website / Landing Page (if available)</a:t>
            </a:r>
            <a:endParaRPr sz="1100">
              <a:solidFill>
                <a:schemeClr val="dk1"/>
              </a:solidFill>
            </a:endParaRPr>
          </a:p>
          <a:p>
            <a:pPr indent="-298450" lvl="0" marL="457200" rtl="0" algn="l">
              <a:lnSpc>
                <a:spcPct val="115000"/>
              </a:lnSpc>
              <a:spcBef>
                <a:spcPts val="400"/>
              </a:spcBef>
              <a:spcAft>
                <a:spcPts val="600"/>
              </a:spcAft>
              <a:buClr>
                <a:schemeClr val="dk1"/>
              </a:buClr>
              <a:buSzPts val="1100"/>
              <a:buNone/>
            </a:pPr>
            <a:endParaRPr sz="1100">
              <a:solidFill>
                <a:schemeClr val="dk1"/>
              </a:solidFill>
            </a:endParaRPr>
            <a:r>
              <a:rPr lang="en-US" sz="1000" b="0">
                <a:solidFill>
                  <a:srgbClr val="555555"/>
                </a:solidFill>
              </a:rPr>
              <a:t>greyin.net (ecosystem hub) -- expertedge.greyin.net -- freeagent.greyin.net -- saltnpepper.greyin.net -- stackedge.greyin.net -- greymatters.greyin.net -- longlist.greyin.net</a:t>
            </a:r>
          </a:p>
          <a:p>
            <a:pPr indent="-298450" lvl="0" marL="457200" rtl="0" algn="l">
              <a:lnSpc>
                <a:spcPct val="115000"/>
              </a:lnSpc>
              <a:spcBef>
                <a:spcPts val="0"/>
              </a:spcBef>
              <a:spcAft>
                <a:spcPts val="1200"/>
              </a:spcAft>
              <a:buClr>
                <a:schemeClr val="dk1"/>
              </a:buClr>
              <a:buSzPts val="1100"/>
              <a:buChar char="●"/>
            </a:pPr>
            <a:r>
              <a:rPr lang="en-GB" sz="1100">
                <a:solidFill>
                  <a:schemeClr val="dk1"/>
                </a:solidFill>
              </a:rPr>
              <a:t>Contact Details</a:t>
            </a:r>
            <a:endParaRPr b="1" sz="1100">
              <a:solidFill>
                <a:schemeClr val="dk1"/>
              </a:solidFill>
            </a:endParaRPr>
          </a:p>
          <a:p>
            <a:pPr indent="-298450" lvl="0" marL="457200" rtl="0" algn="l">
              <a:lnSpc>
                <a:spcPct val="115000"/>
              </a:lnSpc>
              <a:spcBef>
                <a:spcPts val="400"/>
              </a:spcBef>
              <a:spcAft>
                <a:spcPts val="600"/>
              </a:spcAft>
              <a:buClr>
                <a:schemeClr val="dk1"/>
              </a:buClr>
              <a:buSzPts val="1100"/>
              <a:buNone/>
            </a:pPr>
            <a:endParaRPr b="1" sz="1100">
              <a:solidFill>
                <a:schemeClr val="dk1"/>
              </a:solidFill>
            </a:endParaRPr>
            <a:r>
              <a:rPr lang="en-US" sz="1000" b="0">
                <a:solidFill>
                  <a:srgbClr val="555555"/>
                </a:solidFill>
              </a:rPr>
              <a:t>[Add your name, email, and phone number here.]</a:t>
            </a:r>
          </a:p>
        </p:txBody>
      </p:sp>
      <p:sp>
        <p:nvSpPr>
          <p:cNvPr id="138" name="Google Shape;138;p25"/>
          <p:cNvSpPr txBox="1"/>
          <p:nvPr/>
        </p:nvSpPr>
        <p:spPr>
          <a:xfrm>
            <a:off x="304350" y="700000"/>
            <a:ext cx="5153700" cy="50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2400"/>
              </a:spcBef>
              <a:spcAft>
                <a:spcPts val="600"/>
              </a:spcAft>
              <a:buNone/>
            </a:pPr>
            <a:r>
              <a:rPr b="1" lang="en-GB" sz="2300">
                <a:solidFill>
                  <a:schemeClr val="dk1"/>
                </a:solidFill>
              </a:rPr>
              <a:t>Supporting Material</a:t>
            </a:r>
            <a:endParaRPr b="1"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pic>
        <p:nvPicPr>
          <p:cNvPr id="143" name="Google Shape;143;p26" title="Frame 1618875606.png"/>
          <p:cNvPicPr preferRelativeResize="0"/>
          <p:nvPr/>
        </p:nvPicPr>
        <p:blipFill rotWithShape="1">
          <a:blip r:embed="rId3">
            <a:alphaModFix/>
          </a:blip>
          <a:srcRect b="0" l="0" r="0" t="0"/>
          <a:stretch/>
        </p:blipFill>
        <p:spPr>
          <a:xfrm>
            <a:off x="0" y="0"/>
            <a:ext cx="9143992"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