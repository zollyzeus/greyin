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2D19732-C419-4F9B-9478-F94887B6536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89E4C2-E24C-4488-B452-EB055653894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B050D-2CA5-4D67-A5C6-300F491B849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81DFEF5-EA26-4DDE-B24D-3AB4C7F591A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666B3D-F105-4887-A5BF-014A7A3DCD9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36EB2B-3EC7-4762-A375-C0BC5DA3AE9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31835A0-6D5A-47D3-9542-7B89E1D5E50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B9D27F-D122-43CC-9B27-6AE5849F4C5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3BCA897-AB23-4F37-BCB2-0B3D609CEA2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8823EB1-8E34-446B-B5D4-2C2CCD08B03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659F33A-1095-485D-9685-4BF65537FD83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842968-9CE2-4C4B-9370-15549BA5836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7DCCDC-3039-4A38-8B16-019C4E1E035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02C5D-1365-4CB8-9463-B58DFD1D23A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BCFFAC-AB28-4C35-8E77-EA331D7BCF3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0C1335-9BBE-4B0E-8F36-BA100D83956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7569FF-6FA9-4C85-84FC-F0CB6716BBB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49EE79-FC73-42F3-A9CB-5AA55F6EC1E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4594A9-5DFD-45B1-B7B1-BB47766E060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44BEC4-5104-4CA5-AD5A-0F4CFC6F08E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0F408C-EAD8-47EE-9A25-2D4F2F8F19D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7DC266-BE17-43C4-AEDC-F2BC52C6444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reyin.net/" TargetMode="External"/><Relationship Id="rId3" Type="http://schemas.openxmlformats.org/officeDocument/2006/relationships/hyperlink" Target="https://deepedge.greyin.net/" TargetMode="External"/><Relationship Id="rId4" Type="http://schemas.openxmlformats.org/officeDocument/2006/relationships/hyperlink" Target="https://flexpro.greyin.net/" TargetMode="External"/><Relationship Id="rId5" Type="http://schemas.openxmlformats.org/officeDocument/2006/relationships/hyperlink" Target="https://longlist.greyin.net/" TargetMode="External"/><Relationship Id="rId6" Type="http://schemas.openxmlformats.org/officeDocument/2006/relationships/hyperlink" Target="https://saltnpepper.greyin.net/" TargetMode="External"/><Relationship Id="rId7" Type="http://schemas.openxmlformats.org/officeDocument/2006/relationships/hyperlink" Target="https://stackworks.greyin.net/" TargetMode="External"/><Relationship Id="rId8" Type="http://schemas.openxmlformats.org/officeDocument/2006/relationships/hyperlink" Target="https://greymatters.greyin.net/" TargetMode="External"/><Relationship Id="rId9" Type="http://schemas.openxmlformats.org/officeDocument/2006/relationships/hyperlink" Target="mailto:rajendran.anand@live.com" TargetMode="External"/><Relationship Id="rId10" Type="http://schemas.openxmlformats.org/officeDocument/2006/relationships/hyperlink" Target="https://www.linkedin.com/in/anand4585" TargetMode="External"/><Relationship Id="rId11" Type="http://schemas.openxmlformats.org/officeDocument/2006/relationships/hyperlink" Target="https://anandrajendran.dev/" TargetMode="External"/><Relationship Id="rId12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0" name="TextBox 54"/>
          <p:cNvSpPr/>
          <p:nvPr/>
        </p:nvSpPr>
        <p:spPr>
          <a:xfrm>
            <a:off x="699840" y="3300120"/>
            <a:ext cx="7699320" cy="13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59;p14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60;p14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Strong submissions will demonstrate: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clearly validated customer problem and market opportunity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Meaningful and responsible application of AI to solve the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Technical depth through a scalable and well-designed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Product maturity supported by customer validation and measurable traction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sustainable business model with a clear go-to-market strategy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compelling vision for growth through the BITSoM Vertex incubation programme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Guidelines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is not a traditional fundraising pitch deck.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Focus on demonstrating the reasoning behind your decisions rather than making marketing claims.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61;p14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IMPORTANT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67;p15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567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get lost in over-crowded hiring platforms, filtered out by keyword-matching ATS software, and made redundant by restructuring -- not because they stopped being good at the work, but because nothing proves it at scale. Greyin is a single-identity ecosystem built for senior professionals, where an AI-driven verification and matching layer turns real work -- a completed project, a real review, a real deliverable -- into a portable, audited trust score employers can search against, for hiring and adjacent talent decisions.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became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obvious building each core feature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36" name="Google Shape;68;p15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Startup</a:t>
            </a: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Snapshot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8" name="Google Shape;74;p16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feature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39" name="Google Shape;75;p16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81;p17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Verified Expert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2" name="Google Shape;82;p17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88;p18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is one platform with 6 core features, not 7 separate products -- Greyin Hub is the shared identity layer that binds them, not a feature in itself. Of the 6, 3 are revenue lines billed straight to the corporate employer (one, Longlist, stands alone; two live inside existing features). The other 3 produce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core features via Greyin Hub; an AI-and-human-verified interaction gate on every social-proof signal; a Bayesian-shrunk Greyin Score counting only real work; and AI matching that turns feature activity directly into revenue-line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5" name="Google Shape;89;p18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6" name="Table 89"/>
          <p:cNvGraphicFramePr/>
          <p:nvPr/>
        </p:nvGraphicFramePr>
        <p:xfrm>
          <a:off x="796680" y="3684240"/>
          <a:ext cx="8118720" cy="1515960"/>
        </p:xfrm>
        <a:graphic>
          <a:graphicData uri="http://schemas.openxmlformats.org/drawingml/2006/table">
            <a:tbl>
              <a:tblPr/>
              <a:tblGrid>
                <a:gridCol w="1083240"/>
                <a:gridCol w="1836720"/>
                <a:gridCol w="1526400"/>
                <a:gridCol w="3672360"/>
              </a:tblGrid>
              <a:tr h="946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Feature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95;p19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96;p19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just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Table 96"/>
          <p:cNvGraphicFramePr/>
          <p:nvPr/>
        </p:nvGraphicFramePr>
        <p:xfrm>
          <a:off x="874440" y="3498840"/>
          <a:ext cx="7983720" cy="2008440"/>
        </p:xfrm>
        <a:graphic>
          <a:graphicData uri="http://schemas.openxmlformats.org/drawingml/2006/table">
            <a:tbl>
              <a:tblPr/>
              <a:tblGrid>
                <a:gridCol w="1379880"/>
                <a:gridCol w="3301920"/>
                <a:gridCol w="936720"/>
              </a:tblGrid>
              <a:tr h="9000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across 3 features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2" name="Google Shape;102;p20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touch. The test: remove the AI -- does the product still work?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(1) Compounding data: the graph underneath our AI is real and gated against self-report -- a competitor can copy a search UI in a quarter, not manufacture years of verified interaction history.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(2) A new category: Longlist matches people against roles that don't exist publicly yet -- delete the AI and this feature is not degraded, it's impossible; there is no manual version of anticipatory matching at scale.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(3) Trustable output: every signal feeding the AI requires a real interaction gate, unlike endorsements an AI can rank but never verify -- fewer bad hires from AI-assisted screening, a compliance argument for the enterprise buyer, not a UX one.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53" name="Google Shape;103;p20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" name="Table 103"/>
          <p:cNvGraphicFramePr/>
          <p:nvPr/>
        </p:nvGraphicFramePr>
        <p:xfrm>
          <a:off x="903960" y="3962520"/>
          <a:ext cx="7852320" cy="838800"/>
        </p:xfrm>
        <a:graphic>
          <a:graphicData uri="http://schemas.openxmlformats.org/drawingml/2006/table">
            <a:tbl>
              <a:tblPr/>
              <a:tblGrid>
                <a:gridCol w="1337040"/>
                <a:gridCol w="3134880"/>
                <a:gridCol w="3380760"/>
              </a:tblGrid>
              <a:tr h="2916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109;p21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110;p21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9" name="Google Shape;116;p22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core features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17;p22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1" name="Table 117"/>
          <p:cNvGraphicFramePr/>
          <p:nvPr/>
        </p:nvGraphicFramePr>
        <p:xfrm>
          <a:off x="914400" y="2679840"/>
          <a:ext cx="8019000" cy="2017080"/>
        </p:xfrm>
        <a:graphic>
          <a:graphicData uri="http://schemas.openxmlformats.org/drawingml/2006/table">
            <a:tbl>
              <a:tblPr/>
              <a:tblGrid>
                <a:gridCol w="1209600"/>
                <a:gridCol w="837360"/>
                <a:gridCol w="3600720"/>
                <a:gridCol w="2371320"/>
              </a:tblGrid>
              <a:tr h="1299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core features; referral-driven expert acquisition (+25 score/conversion); GreyMatters content marketing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123;p23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24;p23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30;p24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31;p24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137;p25"/>
          <p:cNvSpPr/>
          <p:nvPr/>
        </p:nvSpPr>
        <p:spPr>
          <a:xfrm>
            <a:off x="313560" y="1364760"/>
            <a:ext cx="8704800" cy="36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core features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https://github.com/zollyzeus/greyin (private repo);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2"/>
              </a:rPr>
              <a:t>https://greyin.net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(ecosystem hub / landing page)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3"/>
              </a:rPr>
              <a:t>https://deepedge.greyin.net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4"/>
              </a:rPr>
              <a:t>https://flexpro.greyin.net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5"/>
              </a:rPr>
              <a:t>https://longlist.greyin.net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6"/>
              </a:rPr>
              <a:t>https://saltnpepper.greyin.net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7"/>
              </a:rPr>
              <a:t>https://stackworks.greyin.net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8"/>
              </a:rPr>
              <a:t>https://greymatters.greyin.net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+91 98843 99915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9"/>
              </a:rPr>
              <a:t>rajendran.anand@live.com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10"/>
              </a:rPr>
              <a:t>https://www.linkedin.com/in/anand4585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11"/>
              </a:rPr>
              <a:t>https://anandrajendran.dev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70" name="Google Shape;138;p25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2026-09-03T08:58:42Z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