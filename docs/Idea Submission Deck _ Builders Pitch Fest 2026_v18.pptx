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~20s.  Opening line, not the feature list.</a:t>
            </a:r>
          </a:p>
          <a:p>
            <a:r>
              <a:t>SAY: "Greyin is the trust and verification layer for hiring experienced talent - the people keyword-ATS filters out."</a:t>
            </a:r>
          </a:p>
          <a:p>
            <a:r>
              <a:t>FRAME for the whole pitch: one platform, 6 features, 3 of them revenue lines, all feeding ONE score employers pay to search against.</a:t>
            </a:r>
          </a:p>
          <a:p>
            <a:r>
              <a:t>Don't read the URL - it's live, offer a walkthrough later.</a:t>
            </a:r>
          </a:p>
          <a:p>
            <a:r>
              <a:t>NEXT: "Start with why this problem exists."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~40s.  Problem + origin, kept short - depth is on the next two slides.</a:t>
            </a:r>
          </a:p>
          <a:p>
            <a:r>
              <a:t>SAY (problem in one breath): senior professionals, 12+ years, get filtered out by keyword ATS and crowded hiring platforms, and made redundant by restructuring - not for lack of skill, but because nothing proves the skill at scale.</a:t>
            </a:r>
          </a:p>
          <a:p>
            <a:r>
              <a:t>SAY (origin, credibility hook): I hit this wall myself re-entering the market; and building each feature as its own product I watched "verified" mean nothing.</a:t>
            </a:r>
          </a:p>
          <a:p>
            <a:r>
              <a:t>Keep it personal,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~50s.</a:t>
            </a:r>
          </a:p>
          <a:p>
            <a:r>
              <a:t>TWO audiences: the professional (no way to prove a track record short of a reference call) and the employer (can't tell a Verified Expert from a well-formatted resume until deep into interviews).</a:t>
            </a:r>
          </a:p>
          <a:p>
            <a:r>
              <a:t>LAND the evidence: this isn't a survey - every feature we launched with a self-reported trust signal had to be re-audited and re-gated to a verified interaction once real usage began. That re-audit IS the market research.</a:t>
            </a:r>
          </a:p>
          <a:p>
            <a:r>
              <a:t>IF ASKED "will employers pay?": the budget already exists - recruiter fees, wasted interview cycles - we redirect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~50s.</a:t>
            </a:r>
          </a:p>
          <a:p>
            <a:r>
              <a:t>BUYER = the corporate employer (hiring manager / TA lead / Head of Talent). Supply side = individual professionals, free.</a:t>
            </a:r>
          </a:p>
          <a:p>
            <a:r>
              <a:t>LAND the 3 distinct budget lines - recruiting spend, workforce-planning spend, L&amp;D/mentorship spend. That's the "not one product" argument.</a:t>
            </a:r>
          </a:p>
          <a:p>
            <a:r>
              <a:t>SIZE: tens of millions of 12+ year professionals in India; multi-billion-dollar enterprise recruiting spend already exists; Longlist's workforce-planning line has no real incumbent.</a:t>
            </a:r>
          </a:p>
          <a:p>
            <a:r>
              <a:t>IF ASKED "TAM?": don't claim one big number - anchor on the three existing budget lines we redirect.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~90s - longest slide, go slow, this is the architecture.</a:t>
            </a:r>
          </a:p>
          <a:p>
            <a:r>
              <a:t>KEY IDEA: 6 features, not 7 products; Greyin Hub is the identity layer, not a feature. Of the 6, 3 are revenue lines (Longlist standalone; Outplacement + Coaching inside existing features). The other 3 generate the verified interactions that feed the Greyin Score - the signal we actually sell.</a:t>
            </a:r>
          </a:p>
          <a:p>
            <a:r>
              <a:t>Walk the table left-to-right ONCE.</a:t>
            </a:r>
          </a:p>
          <a:p>
            <a:r>
              <a:t>NEW LINE to land: the score is explainable - every user sees their own per-feature inputs, evidence counts and weights.</a:t>
            </a:r>
          </a:p>
          <a:p>
            <a:r>
              <a:t>IF ASKED "is the score a black box?": no - transparent Bayesian-shrinkage formula, auditable, and shown to the person it's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~70s.  Three beats.</a:t>
            </a:r>
          </a:p>
          <a:p>
            <a:r>
              <a:t>(1) AI is the mechanism that makes "verified" scale past manual review - 6 systems live, 4 on roadmap. Walk the LIVE rows.</a:t>
            </a:r>
          </a:p>
          <a:p>
            <a:r>
              <a:t>(2) Multi-provider by design (Anthropic / OpenAI / self-hosted Ollama), timeout-bounded, fails over automatically - no vendor lock-in, degrades instead of breaking a paying customer.</a:t>
            </a:r>
          </a:p>
          <a:p>
            <a:r>
              <a:t>(3) The "genuine AI, not a wrapper" test: every call changes the data, feeding the next match - a real data network effect.</a:t>
            </a:r>
          </a:p>
          <a:p>
            <a:r>
              <a:t>IF ASKED "which model?": provider-agnostic registry, admin-configurable. The moat is the data,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~60s.</a:t>
            </a:r>
          </a:p>
          <a:p>
            <a:r>
              <a:t>Name the alternatives fast - LinkedIn, Naukri, Upwork, Toptal, Blind, ADPList - each solves one slice, all treat trust as a self-reported field.</a:t>
            </a:r>
          </a:p>
          <a:p>
            <a:r>
              <a:t>THE TEST for a technical panel: remove the AI - does the product still work? A social network: yes (AI is decorative). Us: Longlist and AI-Verified Search stop existing.</a:t>
            </a:r>
          </a:p>
          <a:p>
            <a:r>
              <a:t>LAND the moat: the verified-interaction graph is only copyable by living years of real usage. We stress-tested this against a parallel AI-generated build - it reproduced the screens, not the audited trust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~70s.  Three tiers, three budgets, three buyers - do NOT blur them.</a:t>
            </a:r>
          </a:p>
          <a:p>
            <a:r>
              <a:t>(1) Outplacement: sales-led, invoiced per head; live intake + admin triage.</a:t>
            </a:r>
          </a:p>
          <a:p>
            <a:r>
              <a:t>(2) Coaching: experts sell sessions / cohorts / packages; real Razorpay checkout live; we take a platform commission.</a:t>
            </a:r>
          </a:p>
          <a:p>
            <a:r>
              <a:t>(3) Longlist: enterprise add-on to the live DeepEdge hiring subscription; workforce-planning budget; no incumbent.</a:t>
            </a:r>
          </a:p>
          <a:p>
            <a:r>
              <a:t>AI capability is the explicit upsell lever across all three. Individuals stay free - supply must be unrestricted for the score to stay credible.</a:t>
            </a:r>
          </a:p>
          <a:p>
            <a:r>
              <a:t>GTM: direct enterprise outreach for 1 &amp; 2; Longlist as the wedge into a full contract; community + referral as the free acquisition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~60s.</a:t>
            </a:r>
          </a:p>
          <a:p>
            <a:r>
              <a:t>FRAME: everything is already built and live - pre-launch on purpose while the trust/security layer was hardened (38-finding audit closed) and competitive parity closed. The roadmap is monetization, not "build the product".</a:t>
            </a:r>
          </a:p>
          <a:p>
            <a:r>
              <a:t>Walk the phases: hardening (done) -&gt; closed pilot (3-5 design partners, first LOIs) -&gt; public launch -&gt; Year 1 ~50 paying employers -&gt; Year 2 enterprise contracts -&gt; Year 3 unit economics + Series A readiness.</a:t>
            </a:r>
          </a:p>
          <a:p>
            <a:r>
              <a:t>THE ASK: design-partner employers, enterprise-sales expertise, infra only when real load justifies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~60s.  Own "solo founder" as a strength.</a:t>
            </a:r>
          </a:p>
          <a:p>
            <a:r>
              <a:t>13+ years in automotive embedded, most of it in V&amp;V - literally the discipline of proving software does what it claims - then 2+ years full-stack/AI after a deliberate pivot. Greyin is that same verification discipline aimed at professional trust.</a:t>
            </a:r>
          </a:p>
          <a:p>
            <a:r>
              <a:t>CREDIBILITY: built and run all 7 apps solo; 6 live AI systems; self-run production; 38-finding security audit closed and individually verified; feature-by-feature teardown vs a parallel AI build.</a:t>
            </a:r>
          </a:p>
          <a:p>
            <a:r>
              <a:t>IF ASKED "solo - can you scale a team?": ran 3-4x V&amp;V team ramp-ups at Stellantis. Done it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~30s.  This is the ask - short and confident.</a:t>
            </a:r>
          </a:p>
          <a:p>
            <a:r>
              <a:t>SAY: the build is done; the gap is commercial. Vertex gives exactly what's missing - venture-building rigor, enterprise pilot pathways, warm intros to the HR/L&amp;D buyers we sell to, investor access.</a:t>
            </a:r>
          </a:p>
          <a:p>
            <a:r>
              <a:t>The blocker to a first paying enterprise cohort isn't engineering - it's getting into those rooms.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~20s.  Don't read the links.</a:t>
            </a:r>
          </a:p>
          <a:p>
            <a:r>
              <a:t>SAY: the full platform is live and reachable today - all 6 features plus the Hub. Happy to give judges a guided walkthrough or demo-account access right after this.</a:t>
            </a:r>
          </a:p>
          <a:p>
            <a:r>
              <a:t>Demo video on request. Private repo; architecture walkthrough available.</a:t>
            </a:r>
          </a:p>
          <a:p>
            <a:r>
              <a:t>Point to the contact line. Transition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~15s.  Close.</a:t>
            </a:r>
          </a:p>
          <a:p>
            <a:r>
              <a:t>ONE sentence to leave them with: "Greyin turns real work into portable, verified trust - and sells that signal to the employers who need it most."</a:t>
            </a:r>
          </a:p>
          <a:p>
            <a:r>
              <a:t>Invite questions. Keep the live platform open in another tab for any "show me"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D79F17-7E45-4C61-A261-8576F73A4FE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ECDA4A-6633-4160-B1C6-39BE3CD2D3D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6B578A-3848-435E-BA6A-66977DAE750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CEE780F-D8C2-4490-AD4D-60296845571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C29E73-6FB3-484E-B839-C1DD36A715F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A9D9A-D5BB-4256-A48C-8CB1A1EE907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FADBCFE-8178-4881-B4D3-06875C51E3F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985E24-82D7-4377-9DAA-2C14D06A994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EB0880-AB58-4E00-A156-D0CF912BEBD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63250BA-F4AE-4E23-8DB6-8F91E45ABC2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953E2FE-BE54-4AA1-AB3C-A822411BA2C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EAF1B1-B2CA-43B5-B303-59C61A40A4F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19678-3310-4B84-92BB-12262AE217D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79886B-F451-4685-A248-3D40D2C7D8F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72F409-DD6C-413C-9855-F769C28F53C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7D7425-68FA-4CCE-B813-D73AEE66287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9EA706-2B32-4390-98C7-BF6FF677EE4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DD0E23-6FFD-46E9-8484-CA6703AA557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1721C3-0BC9-456F-9E19-0A29B87D58B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14248F-7A3A-47DB-88EE-62545629ACE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06BB66-5C34-4739-B7A1-CB9FC0C08404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1DE9B-1A37-419F-A19C-2537FA3C2FA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zollyzeus/greyin" TargetMode="External"/><Relationship Id="rId3" Type="http://schemas.openxmlformats.org/officeDocument/2006/relationships/hyperlink" Target="https://greyin.net/" TargetMode="External"/><Relationship Id="rId4" Type="http://schemas.openxmlformats.org/officeDocument/2006/relationships/hyperlink" Target="https://deepedge.greyin.net/" TargetMode="External"/><Relationship Id="rId5" Type="http://schemas.openxmlformats.org/officeDocument/2006/relationships/hyperlink" Target="https://flexpro.greyin.net/" TargetMode="External"/><Relationship Id="rId6" Type="http://schemas.openxmlformats.org/officeDocument/2006/relationships/hyperlink" Target="https://longlist.greyin.net/" TargetMode="External"/><Relationship Id="rId7" Type="http://schemas.openxmlformats.org/officeDocument/2006/relationships/hyperlink" Target="https://saltnpepper.greyin.net/" TargetMode="External"/><Relationship Id="rId8" Type="http://schemas.openxmlformats.org/officeDocument/2006/relationships/hyperlink" Target="https://stackworks.greyin.net/" TargetMode="External"/><Relationship Id="rId9" Type="http://schemas.openxmlformats.org/officeDocument/2006/relationships/hyperlink" Target="https://greymatters.greyin.net/" TargetMode="External"/><Relationship Id="rId10" Type="http://schemas.openxmlformats.org/officeDocument/2006/relationships/hyperlink" Target="mailto:rajendran.anand@live.com" TargetMode="External"/><Relationship Id="rId11" Type="http://schemas.openxmlformats.org/officeDocument/2006/relationships/hyperlink" Target="https://www.linkedin.com/in/anand4585" TargetMode="External"/><Relationship Id="rId12" Type="http://schemas.openxmlformats.org/officeDocument/2006/relationships/hyperlink" Target="https://anandrajendran.dev/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0" name="TextBox 54"/>
          <p:cNvSpPr/>
          <p:nvPr/>
        </p:nvSpPr>
        <p:spPr>
          <a:xfrm>
            <a:off x="699840" y="3300120"/>
            <a:ext cx="769896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67;p15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567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get lost in over-crowded hiring platforms, filtered out by keyword-matching ATS software, and made redundant by restructuring -- not because they stopped being good at the work, but because nothing proves it at scale. Greyin is a single-identity ecosystem built for senior professionals, where an AI-driven verification and matching layer turns real work -- a completed project, a real review, a real deliverable -- into a portable, audited trust score employers can search against, for hiring and adjacent talent decisions.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68;p15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Startup</a:t>
            </a: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Snapshot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74;p16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75;p16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81;p17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Verified Expert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82;p17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88;p18"/>
          <p:cNvSpPr/>
          <p:nvPr/>
        </p:nvSpPr>
        <p:spPr>
          <a:xfrm>
            <a:off x="313560" y="107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 Every score is explainable to the person it’s about -- per-pillar inputs, evidence counts and weights are visible on their profile.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2" name="Google Shape;89;p18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3" name="Table 89"/>
          <p:cNvGraphicFramePr/>
          <p:nvPr/>
        </p:nvGraphicFramePr>
        <p:xfrm>
          <a:off x="866520" y="2019600"/>
          <a:ext cx="8031240" cy="1515960"/>
        </p:xfrm>
        <a:graphic>
          <a:graphicData uri="http://schemas.openxmlformats.org/drawingml/2006/table">
            <a:tbl>
              <a:tblPr/>
              <a:tblGrid>
                <a:gridCol w="1071720"/>
                <a:gridCol w="1817280"/>
                <a:gridCol w="1510200"/>
                <a:gridCol w="3632040"/>
              </a:tblGrid>
              <a:tr h="190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95;p19"/>
          <p:cNvSpPr/>
          <p:nvPr/>
        </p:nvSpPr>
        <p:spPr>
          <a:xfrm>
            <a:off x="313560" y="1040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916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6" name="Google Shape;96;p19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" name="Table 96"/>
          <p:cNvGraphicFramePr/>
          <p:nvPr/>
        </p:nvGraphicFramePr>
        <p:xfrm>
          <a:off x="978480" y="2351520"/>
          <a:ext cx="5618160" cy="2008800"/>
        </p:xfrm>
        <a:graphic>
          <a:graphicData uri="http://schemas.openxmlformats.org/drawingml/2006/table">
            <a:tbl>
              <a:tblPr/>
              <a:tblGrid>
                <a:gridCol w="1379880"/>
                <a:gridCol w="3301920"/>
                <a:gridCol w="936720"/>
              </a:tblGrid>
              <a:tr h="9000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102;p20"/>
          <p:cNvSpPr/>
          <p:nvPr/>
        </p:nvSpPr>
        <p:spPr>
          <a:xfrm>
            <a:off x="313560" y="1148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touch. The test: remove the AI -- does the product still work?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Compounding data: the graph underneath our AI is real and gated against self-report -- a competitor can copy a search UI in a quarter, not manufacture years of verified interaction history.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A new category: Longlist matches people against roles that don't exist publicly yet -- delete the AI and this feature is not degraded, it's impossible; there is no manual version of anticipatory matching at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Trustable output: every signal feeding the AI requires a real interaction gate, unlike endorsements an AI can rank but never verify -- fewer bad hires from AI-assisted screening, a compliance argument for the enterprise buyer, not a UX one.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3;p20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Table 103"/>
          <p:cNvGraphicFramePr/>
          <p:nvPr/>
        </p:nvGraphicFramePr>
        <p:xfrm>
          <a:off x="903960" y="3854520"/>
          <a:ext cx="5408280" cy="1037160"/>
        </p:xfrm>
        <a:graphic>
          <a:graphicData uri="http://schemas.openxmlformats.org/drawingml/2006/table">
            <a:tbl>
              <a:tblPr/>
              <a:tblGrid>
                <a:gridCol w="1040040"/>
                <a:gridCol w="1851480"/>
                <a:gridCol w="2517120"/>
              </a:tblGrid>
              <a:tr h="29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109;p21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Outplacement: sales-led, invoiced per headcount -- already live intake + admin triage (enterprise_leads pipeline), tapping restructuring/HR-transition budget.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Coaching: Verified Experts sell mentor sessions, cohorts, packages and recordings directly -- already live with real Razorpay checkout -- tapping L&amp;D budget, Greyin takes a platform commission.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Future Hiring Pipeline (Longlist): AI-matched, anticipatory access to talent 3-12 months out -- an Enterprise-tier add-on to DeepEdge's existing live subscription for regular hiring (server-side price-validated) -- tapping workforce-planning budget, a category with no real incumbent today.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AI capability is the explicit upsell lever across all three.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110;p21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16;p22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17;p22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le 117"/>
          <p:cNvGraphicFramePr/>
          <p:nvPr/>
        </p:nvGraphicFramePr>
        <p:xfrm>
          <a:off x="914400" y="2571840"/>
          <a:ext cx="8018640" cy="2017440"/>
        </p:xfrm>
        <a:graphic>
          <a:graphicData uri="http://schemas.openxmlformats.org/drawingml/2006/table">
            <a:tbl>
              <a:tblPr/>
              <a:tblGrid>
                <a:gridCol w="907920"/>
                <a:gridCol w="816480"/>
                <a:gridCol w="4155120"/>
                <a:gridCol w="2139480"/>
              </a:tblGrid>
              <a:tr h="1299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0" name="Google Shape;123;p23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13+ years in automotive embedded systems -- most of it in verification and validation: professionally proving that safety-critical software does what its spec claims, and scaling V&amp;V teams 3-4x for Stellantis followed by 2+ years of freelancing after a pivot into Full-stack/AI Engineering.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turns that same discipline on professional trust -- don't take the claim, verify the interaction underneath it. I'm also the user: after a deliberate pivot into AI and two years shipping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24;p23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30;p24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31;p24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37;p25"/>
          <p:cNvSpPr/>
          <p:nvPr/>
        </p:nvSpPr>
        <p:spPr>
          <a:xfrm>
            <a:off x="313560" y="1364760"/>
            <a:ext cx="8704440" cy="36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https://github.com/zollyzeus/greyin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(private repo);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3"/>
              </a:rPr>
              <a:t>https://greyin.net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(ecosystem hub / landing page)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4"/>
              </a:rPr>
              <a:t>https://deepedge.greyin.net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5"/>
              </a:rPr>
              <a:t>https://flexpro.greyin.net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6"/>
              </a:rPr>
              <a:t>https://longlist.greyin.net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7"/>
              </a:rPr>
              <a:t>https://saltnpepper.greyin.net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8"/>
              </a:rPr>
              <a:t>https://stackworks.greyin.net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9"/>
              </a:rPr>
              <a:t>https://greymatters.greyin.net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+91 98843 99915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0"/>
              </a:rPr>
              <a:t>rajendran.anand@live.com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1"/>
              </a:rPr>
              <a:t>https://www.linkedin.com/in/anand4585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2"/>
              </a:rPr>
              <a:t>https://anandrajendran.dev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38;p25"/>
          <p:cNvSpPr/>
          <p:nvPr/>
        </p:nvSpPr>
        <p:spPr>
          <a:xfrm>
            <a:off x="304200" y="699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2026-09-03T12:12:24Z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