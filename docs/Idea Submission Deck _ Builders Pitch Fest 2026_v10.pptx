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4B706BE-4DF1-462C-8F16-7E81F21275B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2CC5E4-F08B-4756-8C54-C73E010F653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FA7873-1789-4FF8-BBA9-CD37D9325CC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6D28343-94A1-46D2-81EE-E13CA095F29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64C280-2D0E-4DFE-9400-AE9779DAB93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B063C-83DC-4AE0-A3DB-834D435E14A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A0D2E8A-0D89-4CB6-9760-44982C28B3B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051DC1-BFB7-4DF6-8B43-585071EB05D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45CBB6-BE16-4A77-8963-669896851A0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B3E56F0-8813-42AE-AF72-873E7F2BA1D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A943DA6-57EA-4FED-93D8-7B054617E2C9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44B191-F4B6-4DA7-912B-416ED0477DA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7A0777-6EE0-4882-9D5A-4EF102C80E2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6A3B5C-F80B-49D7-9120-3C8ADC711E18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163034-B677-49C2-800E-8996B9618F0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7F98FC-B4C7-405F-897D-80D6574AB93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9315BF-EB12-494A-912D-B331D76BD27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BFF7E2-E5FC-4293-A842-5A4E53EFB2D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B266AD-4079-4FEB-9D6F-3B331CA8A12B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4BFDC1-3CCC-4E3A-A475-0D608988CC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0914AA-9399-4C9D-8D7D-1E347055FFBF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70EDD-BA44-44F4-87C8-CC51C5D2CBA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reyin.net/" TargetMode="External"/><Relationship Id="rId3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54;p1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9" name="TextBox 54"/>
          <p:cNvSpPr/>
          <p:nvPr/>
        </p:nvSpPr>
        <p:spPr>
          <a:xfrm>
            <a:off x="699840" y="3300120"/>
            <a:ext cx="7699680" cy="13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1f2a44"/>
                </a:solidFill>
                <a:latin typeface="Arial"/>
                <a:ea typeface="Arial"/>
              </a:rPr>
              <a:t>Greyin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ec6b3d"/>
                </a:solidFill>
                <a:latin typeface="Arial"/>
                <a:ea typeface="Arial"/>
              </a:rPr>
              <a:t>The AI-native trust and verification layer for hiring experienced talent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</a:rPr>
              <a:t>6 core features | 3 revenue lines | One shared Hub identity | </a:t>
            </a:r>
            <a:r>
              <a:rPr b="0" lang="en-US" sz="1300" spc="-1" strike="noStrike">
                <a:solidFill>
                  <a:srgbClr val="555555"/>
                </a:solidFill>
                <a:latin typeface="Arial"/>
                <a:ea typeface="Arial"/>
                <a:hlinkClick r:id="rId2"/>
              </a:rPr>
              <a:t>https://greyin.net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59;p1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1" name="Google Shape;60;p1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submission deck is designed to help you present your startup in a structured and consistent manner. It enables reviewers to evaluate your solution across product, technology, AI innovation, business viability, customer validation, and enterprise readiness.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Strong submissions will demonstrate: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clearly validated customer problem and market opportunity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Meaningful and responsible application of AI to solve the problem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Technical depth through a scalable and well-designed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Product maturity supported by customer validation and measurable traction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sustainable business model with a clear go-to-market strategy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A compelling vision for growth through the BITSoM Vertex incubation programme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Guidelines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This is not a traditional fundraising pitch deck.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Focus on demonstrating the reasoning behind your decisions rather than making marketing claims.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Wherever applicable, support your responses with evidence, metrics, customer insights, product screenshots, architecture diagrams, user journeys, and other relevant visuals.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00000"/>
              </a:lnSpc>
              <a:buClr>
                <a:srgbClr val="212121"/>
              </a:buClr>
              <a:buFont typeface="Manrope"/>
              <a:buChar char="●"/>
              <a:tabLst>
                <a:tab algn="l" pos="0"/>
              </a:tabLst>
            </a:pPr>
            <a:r>
              <a:rPr b="0" lang="en-GB" sz="1000" spc="-1" strike="noStrike">
                <a:solidFill>
                  <a:schemeClr val="accent2"/>
                </a:solidFill>
                <a:latin typeface="Manrope"/>
                <a:ea typeface="Manrope"/>
              </a:rPr>
              <a:t>Not every question may be applicable to every startup. Answer the questions that are most relevant to your solution and provide sufficient context to help reviewers understand your approach.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61;p1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IMPORTANT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66;p1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67;p1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trying to solve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Senior, experienced professionals (12+ years) are filtered out by keyword-matching ATS software and made redundant by restructuring -- not because they stopped being good at the work, but because nothing proves it at scale. Greyin is a single-identity ecosystem of 7 connected platforms where an AI-driven verification and matching layer turns real work -- a completed project, a real review, a real deliverable -- into a portable, audited trust score employers can actually search against.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inspired you to work on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gap became obvious building each pillar as its own product first: a hiring platform where “verified” meant nothing beyond a resume upload, a freelance marketplace with no real proof of delivery. Manual review doesn't scale past a handful of profiles -- AI is what makes verifying thousands of real interactions, and matching against them accurately, actually possible.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8;p1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chemeClr val="dk1"/>
                </a:solidFill>
                <a:latin typeface="Arial"/>
                <a:ea typeface="Arial"/>
              </a:rPr>
              <a:t>Startup Snapshot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73;p1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7" name="Google Shape;74;p16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problem are you solving, and who experiences it most acutely?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Professionals with 12-30+ years of experience feel it most acutely: overqualified for junior ATS filters, with no structured way to prove a real track record short of a reference call. Employers feel the inverse -- unable to tell a genuinely Verified Expert from a well-formatted resume until well into an expensive interview process, and with no visibility into who's a fit for a role that doesn't exist yet.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research, observations, or evidence validate this opportunity?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Built directly from this platform's own construction: every pillar that launched with a self-reported trust signal (an unverified “connection,” a self-picked seniority flag) had to be re-audited and re-gated to a real, AI-and-human-verified interaction once real usage began. That re-audit is the direct evidence: unverified social proof is the default failure mode of every adjacent product, and only a verification layer with AI doing the heavy lifting can close it at any real scale.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75;p16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Problem Understanding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80;p1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81;p17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is your ideal customer, and who would make the buying decision?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paying customer is the corporate employer: a hiring manager, talent-acquisition lead, or Head of Talent at a company that regularly hires senior/fractional talent and is tired of paying recruiter fees or burning interview cycles on unverifiable resumes. Individual professionals (12+ years -- senior ICs, directors, fractional executives) are the free, identity-led supply side; the enterprise buyer is who Greyin is built to monetize, budget-line by budget-line: recruiting spend, workforce-planning spend, and L&amp;D/mentorship spend.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large is the opportunity if your assumptions prove correct?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India alone has tens of millions of professionals past the 12-year mark and a multi-billion-dollar enterprise recruiting spend category already. Three separate employer budget lines are addressable: recruiting spend redirected from traditional job boards and recruiter fees toward a Verified Expert search subscription; workforce-planning spend for Longlist's anticipatory pipeline, a category with no real incumbent today; and freelance/advisory spend redirected from 20%+-commission marketplaces toward FlexPro's low-fee model -- a flat subscription plus a modest service fee split across both sides, not a 20%+ cut of every transaction.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82;p17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Customer &amp; Opportunity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87;p1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" name="Google Shape;88;p18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your proposed solution, and how does it address the identified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 has 6 pillars, not 7 equal platforms -- Greyin Hub is the shared identity layer, not a pillar itself. Of the 6, 3 revenue lines generate income directly from the corporate employer (one, Longlist, is itself a pillar; two live inside existing pillars). The other pillars generate the quality profiles and verified interactions that feed the Greyin Score -- the actual signal being sold. See the breakdown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key capabilities you envision?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single AI-verified identity across all 6 pillars via Greyin Hub; an AI-and-human-verified interaction gate on every social-proof signal; a Bayesian-shrunk Greyin Score counting only real work; and AI matching that turns pillar activity directly into revenue-line accuracy.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measurable value do you expect the solution to deliver?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distinct paid budget lines for employers; one compounding score for individuals; a free Supporting tier whose real output -- score integrity -- is what the Primary tier actually monetizes.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89;p18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Proposed Solution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" name="Table 89"/>
          <p:cNvGraphicFramePr/>
          <p:nvPr/>
        </p:nvGraphicFramePr>
        <p:xfrm>
          <a:off x="313560" y="3719880"/>
          <a:ext cx="8620200" cy="1072800"/>
        </p:xfrm>
        <a:graphic>
          <a:graphicData uri="http://schemas.openxmlformats.org/drawingml/2006/table">
            <a:tbl>
              <a:tblPr/>
              <a:tblGrid>
                <a:gridCol w="1149840"/>
                <a:gridCol w="1949760"/>
                <a:gridCol w="1620360"/>
                <a:gridCol w="3899880"/>
              </a:tblGrid>
              <a:tr h="946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Category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Name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Hosted 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Role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Outplacement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DeepEdge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per-headcount -- departing employees routed into the Verified Expert ecosystem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Revenue line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Coaching (Mentorship)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FlexPro, surfaced platform-wide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Experts monetize expertise directly -- sessions, cohorts, packages; platform take-rate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Pillar -- Primary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(Future Hiring Pipeline)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 pays for AI-matched, anticipatory access 3-12 months before a role opens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DeepEdge (core hiring)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Verified job board + candidate database -- every real hire strengthens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FlexPro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Subscription + low-fee gig delivery -- feeds verified-outcome reviews into the Score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StackWorks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Real project delivery, AI+human verified -- the single strongest Score input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  <a:tr h="13284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Pillar -- Supporting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Salt &amp; Pepper + GreyMatters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3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own apps</a:t>
                      </a:r>
                      <a:endParaRPr b="0" lang="en-US" sz="6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5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Community engagement + published expertise -- reputation signal, organic reach</a:t>
                      </a:r>
                      <a:endParaRPr b="0" lang="en-US" sz="6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94;p19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7" name="Google Shape;95;p19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role will AI play in your proposed solution, and why is it essential?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mechanism that makes “verified” scale past manual review -- what employers actually pay for. Six AI systems run in production today, plus four on the near-term roadmap (marked below):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technologies, AI models, or frameworks do you plan to use, and why?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 pluggable, admin-configurable LLM registry (Anthropic, OpenAI, self-hosted Ollama fallback) behind every feature -- never locked to one vendor; every call is timeout-bounded and fails over automatically instead of breaking a paying customer's workflow.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makes you feel your product is a genuine AI product, and not an AI wrapper?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Every call changes what data exists afterward, feeding the next match -- not a chat layer wrapped around someone else's directory. Each verified interaction compounds into every future match's accuracy: a real data network effect.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96;p19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Technology &amp; AI Approach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9" name="Table 96"/>
          <p:cNvGraphicFramePr/>
          <p:nvPr/>
        </p:nvGraphicFramePr>
        <p:xfrm>
          <a:off x="313560" y="3480120"/>
          <a:ext cx="8516880" cy="1398960"/>
        </p:xfrm>
        <a:graphic>
          <a:graphicData uri="http://schemas.openxmlformats.org/drawingml/2006/table">
            <a:tbl>
              <a:tblPr/>
              <a:tblGrid>
                <a:gridCol w="2349720"/>
                <a:gridCol w="4466880"/>
                <a:gridCol w="1699920"/>
              </a:tblGrid>
              <a:tr h="9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AI Capability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What It Does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AI-Verified Search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NL query → structured, ranked candidate filters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Verified-Outcome Scoring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AI+human review of real StackWorks deliverables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Longlist AI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Surfaces future-role fits, no application needed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Quality &amp; Moderation Gates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Pre-publish safety gate (blocks before insert) + periodic quality sweep, 3 pillars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Gig-Listing Quality Assist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On-demand AI rewrite tips at post time -- informational, never gates publish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Multi-Provider Core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Anthropic / OpenAI / Ollama, no vendor lock-in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LIVE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Explainable Match Rationale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Plain-language “why this match” per result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Bias / Fairness Auditing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Active skew monitoring on AI match output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Mentor Matching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Best-fit coach suggestions -- Score + goals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  <a:tr h="11988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4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AI Reference Synthesis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4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Multi-response consistency reports for employers</a:t>
                      </a:r>
                      <a:endParaRPr b="0" lang="en-US" sz="64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620" spc="-1" strike="noStrike">
                          <a:solidFill>
                            <a:srgbClr val="4a6b8a"/>
                          </a:solidFill>
                          <a:latin typeface="Arial"/>
                          <a:ea typeface="Arial"/>
                        </a:rPr>
                        <a:t>ROADMAP</a:t>
                      </a:r>
                      <a:endParaRPr b="0" lang="en-US" sz="6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01;p20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1" name="Google Shape;102;p20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alternatives currently exist?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LinkedIn and Naukri/Indeed for hiring; Upwork and Toptal for freelance work; Blind and niche communities for peer discussion; ADPList and informal referral networks for mentorship. Each solves one slice in isolation, and every one of them treats “trust” as a self-reported field an AI can't meaningfully verify because there's no real interaction underneath it to check.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do you believe your approach is better suited to solving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Three things a generic AI wrapper can't touch, and the test that separates an AI-powered product from a social network with an AI feature bolted on: remove the AI, and does the product still work? (1) Compounding data: the graph underneath our AI is real and gated against self-report -- a competitor can copy a search UI in a quarter, not manufacture years of verified interaction history. (2) A new category: Longlist matches people against roles that don't exist publicly yet -- delete the AI and this pillar is not degraded, it's impossible; there is no manual version of anticipatory matching at scale. (3) Trustable output: every signal feeding the AI requires a real interaction gate, unlike endorsements an AI can rank but never verify -- fewer bad hires from AI-assisted screening, a compliance argument for the enterprise buyer, not a UX one. See the test applied below.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103;p20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Competitive Landscape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3" name="Table 103"/>
          <p:cNvGraphicFramePr/>
          <p:nvPr/>
        </p:nvGraphicFramePr>
        <p:xfrm>
          <a:off x="313560" y="4020120"/>
          <a:ext cx="8516880" cy="936000"/>
        </p:xfrm>
        <a:graphic>
          <a:graphicData uri="http://schemas.openxmlformats.org/drawingml/2006/table">
            <a:tbl>
              <a:tblPr/>
              <a:tblGrid>
                <a:gridCol w="1449720"/>
                <a:gridCol w="3399840"/>
                <a:gridCol w="3666960"/>
              </a:tblGrid>
              <a:tr h="99720">
                <a:tc>
                  <a:txBody>
                    <a:bodyPr lIns="45720" rIns="45720" tIns="18000" bIns="18000" anchor="ctr">
                      <a:noAutofit/>
                    </a:bodyPr>
                    <a:p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  <a:ea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Typical Social Network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Greyin</a:t>
                      </a:r>
                      <a:endParaRPr b="0" lang="en-US" sz="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Core loop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Connections, attention, engagement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Verified work -&gt; AI-scored trust -&gt; AI-matched revenue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 the AI does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Feed ranking, engagement optimization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Verification scoring + anticipatory matching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What's monetized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Attention/ads, access to a network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AI-verified matches and AI-synthesized trust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174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Remove the AI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60" spc="-1" strike="noStrike">
                          <a:solidFill>
                            <a:srgbClr val="555555"/>
                          </a:solidFill>
                          <a:latin typeface="Arial"/>
                          <a:ea typeface="Arial"/>
                        </a:rPr>
                        <a:t>Network still works -- AI is decorative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60" spc="-1" strike="noStrike">
                          <a:solidFill>
                            <a:srgbClr val="ec6b3d"/>
                          </a:solidFill>
                          <a:latin typeface="Arial"/>
                          <a:ea typeface="Arial"/>
                        </a:rPr>
                        <a:t>Longlist and AI-Verified Search cannot function</a:t>
                      </a:r>
                      <a:endParaRPr b="0" lang="en-US" sz="66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8dd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08;p21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5" name="Google Shape;109;p21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Who do you expect will pay for your solution?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The corporate employer pays across three Primary tiers, each a distinct budget line, not one subscription trying to cover everything. Outplacement: sales-led, invoiced per headcount -- already live intake + admin triage (enterprise_leads pipeline), tapping restructuring/HR-transition budget. Coaching: Verified Experts sell mentor sessions, cohorts, packages and recordings directly -- already live with real Razorpay/Stripe checkout -- tapping L&amp;D budget, Greyin takes a platform commission. Future Hiring Pipeline (Longlist): AI-matched, anticipatory access to talent 3-12 months out -- an Enterprise-tier add-on to DeepEdge's existing live subscription (₹/US$99-equivalent, server-side price-validated) -- tapping workforce-planning budget, a category with no real incumbent today. AI capability is the explicit upsell lever across all three. Individual membership stays free: the Supporting tier only compounds the Score these three sell if supply-side adoption is unrestricted.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How do you plan to acquire your first customers?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Direct enterprise outreach for Outplacement and Coaching (HR/L&amp;D buyers, sales-led by design); Longlist as the wedge into a full Enterprise contract -- a company testing the AI-matched pipeline for one future role is a warm path to all three tiers; and Supporting-tier community growth (Salt &amp; Pepper, GreyMatters, the built-in +25-score referral program) as the free acquisition engine that keeps the Score -- and therefore all three Primary tiers -- credible.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10;p21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Business Model &amp; Go-To-Market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15;p22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116;p22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are the next major milestones toward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All 6 pillars (plus Greyin Hub, the shared identity layer) are already built and live, pre-launch on purpose while the trust/security layer was hardened first (38-finding audit, fully closed). The monetization path from here is a phased pilot-to-scale roadmap, not one launch date: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resources or support will be most critical during this journey?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Design-partner employers, enterprise-sales expertise, and infrastructure support scaled only once real load justifies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117;p22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Development Roadmap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0" name="Table 117"/>
          <p:cNvGraphicFramePr/>
          <p:nvPr/>
        </p:nvGraphicFramePr>
        <p:xfrm>
          <a:off x="313560" y="2679840"/>
          <a:ext cx="8620200" cy="1821960"/>
        </p:xfrm>
        <a:graphic>
          <a:graphicData uri="http://schemas.openxmlformats.org/drawingml/2006/table">
            <a:tbl>
              <a:tblPr/>
              <a:tblGrid>
                <a:gridCol w="1299960"/>
                <a:gridCol w="900000"/>
                <a:gridCol w="3870360"/>
                <a:gridCol w="2549880"/>
              </a:tblGrid>
              <a:tr h="12996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Phase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Timeframe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Focus &amp; Expert Supply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75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Revenue Milestone (Target)</a:t>
                      </a:r>
                      <a:endParaRPr b="0" lang="en-US" sz="7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2a44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Pre-Launch Hardening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-6 to -3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Security/trust-layer audit (done, 38 findings closed); competitive-parity pass (done -- employer self-service, community events, feedback + wishlist loops, unified brand across all 6 apps, cold-start seed content); design-partner outreach; invite-only expert cohort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$0 by design — no live transactions yet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Closed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-3 to 0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3-5 design-partner employers on DeepEdge + Longlist; curated 50-100 expert cohort; validate AI-match quality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LOIs signed; pricing validated with pilots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Public Launch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0-1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Open signup, all 6 pillars; referral-driven expert acquisition (+25 score/conversion); GreyMatters content marketing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First paying cohort converts from pilot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1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Mo. 1-12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Scale employer accounts; AI-Verified Search + Longlist AI-matching activated broadly; mentor commission live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first ~50 paying employer accounts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2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Enterprise-tier accounts for high-volume teams; StackWorks verified-outcome premium tooling; geo expansion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3-5x employer base; first Enterprise contracts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680" spc="-1" strike="noStrike">
                          <a:solidFill>
                            <a:srgbClr val="1f2a44"/>
                          </a:solidFill>
                          <a:latin typeface="Arial"/>
                          <a:ea typeface="Arial"/>
                        </a:rPr>
                        <a:t>Year 3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Vertical expansion; reference-check API for enterprise HR systems; verified-interaction data moat compounds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 lIns="45720" rIns="45720" tIns="18000" bIns="18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680" spc="-1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</a:rPr>
                        <a:t>Target: sustainable unit economics; Series A readiness</a:t>
                      </a:r>
                      <a:endParaRPr b="0" lang="en-US" sz="6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5720" marR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be4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22;p2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123;p23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is your team uniquely positioned to solve this problem?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Solo founder. 15+ years in automotive embedded systems -- most of it in verification and validation: professionally proving that safety-critical software does what its spec claims, and scaling V&amp;V teams 3-4x for Stellantis, Audi/Porsche and Caterpillar programs. Greyin turns that same discipline on professional trust -- don't take the claim, verify the interaction underneath it. I'm also the user: after a deliberate pivot into AI and two years shipping production full-stack and AI software solo, I re-entered the hiring market as a senior candidate and hit the exact wall this platform removes -- a resume upload is the only proof a decade of real work gets, and keyword filters do the rest. One of those solo builds was itself a hiring portal; watching “verified” mean nothing on it is what turned six separate products into one platform built around a verification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relevant domain or technical expertise does the team possess?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Full-stack ownership of the entire platform as built: schema design and row-level-security-first data architecture, 7 independently-deployable Next.js applications, a pluggable multi-provider LLM/AI integration layer powering 6 live AI systems, and a self-run production deployment -- plus a genuinely rigorous engineering practice: a real 38-finding security audit closed and individually verified end to end, and a feature-by-feature teardown against a parallel AI-generated build of the same concept.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24;p23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Team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29;p24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130;p24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Why have you applied to the BITSoM Vertex programme?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BITSoM Vertex's combination of Silicon Valley AI venture-building expertise, enterprise pilot pathways, and investor access is exactly the missing piece: the AI infrastructure and the product are built and live, but converting that into a funded, enterprise-validated company needs precisely the venture-building rigor and warm enterprise introductions this programme provides.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1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What is the biggest challenge preventing you from building your MVP?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technical execution -- the platform, its 6 live AI systems, and its security posture are already real. The gap is deliberately commercial: converting a solid, pre-launch AI product into signed design-partner pilots and a first paying enterprise cohort, exactly the enterprise-pathway support this programme offers.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31;p24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Why BITSoM Vertex?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136;p25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8" name="Google Shape;137;p25"/>
          <p:cNvSpPr/>
          <p:nvPr/>
        </p:nvSpPr>
        <p:spPr>
          <a:xfrm>
            <a:off x="313560" y="1364760"/>
            <a:ext cx="8705160" cy="31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Provide links to your: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Prototype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Live production platform -- all 6 pillars plus Greyin Hub deployed and reachable today.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Demo Video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Not yet recorded -- available on request ahead of the Mumbai Pitch Fest.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GitHub Repository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github.com/zollyzeus/greyin -- private (platform handles real user data pre-launch); access + architecture walkthrough on request.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Website / Landing Page (if available)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greyin.net (ecosystem hub) -- deepedge.greyin.net -- flexpro.greyin.net -- saltnpepper.greyin.net -- stackworks.greyin.net -- greymatters.greyin.net -- longlist.greyin.net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100" spc="-1" strike="noStrike">
                <a:solidFill>
                  <a:schemeClr val="dk1"/>
                </a:solidFill>
                <a:latin typeface="Arial"/>
                <a:ea typeface="Arial"/>
              </a:rPr>
              <a:t>Contact Details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4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555555"/>
                </a:solidFill>
                <a:latin typeface="Arial"/>
                <a:ea typeface="Arial"/>
              </a:rPr>
              <a:t>Anand Rajendran, Founder -- rajendran.anand@live.com -- +91 98843 99915 -- linkedin.com/in/anand4585 -- anandrajendran.dev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38;p25"/>
          <p:cNvSpPr/>
          <p:nvPr/>
        </p:nvSpPr>
        <p:spPr>
          <a:xfrm>
            <a:off x="304200" y="699840"/>
            <a:ext cx="515340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GB" sz="2300" spc="-1" strike="noStrike">
                <a:solidFill>
                  <a:schemeClr val="dk1"/>
                </a:solidFill>
                <a:latin typeface="Arial"/>
                <a:ea typeface="Arial"/>
              </a:rPr>
              <a:t>Supporting Material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143;p2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2026-09-02T20:58:01Z</dcterms:modified>
  <cp:revision>2</cp:revision>
  <dc:subject/>
  <dc:title/>
</cp:coreProperties>
</file>